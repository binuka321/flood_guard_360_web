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Greet the panel. Introduce the group and the project name FloodGuard360. In one sentence: we built one platform that connects flood prediction, drainage monitoring, health screening and relief distribution. Group ID and student IDs are on the mark sheet; add them here if required: [Group 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problem. Sri Lanka floods every monsoon (NDMP 2023-2030, WHO Sri Lanka). Floods also cause disease risk. The real issue we address: information is handled separately by different teams, so decisions are slow. This is the problem definition the mark sheet asks us to link to the current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table row by row. Each existing approach works well alone (Breiman 2001, Demissie 2024, Moreno 2019 RiverCore, Safari 2025, Huang 2015). The gap is not a missing technology; it is that nobody connects them in one data-sharing platform. That is our contribution.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Overview of the solution. Four modules, each solving one task, all publishing to one integration layer so that an output from one module (for example a drainage blockage alert) is immediately usable by another.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Fig. 1 left to right: data sources, modules, integration layer, users. Key point: a Module 2 blockage alert is immediately visible on the Module 1 dashboard. Models are microservices, so one can be retrained without touching the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 2 is the operational counterpart of Fig. 1: how the modules cooperate in a real event, from first risk prediction to relief-camp distribution planning. Integration testing confirmed outputs from one module are consumed by another without manual re-entry.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depth of knowledge: why each technology. Random Forest for non-linear flood factors; Gradient Boosting for risk and water-level forecasting; Leaflet and GeoJSON for the live map; Socket.IO for time-critical alerts; MongoDB as one shared store. Roles: public, disaster officer, healthcare officer, rescue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about the 1.00 scores: the test set is only 40 records, so we do not claim perfect generalisation. The trend matches prior ensemble-learning studies, and larger Sri Lankan datasets are the next step. The main design point is that the map updates as monitoring data arrive, unlike a static susceptibility map. Expect a Q&amp;A question on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novelty: many IoT systems use a single sensor and a fixed threshold, which cannot tell a blockage from heavy rain. We compare water level across upstream, middle and downstream points: WL difference = WL(upstream) minus WL(neighbouring). Alerts: Normal, Low-risk anomaly, Medium-risk possible blockage, High-risk possible blockage, Critical blockage warning (verification requested). Alerts go to Module 1 (risk map refresh) and Module 4 (route accessibility). Demo or photo of the Arduino node can be added here: [hardware photo].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recall matters most: missing an urgent case is worse than an over-cautious flag. That is why the rules back up the ML model when confidence is low. Image preprocessing can use U-Net segmentation where needed. This module prioritises individuals for review; it does not diagnose. Data governance for health data is part of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single camp record needs several priorities at once, so a Multi-Output Random Forest predicts overall priority and food, water, medicine and sanitary priority together. Water is best (F1 0.96), overall camp priority lowest (0.92). The model supports officers; humans finalise allocation, and delivery outcomes are logged for future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proof of concept slide: the prototype works as functional units and as an integrated system. Be honest about limits: results come from module-level evaluation on available data, and reliability depends on data quality and quantity; field validation with larger Sri Lanka-specific datasets and real sensor deployments is still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covers the mark sheet items on standards and best practice, professional, legal, social, security and ethical issues, and non-functional requirements. Mention data protection for health records and that real deployment needs proper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carries 20% of the marks (commercialization and entrepreneurship), so rehearse it. Users and strengths come from the paper. The revenue model and the bracketed figures are proposals for the team to confirm: add your real cost per sensor node, pricing and any market numbers you have evidence for. Do not quote figures you cannot back up. Mention any named partner or pilot site only if it is real: [pilot 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Showing limits honestly earns credibility with examiners. Human oversight and Sphere minimum standards stay central to the decision-support process as the system matures.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central contribution: the coordinated exchange of information across the disaster-management workflow rather than four isolated tools. Invite questions and keep answers short. Likely questions: why 1.00 accuracy, how false alerts are reduced, data privacy, cost of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7FB"/>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67" y="1145395"/>
            <a:ext cx="10566466" cy="455083"/>
          </a:xfrm>
          <a:prstGeom prst="rect">
            <a:avLst/>
          </a:prstGeom>
          <a:noFill/>
          <a:ln/>
        </p:spPr>
        <p:txBody>
          <a:bodyPr wrap="square" lIns="0" tIns="0" rIns="0" bIns="0" rtlCol="0" anchor="t"/>
          <a:lstStyle>
            <a:lvl1pPr algn="l" indent="0" marL="0">
              <a:lnSpc>
                <a:spcPct val="115000"/>
              </a:lnSpc>
              <a:buNone/>
              <a:defRPr lang="en-US" sz="3100" dirty="0">
                <a:solidFill>
                  <a:srgbClr val="0B2A5B"/>
                </a:solidFill>
                <a:latin typeface="Rubik" pitchFamily="34" charset="0"/>
                <a:ea typeface="Rubik" pitchFamily="34" charset="-122"/>
                <a:cs typeface="Rubik" pitchFamily="34" charset="-120"/>
              </a:defRPr>
            </a:lvl1pPr>
          </a:lstStyle>
          <a:p>
            <a:pPr algn="l" indent="0" marL="0">
              <a:lnSpc>
                <a:spcPct val="115000"/>
              </a:lnSpc>
              <a:buNone/>
            </a:pPr>
            <a:endParaRPr lang="en-US" sz="3100" dirty="0"/>
          </a:p>
        </p:txBody>
      </p:sp>
      <p:sp>
        <p:nvSpPr>
          <p:cNvPr id="3" name="Text Placeholder 2"/>
          <p:cNvSpPr/>
          <p:nvPr>
            <p:ph idx="101" type="body"/>
          </p:nvPr>
        </p:nvSpPr>
        <p:spPr>
          <a:xfrm>
            <a:off x="812767" y="1905279"/>
            <a:ext cx="10566433" cy="4139921"/>
          </a:xfrm>
          <a:prstGeom prst="rect">
            <a:avLst/>
          </a:prstGeom>
          <a:noFill/>
          <a:ln/>
        </p:spPr>
        <p:txBody>
          <a:bodyPr wrap="square" lIns="0" tIns="0" rIns="0" bIns="0" rtlCol="0" anchor="t"/>
          <a:lstStyle>
            <a:lvl1pPr algn="l" indent="0" marL="0">
              <a:lnSpc>
                <a:spcPct val="140000"/>
              </a:lnSpc>
              <a:buNone/>
              <a:defRPr lang="en-US" sz="1600" dirty="0">
                <a:solidFill>
                  <a:srgbClr val="0B2A5B"/>
                </a:solidFill>
                <a:latin typeface="Public Sans" pitchFamily="34" charset="0"/>
                <a:ea typeface="Public Sans" pitchFamily="34" charset="-122"/>
                <a:cs typeface="Public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7FB"/>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67" y="1145395"/>
            <a:ext cx="10566466" cy="455083"/>
          </a:xfrm>
          <a:prstGeom prst="rect">
            <a:avLst/>
          </a:prstGeom>
          <a:noFill/>
          <a:ln/>
        </p:spPr>
        <p:txBody>
          <a:bodyPr wrap="square" lIns="0" tIns="0" rIns="0" bIns="0" rtlCol="0" anchor="t"/>
          <a:lstStyle>
            <a:lvl1pPr algn="l" indent="0" marL="0">
              <a:lnSpc>
                <a:spcPct val="115000"/>
              </a:lnSpc>
              <a:buNone/>
              <a:defRPr lang="en-US" sz="3100" dirty="0">
                <a:solidFill>
                  <a:srgbClr val="0B2A5B"/>
                </a:solidFill>
                <a:latin typeface="Rubik" pitchFamily="34" charset="0"/>
                <a:ea typeface="Rubik" pitchFamily="34" charset="-122"/>
                <a:cs typeface="Rubik" pitchFamily="34" charset="-120"/>
              </a:defRPr>
            </a:lvl1pPr>
          </a:lstStyle>
          <a:p>
            <a:pPr algn="l" indent="0" marL="0">
              <a:lnSpc>
                <a:spcPct val="115000"/>
              </a:lnSpc>
              <a:buNone/>
            </a:pPr>
            <a:endParaRPr lang="en-US" sz="3100" dirty="0"/>
          </a:p>
        </p:txBody>
      </p:sp>
      <p:sp>
        <p:nvSpPr>
          <p:cNvPr id="3" name="Text Placeholder 2"/>
          <p:cNvSpPr/>
          <p:nvPr>
            <p:ph idx="101" type="body"/>
          </p:nvPr>
        </p:nvSpPr>
        <p:spPr>
          <a:xfrm>
            <a:off x="812767" y="1905279"/>
            <a:ext cx="10566433" cy="4139921"/>
          </a:xfrm>
          <a:prstGeom prst="rect">
            <a:avLst/>
          </a:prstGeom>
          <a:noFill/>
          <a:ln/>
        </p:spPr>
        <p:txBody>
          <a:bodyPr wrap="square" lIns="0" tIns="0" rIns="0" bIns="0" rtlCol="0" anchor="t"/>
          <a:lstStyle>
            <a:lvl1pPr algn="l" indent="0" marL="0">
              <a:lnSpc>
                <a:spcPct val="140000"/>
              </a:lnSpc>
              <a:buNone/>
              <a:defRPr lang="en-US" sz="1600" dirty="0">
                <a:solidFill>
                  <a:srgbClr val="0B2A5B"/>
                </a:solidFill>
                <a:latin typeface="Public Sans" pitchFamily="34" charset="0"/>
                <a:ea typeface="Public Sans" pitchFamily="34" charset="-122"/>
                <a:cs typeface="Public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2.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2.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e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A5B"/>
        </a:solidFill>
      </p:bgPr>
    </p:bg>
    <p:spTree>
      <p:nvGrpSpPr>
        <p:cNvPr id="1" name=""/>
        <p:cNvGrpSpPr/>
        <p:nvPr/>
      </p:nvGrpSpPr>
      <p:grpSpPr>
        <a:xfrm>
          <a:off x="0" y="0"/>
          <a:ext cx="0" cy="0"/>
          <a:chOff x="0" y="0"/>
          <a:chExt cx="0" cy="0"/>
        </a:xfrm>
      </p:grpSpPr>
      <p:sp>
        <p:nvSpPr>
          <p:cNvPr id="2" name="Shape 0"/>
          <p:cNvSpPr/>
          <p:nvPr/>
        </p:nvSpPr>
        <p:spPr>
          <a:xfrm>
            <a:off x="812767" y="1666958"/>
            <a:ext cx="3962301" cy="3524085"/>
          </a:xfrm>
          <a:prstGeom prst="roundRect">
            <a:avLst>
              <a:gd name="adj" fmla="val 5766"/>
            </a:avLst>
          </a:prstGeom>
          <a:solidFill>
            <a:srgbClr val="F4F7FB"/>
          </a:solidFill>
          <a:ln/>
        </p:spPr>
      </p:sp>
      <p:pic>
        <p:nvPicPr>
          <p:cNvPr id="3" name="Image 0" descr="FloodGuard360 logo: water drop with city skyline, Wi-Fi signal and warning sign">    </p:cNvPr>
          <p:cNvPicPr>
            <a:picLocks noChangeAspect="1"/>
          </p:cNvPicPr>
          <p:nvPr/>
        </p:nvPicPr>
        <p:blipFill>
          <a:blip r:embed="rId1"/>
          <a:srcRect l="-64" r="-64" t="0" b="0"/>
          <a:stretch/>
        </p:blipFill>
        <p:spPr>
          <a:xfrm>
            <a:off x="1015917" y="1870108"/>
            <a:ext cx="3556000" cy="3117784"/>
          </a:xfrm>
          <a:prstGeom prst="rect">
            <a:avLst/>
          </a:prstGeom>
        </p:spPr>
      </p:pic>
      <p:sp>
        <p:nvSpPr>
          <p:cNvPr id="4" name="Text 1"/>
          <p:cNvSpPr/>
          <p:nvPr/>
        </p:nvSpPr>
        <p:spPr>
          <a:xfrm>
            <a:off x="5384602" y="1465626"/>
            <a:ext cx="6174470" cy="274274"/>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F5B82E"/>
                </a:solidFill>
                <a:latin typeface="Public Sans" pitchFamily="34" charset="0"/>
                <a:ea typeface="Public Sans" pitchFamily="34" charset="-122"/>
                <a:cs typeface="Public Sans" pitchFamily="34" charset="-120"/>
              </a:rPr>
              <a:t>IT4010 · RESEARCH PROJECT · FINAL PRESENTATION</a:t>
            </a:r>
            <a:endParaRPr lang="en-US" sz="1400" dirty="0"/>
          </a:p>
        </p:txBody>
      </p:sp>
      <p:sp>
        <p:nvSpPr>
          <p:cNvPr id="5" name="Text 2"/>
          <p:cNvSpPr/>
          <p:nvPr>
            <p:ph type="title"/>
          </p:nvPr>
        </p:nvSpPr>
        <p:spPr>
          <a:xfrm>
            <a:off x="5384602" y="1892267"/>
            <a:ext cx="6174470" cy="1475978"/>
          </a:xfrm>
          <a:prstGeom prst="rect">
            <a:avLst/>
          </a:prstGeom>
          <a:noFill/>
          <a:ln/>
        </p:spPr>
        <p:txBody>
          <a:bodyPr wrap="square" lIns="0" tIns="0" rIns="0" bIns="0" rtlCol="0" anchor="t">
            <a:normAutofit/>
          </a:bodyPr>
          <a:lstStyle/>
          <a:p>
            <a:pPr algn="l" indent="0" marL="0">
              <a:lnSpc>
                <a:spcPts val="3808"/>
              </a:lnSpc>
              <a:buNone/>
            </a:pPr>
            <a:r>
              <a:rPr lang="en-US" sz="3400" b="1" i="0" dirty="0">
                <a:solidFill>
                  <a:srgbClr val="F4F7FB"/>
                </a:solidFill>
                <a:latin typeface="Rubik" pitchFamily="34" charset="0"/>
                <a:ea typeface="Rubik" pitchFamily="34" charset="-122"/>
                <a:cs typeface="Rubik" pitchFamily="34" charset="-120"/>
              </a:rPr>
              <a:t>An Integrated AI, IoT and GIS-Based Platform for Flood Management</a:t>
            </a:r>
            <a:endParaRPr lang="en-US" sz="3400" dirty="0"/>
          </a:p>
        </p:txBody>
      </p:sp>
      <p:sp>
        <p:nvSpPr>
          <p:cNvPr id="6" name="Text 3"/>
          <p:cNvSpPr/>
          <p:nvPr/>
        </p:nvSpPr>
        <p:spPr>
          <a:xfrm>
            <a:off x="5384602" y="3520612"/>
            <a:ext cx="6174470" cy="5740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FD3F2"/>
                </a:solidFill>
                <a:latin typeface="Public Sans" pitchFamily="34" charset="0"/>
                <a:ea typeface="Public Sans" pitchFamily="34" charset="-122"/>
                <a:cs typeface="Public Sans" pitchFamily="34" charset="-120"/>
              </a:rPr>
              <a:t>Flood-risk prediction · Real-time drainage monitoring · Post-flood health screening · Relief distribution</a:t>
            </a:r>
            <a:endParaRPr lang="en-US" sz="1600" dirty="0"/>
          </a:p>
        </p:txBody>
      </p:sp>
      <p:sp>
        <p:nvSpPr>
          <p:cNvPr id="7" name="Shape 4"/>
          <p:cNvSpPr/>
          <p:nvPr/>
        </p:nvSpPr>
        <p:spPr>
          <a:xfrm>
            <a:off x="5384602" y="4247059"/>
            <a:ext cx="1016000" cy="25383"/>
          </a:xfrm>
          <a:prstGeom prst="rect">
            <a:avLst/>
          </a:prstGeom>
          <a:solidFill>
            <a:srgbClr val="2E9B45"/>
          </a:solidFill>
          <a:ln/>
        </p:spPr>
      </p:sp>
      <p:sp>
        <p:nvSpPr>
          <p:cNvPr id="8" name="Text 5"/>
          <p:cNvSpPr/>
          <p:nvPr/>
        </p:nvSpPr>
        <p:spPr>
          <a:xfrm>
            <a:off x="5384602" y="4450209"/>
            <a:ext cx="6174470" cy="558701"/>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F4F7FB"/>
                </a:solidFill>
                <a:latin typeface="Public Sans" pitchFamily="34" charset="0"/>
                <a:ea typeface="Public Sans" pitchFamily="34" charset="-122"/>
                <a:cs typeface="Public Sans" pitchFamily="34" charset="-120"/>
              </a:rPr>
              <a:t>Somarathne B.D · Rashmi P.M.U · Bulumulla D.M.D.B</a:t>
            </a:r>
            <a:endParaRPr lang="en-US" sz="1400" dirty="0"/>
          </a:p>
          <a:p>
            <a:pPr algn="l" indent="0" marL="0">
              <a:lnSpc>
                <a:spcPts val="2100"/>
              </a:lnSpc>
              <a:buNone/>
            </a:pPr>
            <a:r>
              <a:rPr lang="en-US" sz="1400" dirty="0">
                <a:solidFill>
                  <a:srgbClr val="F4F7FB"/>
                </a:solidFill>
                <a:latin typeface="Public Sans" pitchFamily="34" charset="0"/>
                <a:ea typeface="Public Sans" pitchFamily="34" charset="-122"/>
                <a:cs typeface="Public Sans" pitchFamily="34" charset="-120"/>
              </a:rPr>
              <a:t>Jayanath H.P.K.N · Deemantha Siriwaradana · Ayesha Dilhani Wijesooriya</a:t>
            </a:r>
            <a:endParaRPr lang="en-US" sz="1400" dirty="0"/>
          </a:p>
        </p:txBody>
      </p:sp>
      <p:sp>
        <p:nvSpPr>
          <p:cNvPr id="9" name="Text 6"/>
          <p:cNvSpPr/>
          <p:nvPr/>
        </p:nvSpPr>
        <p:spPr>
          <a:xfrm>
            <a:off x="5384602" y="5161276"/>
            <a:ext cx="6174470" cy="25649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FD3F2"/>
                </a:solidFill>
                <a:latin typeface="Public Sans" pitchFamily="34" charset="0"/>
                <a:ea typeface="Public Sans" pitchFamily="34" charset="-122"/>
                <a:cs typeface="Public Sans" pitchFamily="34" charset="-120"/>
              </a:rPr>
              <a:t>Faculty of Computing, SLIIT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812767" y="812767"/>
            <a:ext cx="10883460" cy="256497"/>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1F78C8"/>
                </a:solidFill>
                <a:latin typeface="Public Sans" pitchFamily="34" charset="0"/>
                <a:ea typeface="Public Sans" pitchFamily="34" charset="-122"/>
                <a:cs typeface="Public Sans" pitchFamily="34" charset="-120"/>
              </a:rPr>
              <a:t>PROBLEM DEFINITION</a:t>
            </a:r>
            <a:endParaRPr lang="en-US" sz="1300" dirty="0"/>
          </a:p>
        </p:txBody>
      </p:sp>
      <p:sp>
        <p:nvSpPr>
          <p:cNvPr id="3" name="Text 1"/>
          <p:cNvSpPr/>
          <p:nvPr>
            <p:ph type="title"/>
          </p:nvPr>
        </p:nvSpPr>
        <p:spPr>
          <a:xfrm>
            <a:off x="812767" y="1145398"/>
            <a:ext cx="10883460" cy="480483"/>
          </a:xfrm>
          <a:prstGeom prst="rect">
            <a:avLst/>
          </a:prstGeom>
          <a:noFill/>
          <a:ln/>
        </p:spPr>
        <p:txBody>
          <a:bodyPr wrap="square" lIns="0" tIns="0" rIns="0" bIns="0" rtlCol="0" anchor="t">
            <a:normAutofit/>
          </a:bodyPr>
          <a:lstStyle/>
          <a:p>
            <a:pPr algn="l" indent="0" marL="0">
              <a:lnSpc>
                <a:spcPts val="3584"/>
              </a:lnSpc>
              <a:buNone/>
            </a:pPr>
            <a:r>
              <a:rPr lang="en-US" sz="3200" b="1" i="0" dirty="0">
                <a:solidFill>
                  <a:srgbClr val="0B2A5B"/>
                </a:solidFill>
                <a:latin typeface="Rubik" pitchFamily="34" charset="0"/>
                <a:ea typeface="Rubik" pitchFamily="34" charset="-122"/>
                <a:cs typeface="Rubik" pitchFamily="34" charset="-120"/>
              </a:rPr>
              <a:t>Flood response needs more than a forecast</a:t>
            </a:r>
            <a:endParaRPr lang="en-US" sz="3200" dirty="0"/>
          </a:p>
        </p:txBody>
      </p:sp>
      <p:sp>
        <p:nvSpPr>
          <p:cNvPr id="4" name="Shape 2"/>
          <p:cNvSpPr/>
          <p:nvPr/>
        </p:nvSpPr>
        <p:spPr>
          <a:xfrm>
            <a:off x="815942" y="1908423"/>
            <a:ext cx="3380317" cy="2477839"/>
          </a:xfrm>
          <a:prstGeom prst="roundRect">
            <a:avLst>
              <a:gd name="adj" fmla="val 3972"/>
            </a:avLst>
          </a:prstGeom>
          <a:solidFill>
            <a:srgbClr val="FFFFFF"/>
          </a:solidFill>
          <a:ln w="6350">
            <a:solidFill>
              <a:srgbClr val="D5DEEC"/>
            </a:solidFill>
            <a:prstDash val="solid"/>
          </a:ln>
        </p:spPr>
      </p:sp>
      <p:pic>
        <p:nvPicPr>
          <p:cNvPr id="5" name="Image 0" descr="Cloud">    </p:cNvPr>
          <p:cNvPicPr>
            <a:picLocks noChangeAspect="1"/>
          </p:cNvPicPr>
          <p:nvPr/>
        </p:nvPicPr>
        <p:blipFill>
          <a:blip r:embed="rId1"/>
          <a:srcRect l="0" r="0" t="0" b="0"/>
          <a:stretch/>
        </p:blipFill>
        <p:spPr>
          <a:xfrm>
            <a:off x="1072059" y="2164539"/>
            <a:ext cx="355534" cy="355534"/>
          </a:xfrm>
          <a:prstGeom prst="rect">
            <a:avLst/>
          </a:prstGeom>
        </p:spPr>
      </p:pic>
      <p:sp>
        <p:nvSpPr>
          <p:cNvPr id="6" name="Text 3"/>
          <p:cNvSpPr/>
          <p:nvPr/>
        </p:nvSpPr>
        <p:spPr>
          <a:xfrm>
            <a:off x="1072059" y="2647073"/>
            <a:ext cx="2954126" cy="314871"/>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0B2A5B"/>
                </a:solidFill>
                <a:latin typeface="Rubik" pitchFamily="34" charset="0"/>
                <a:ea typeface="Rubik" pitchFamily="34" charset="-122"/>
                <a:cs typeface="Rubik" pitchFamily="34" charset="-120"/>
              </a:rPr>
              <a:t>Recurring hazard</a:t>
            </a:r>
            <a:endParaRPr lang="en-US" sz="1900" dirty="0"/>
          </a:p>
        </p:txBody>
      </p:sp>
      <p:sp>
        <p:nvSpPr>
          <p:cNvPr id="7" name="Text 4"/>
          <p:cNvSpPr/>
          <p:nvPr/>
        </p:nvSpPr>
        <p:spPr>
          <a:xfrm>
            <a:off x="1072059" y="3063544"/>
            <a:ext cx="2954126" cy="1092002"/>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4A66"/>
                </a:solidFill>
                <a:latin typeface="Public Sans" pitchFamily="34" charset="0"/>
                <a:ea typeface="Public Sans" pitchFamily="34" charset="-122"/>
                <a:cs typeface="Public Sans" pitchFamily="34" charset="-120"/>
              </a:rPr>
              <a:t>Monsoon rainfall in Sri Lanka causes inundation, damage, displacement and loss of public services.</a:t>
            </a:r>
            <a:endParaRPr lang="en-US" sz="1500" dirty="0"/>
          </a:p>
        </p:txBody>
      </p:sp>
      <p:sp>
        <p:nvSpPr>
          <p:cNvPr id="8" name="Shape 5"/>
          <p:cNvSpPr/>
          <p:nvPr/>
        </p:nvSpPr>
        <p:spPr>
          <a:xfrm>
            <a:off x="4405759" y="1908423"/>
            <a:ext cx="3380399" cy="2477839"/>
          </a:xfrm>
          <a:prstGeom prst="roundRect">
            <a:avLst>
              <a:gd name="adj" fmla="val 3972"/>
            </a:avLst>
          </a:prstGeom>
          <a:solidFill>
            <a:srgbClr val="FFFFFF"/>
          </a:solidFill>
          <a:ln w="6350">
            <a:solidFill>
              <a:srgbClr val="D5DEEC"/>
            </a:solidFill>
            <a:prstDash val="solid"/>
          </a:ln>
        </p:spPr>
      </p:sp>
      <p:pic>
        <p:nvPicPr>
          <p:cNvPr id="9" name="Image 1" descr="Activity">    </p:cNvPr>
          <p:cNvPicPr>
            <a:picLocks noChangeAspect="1"/>
          </p:cNvPicPr>
          <p:nvPr/>
        </p:nvPicPr>
        <p:blipFill>
          <a:blip r:embed="rId2"/>
          <a:srcRect l="0" r="0" t="0" b="0"/>
          <a:stretch/>
        </p:blipFill>
        <p:spPr>
          <a:xfrm>
            <a:off x="4661876" y="2164539"/>
            <a:ext cx="355534" cy="355534"/>
          </a:xfrm>
          <a:prstGeom prst="rect">
            <a:avLst/>
          </a:prstGeom>
        </p:spPr>
      </p:pic>
      <p:sp>
        <p:nvSpPr>
          <p:cNvPr id="10" name="Text 6"/>
          <p:cNvSpPr/>
          <p:nvPr/>
        </p:nvSpPr>
        <p:spPr>
          <a:xfrm>
            <a:off x="4661876" y="2647073"/>
            <a:ext cx="2954211" cy="314871"/>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0B2A5B"/>
                </a:solidFill>
                <a:latin typeface="Rubik" pitchFamily="34" charset="0"/>
                <a:ea typeface="Rubik" pitchFamily="34" charset="-122"/>
                <a:cs typeface="Rubik" pitchFamily="34" charset="-120"/>
              </a:rPr>
              <a:t>Health after floods</a:t>
            </a:r>
            <a:endParaRPr lang="en-US" sz="1900" dirty="0"/>
          </a:p>
        </p:txBody>
      </p:sp>
      <p:sp>
        <p:nvSpPr>
          <p:cNvPr id="11" name="Text 7"/>
          <p:cNvSpPr/>
          <p:nvPr/>
        </p:nvSpPr>
        <p:spPr>
          <a:xfrm>
            <a:off x="4661876" y="3063544"/>
            <a:ext cx="2954211" cy="1092002"/>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4A66"/>
                </a:solidFill>
                <a:latin typeface="Public Sans" pitchFamily="34" charset="0"/>
                <a:ea typeface="Public Sans" pitchFamily="34" charset="-122"/>
                <a:cs typeface="Public Sans" pitchFamily="34" charset="-120"/>
              </a:rPr>
              <a:t>Contaminated water and poor sanitation raise the risk of water-borne and communicable disease.</a:t>
            </a:r>
            <a:endParaRPr lang="en-US" sz="1500" dirty="0"/>
          </a:p>
        </p:txBody>
      </p:sp>
      <p:sp>
        <p:nvSpPr>
          <p:cNvPr id="12" name="Shape 8"/>
          <p:cNvSpPr/>
          <p:nvPr/>
        </p:nvSpPr>
        <p:spPr>
          <a:xfrm>
            <a:off x="7995658" y="1908423"/>
            <a:ext cx="3380399" cy="2477839"/>
          </a:xfrm>
          <a:prstGeom prst="roundRect">
            <a:avLst>
              <a:gd name="adj" fmla="val 3972"/>
            </a:avLst>
          </a:prstGeom>
          <a:solidFill>
            <a:srgbClr val="FFFFFF"/>
          </a:solidFill>
          <a:ln w="6350">
            <a:solidFill>
              <a:srgbClr val="D5DEEC"/>
            </a:solidFill>
            <a:prstDash val="solid"/>
          </a:ln>
        </p:spPr>
      </p:sp>
      <p:pic>
        <p:nvPicPr>
          <p:cNvPr id="13" name="Image 2" descr="Warning">    </p:cNvPr>
          <p:cNvPicPr>
            <a:picLocks noChangeAspect="1"/>
          </p:cNvPicPr>
          <p:nvPr/>
        </p:nvPicPr>
        <p:blipFill>
          <a:blip r:embed="rId3"/>
          <a:srcRect l="0" r="0" t="0" b="0"/>
          <a:stretch/>
        </p:blipFill>
        <p:spPr>
          <a:xfrm>
            <a:off x="8251775" y="2164539"/>
            <a:ext cx="355534" cy="355534"/>
          </a:xfrm>
          <a:prstGeom prst="rect">
            <a:avLst/>
          </a:prstGeom>
        </p:spPr>
      </p:pic>
      <p:sp>
        <p:nvSpPr>
          <p:cNvPr id="14" name="Text 9"/>
          <p:cNvSpPr/>
          <p:nvPr/>
        </p:nvSpPr>
        <p:spPr>
          <a:xfrm>
            <a:off x="8251775" y="2647073"/>
            <a:ext cx="2954211" cy="314871"/>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0B2A5B"/>
                </a:solidFill>
                <a:latin typeface="Rubik" pitchFamily="34" charset="0"/>
                <a:ea typeface="Rubik" pitchFamily="34" charset="-122"/>
                <a:cs typeface="Rubik" pitchFamily="34" charset="-120"/>
              </a:rPr>
              <a:t>Fragmented data</a:t>
            </a:r>
            <a:endParaRPr lang="en-US" sz="1900" dirty="0"/>
          </a:p>
        </p:txBody>
      </p:sp>
      <p:sp>
        <p:nvSpPr>
          <p:cNvPr id="15" name="Text 10"/>
          <p:cNvSpPr/>
          <p:nvPr/>
        </p:nvSpPr>
        <p:spPr>
          <a:xfrm>
            <a:off x="8251775" y="3063544"/>
            <a:ext cx="2954211" cy="1092002"/>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4A66"/>
                </a:solidFill>
                <a:latin typeface="Public Sans" pitchFamily="34" charset="0"/>
                <a:ea typeface="Public Sans" pitchFamily="34" charset="-122"/>
                <a:cs typeface="Public Sans" pitchFamily="34" charset="-120"/>
              </a:rPr>
              <a:t>Flood risk, river data, health records, rescue requests and relief stock sit with separate teams.</a:t>
            </a:r>
            <a:endParaRPr lang="en-US" sz="1500" dirty="0"/>
          </a:p>
        </p:txBody>
      </p:sp>
      <p:sp>
        <p:nvSpPr>
          <p:cNvPr id="16" name="Text 11"/>
          <p:cNvSpPr/>
          <p:nvPr/>
        </p:nvSpPr>
        <p:spPr>
          <a:xfrm>
            <a:off x="812767" y="4694204"/>
            <a:ext cx="10883460" cy="316772"/>
          </a:xfrm>
          <a:prstGeom prst="rect">
            <a:avLst/>
          </a:prstGeom>
          <a:noFill/>
          <a:ln/>
        </p:spPr>
        <p:txBody>
          <a:bodyPr wrap="square" lIns="0" tIns="0" rIns="0" bIns="0" rtlCol="0" anchor="t">
            <a:normAutofit/>
          </a:bodyPr>
          <a:lstStyle/>
          <a:p>
            <a:pPr algn="l" indent="0" marL="0">
              <a:lnSpc>
                <a:spcPts val="2295"/>
              </a:lnSpc>
              <a:buNone/>
            </a:pPr>
            <a:r>
              <a:rPr lang="en-US" sz="1700" b="1" dirty="0">
                <a:solidFill>
                  <a:srgbClr val="0B2A5B"/>
                </a:solidFill>
                <a:latin typeface="Public Sans" pitchFamily="34" charset="0"/>
                <a:ea typeface="Public Sans" pitchFamily="34" charset="-122"/>
                <a:cs typeface="Public Sans" pitchFamily="34" charset="-120"/>
              </a:rPr>
              <a:t>Result: slower, less coordinated decisions when every hour counts.</a:t>
            </a:r>
            <a:endParaRPr lang="en-US" sz="1700" dirty="0"/>
          </a:p>
        </p:txBody>
      </p:sp>
      <p:sp>
        <p:nvSpPr>
          <p:cNvPr id="17" name="Text 12"/>
          <p:cNvSpPr/>
          <p:nvPr/>
        </p:nvSpPr>
        <p:spPr>
          <a:xfrm>
            <a:off x="812767" y="6238295"/>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A94"/>
                </a:solidFill>
                <a:latin typeface="Public Sans" pitchFamily="34" charset="0"/>
                <a:ea typeface="Public Sans" pitchFamily="34" charset="-122"/>
                <a:cs typeface="Public Sans" pitchFamily="34" charset="-120"/>
              </a:rPr>
              <a:t>FloodGuard360 · IT4010 Final Presentation</a:t>
            </a:r>
            <a:endParaRPr lang="en-US" sz="1200" dirty="0"/>
          </a:p>
        </p:txBody>
      </p:sp>
      <p:sp>
        <p:nvSpPr>
          <p:cNvPr id="18" name="Text 13"/>
          <p:cNvSpPr/>
          <p:nvPr/>
        </p:nvSpPr>
        <p:spPr>
          <a:xfrm>
            <a:off x="10566433" y="6238295"/>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A94"/>
                </a:solidFill>
                <a:latin typeface="Public Sans" pitchFamily="34" charset="0"/>
                <a:ea typeface="Public Sans" pitchFamily="34" charset="-122"/>
                <a:cs typeface="Public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812767" y="812766"/>
            <a:ext cx="10883460" cy="256497"/>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1F78C8"/>
                </a:solidFill>
                <a:latin typeface="Public Sans" pitchFamily="34" charset="0"/>
                <a:ea typeface="Public Sans" pitchFamily="34" charset="-122"/>
                <a:cs typeface="Public Sans" pitchFamily="34" charset="-120"/>
              </a:rPr>
              <a:t>RESEARCH GAP</a:t>
            </a:r>
            <a:endParaRPr lang="en-US" sz="1300" dirty="0"/>
          </a:p>
        </p:txBody>
      </p:sp>
      <p:sp>
        <p:nvSpPr>
          <p:cNvPr id="3" name="Text 1"/>
          <p:cNvSpPr/>
          <p:nvPr>
            <p:ph type="title"/>
          </p:nvPr>
        </p:nvSpPr>
        <p:spPr>
          <a:xfrm>
            <a:off x="812767" y="1145397"/>
            <a:ext cx="10883460" cy="480483"/>
          </a:xfrm>
          <a:prstGeom prst="rect">
            <a:avLst/>
          </a:prstGeom>
          <a:noFill/>
          <a:ln/>
        </p:spPr>
        <p:txBody>
          <a:bodyPr wrap="square" lIns="0" tIns="0" rIns="0" bIns="0" rtlCol="0" anchor="t">
            <a:normAutofit/>
          </a:bodyPr>
          <a:lstStyle/>
          <a:p>
            <a:pPr algn="l" indent="0" marL="0">
              <a:lnSpc>
                <a:spcPts val="3584"/>
              </a:lnSpc>
              <a:buNone/>
            </a:pPr>
            <a:r>
              <a:rPr lang="en-US" sz="3200" b="1" i="0" dirty="0">
                <a:solidFill>
                  <a:srgbClr val="0B2A5B"/>
                </a:solidFill>
                <a:latin typeface="Rubik" pitchFamily="34" charset="0"/>
                <a:ea typeface="Rubik" pitchFamily="34" charset="-122"/>
                <a:cs typeface="Rubik" pitchFamily="34" charset="-120"/>
              </a:rPr>
              <a:t>Strong tools exist, but they work in isolation</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3350" y="1865064"/>
          <a:ext cx="10555883" cy="2167930"/>
        </p:xfrm>
        <a:graphic>
          <a:graphicData uri="http://schemas.openxmlformats.org/drawingml/2006/table">
            <a:tbl>
              <a:tblPr/>
              <a:tblGrid>
                <a:gridCol w="2111177"/>
                <a:gridCol w="2955647"/>
                <a:gridCol w="3166765"/>
                <a:gridCol w="2322294"/>
              </a:tblGrid>
              <a:tr h="383811">
                <a:tc>
                  <a:txBody>
                    <a:bodyPr/>
                    <a:lstStyle/>
                    <a:p>
                      <a:pPr indent="0" marL="0">
                        <a:lnSpc>
                          <a:spcPts val="1960"/>
                        </a:lnSpc>
                        <a:buNone/>
                      </a:pPr>
                      <a:r>
                        <a:rPr lang="en-US" sz="1400" b="1" dirty="0">
                          <a:solidFill>
                            <a:srgbClr val="0B2A5B"/>
                          </a:solidFill>
                          <a:latin typeface="Public Sans" pitchFamily="34" charset="0"/>
                          <a:ea typeface="Public Sans" pitchFamily="34" charset="-122"/>
                          <a:cs typeface="Public Sans" pitchFamily="34" charset="-120"/>
                        </a:rPr>
                        <a:t>Function</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3C5C8"/>
                      </a:solidFill>
                      <a:prstDash val="solid"/>
                      <a:round/>
                      <a:headEnd type="none" w="med" len="med"/>
                      <a:tailEnd type="none" w="med" len="med"/>
                    </a:lnL>
                    <a:lnR w="12700" cap="flat" cmpd="sng" algn="ctr">
                      <a:solidFill>
                        <a:srgbClr val="B5B7B9"/>
                      </a:solidFill>
                      <a:prstDash val="solid"/>
                      <a:round/>
                      <a:headEnd type="none" w="med" len="med"/>
                      <a:tailEnd type="none" w="med" len="med"/>
                    </a:lnR>
                    <a:lnT w="12700" cap="flat" cmpd="sng" algn="ctr">
                      <a:solidFill>
                        <a:srgbClr val="C3C5C8"/>
                      </a:solidFill>
                      <a:prstDash val="solid"/>
                      <a:round/>
                      <a:headEnd type="none" w="med" len="med"/>
                      <a:tailEnd type="none" w="med" len="med"/>
                    </a:lnT>
                    <a:lnB w="12700" cap="flat" cmpd="sng" algn="ctr">
                      <a:solidFill>
                        <a:srgbClr val="B5B7B9"/>
                      </a:solidFill>
                      <a:prstDash val="solid"/>
                      <a:round/>
                      <a:headEnd type="none" w="med" len="med"/>
                      <a:tailEnd type="none" w="med" len="med"/>
                    </a:lnB>
                    <a:solidFill>
                      <a:srgbClr val="E2E5E8"/>
                    </a:solidFill>
                  </a:tcPr>
                </a:tc>
                <a:tc>
                  <a:txBody>
                    <a:bodyPr/>
                    <a:lstStyle/>
                    <a:p>
                      <a:pPr indent="0" marL="0">
                        <a:lnSpc>
                          <a:spcPts val="1960"/>
                        </a:lnSpc>
                        <a:buNone/>
                      </a:pPr>
                      <a:r>
                        <a:rPr lang="en-US" sz="1400" b="1" dirty="0">
                          <a:solidFill>
                            <a:srgbClr val="0B2A5B"/>
                          </a:solidFill>
                          <a:latin typeface="Public Sans" pitchFamily="34" charset="0"/>
                          <a:ea typeface="Public Sans" pitchFamily="34" charset="-122"/>
                          <a:cs typeface="Public Sans" pitchFamily="34" charset="-120"/>
                        </a:rPr>
                        <a:t>Existing work</a:t>
                      </a:r>
                      <a:endParaRPr lang="en-US" sz="1400" dirty="0">
                        <a:latin typeface="Public Sans" charset="0"/>
                        <a:ea typeface="Public Sans" charset="0"/>
                        <a:cs typeface="Public Sans" charset="0"/>
                      </a:endParaRPr>
                    </a:p>
                  </a:txBody>
                  <a:tcPr marL="62230" marR="62230" marT="62230" marB="62230" anchor="t">
                    <a:lnL w="12700" cap="flat" cmpd="sng" algn="ctr">
                      <a:solidFill>
                        <a:srgbClr val="B5B7B9"/>
                      </a:solidFill>
                      <a:prstDash val="solid"/>
                      <a:round/>
                      <a:headEnd type="none" w="med" len="med"/>
                      <a:tailEnd type="none" w="med" len="med"/>
                    </a:lnL>
                    <a:lnR w="12700" cap="flat" cmpd="sng" algn="ctr">
                      <a:solidFill>
                        <a:srgbClr val="B5B7B9"/>
                      </a:solidFill>
                      <a:prstDash val="solid"/>
                      <a:round/>
                      <a:headEnd type="none" w="med" len="med"/>
                      <a:tailEnd type="none" w="med" len="med"/>
                    </a:lnR>
                    <a:lnT w="12700" cap="flat" cmpd="sng" algn="ctr">
                      <a:solidFill>
                        <a:srgbClr val="C3C5C8"/>
                      </a:solidFill>
                      <a:prstDash val="solid"/>
                      <a:round/>
                      <a:headEnd type="none" w="med" len="med"/>
                      <a:tailEnd type="none" w="med" len="med"/>
                    </a:lnT>
                    <a:lnB w="12700" cap="flat" cmpd="sng" algn="ctr">
                      <a:solidFill>
                        <a:srgbClr val="B5B7B9"/>
                      </a:solidFill>
                      <a:prstDash val="solid"/>
                      <a:round/>
                      <a:headEnd type="none" w="med" len="med"/>
                      <a:tailEnd type="none" w="med" len="med"/>
                    </a:lnB>
                    <a:solidFill>
                      <a:srgbClr val="E2E5E8"/>
                    </a:solidFill>
                  </a:tcPr>
                </a:tc>
                <a:tc>
                  <a:txBody>
                    <a:bodyPr/>
                    <a:lstStyle/>
                    <a:p>
                      <a:pPr indent="0" marL="0">
                        <a:lnSpc>
                          <a:spcPts val="1960"/>
                        </a:lnSpc>
                        <a:buNone/>
                      </a:pPr>
                      <a:r>
                        <a:rPr lang="en-US" sz="1400" b="1" dirty="0">
                          <a:solidFill>
                            <a:srgbClr val="0B2A5B"/>
                          </a:solidFill>
                          <a:latin typeface="Public Sans" pitchFamily="34" charset="0"/>
                          <a:ea typeface="Public Sans" pitchFamily="34" charset="-122"/>
                          <a:cs typeface="Public Sans" pitchFamily="34" charset="-120"/>
                        </a:rPr>
                        <a:t>Limitation</a:t>
                      </a:r>
                      <a:endParaRPr lang="en-US" sz="1400" dirty="0">
                        <a:latin typeface="Public Sans" charset="0"/>
                        <a:ea typeface="Public Sans" charset="0"/>
                        <a:cs typeface="Public Sans" charset="0"/>
                      </a:endParaRPr>
                    </a:p>
                  </a:txBody>
                  <a:tcPr marL="62230" marR="62230" marT="62230" marB="62230" anchor="t">
                    <a:lnL w="12700" cap="flat" cmpd="sng" algn="ctr">
                      <a:solidFill>
                        <a:srgbClr val="B5B7B9"/>
                      </a:solidFill>
                      <a:prstDash val="solid"/>
                      <a:round/>
                      <a:headEnd type="none" w="med" len="med"/>
                      <a:tailEnd type="none" w="med" len="med"/>
                    </a:lnL>
                    <a:lnR w="12700" cap="flat" cmpd="sng" algn="ctr">
                      <a:solidFill>
                        <a:srgbClr val="B5B7B9"/>
                      </a:solidFill>
                      <a:prstDash val="solid"/>
                      <a:round/>
                      <a:headEnd type="none" w="med" len="med"/>
                      <a:tailEnd type="none" w="med" len="med"/>
                    </a:lnR>
                    <a:lnT w="12700" cap="flat" cmpd="sng" algn="ctr">
                      <a:solidFill>
                        <a:srgbClr val="C3C5C8"/>
                      </a:solidFill>
                      <a:prstDash val="solid"/>
                      <a:round/>
                      <a:headEnd type="none" w="med" len="med"/>
                      <a:tailEnd type="none" w="med" len="med"/>
                    </a:lnT>
                    <a:lnB w="12700" cap="flat" cmpd="sng" algn="ctr">
                      <a:solidFill>
                        <a:srgbClr val="B5B7B9"/>
                      </a:solidFill>
                      <a:prstDash val="solid"/>
                      <a:round/>
                      <a:headEnd type="none" w="med" len="med"/>
                      <a:tailEnd type="none" w="med" len="med"/>
                    </a:lnB>
                    <a:solidFill>
                      <a:srgbClr val="E2E5E8"/>
                    </a:solidFill>
                  </a:tcPr>
                </a:tc>
                <a:tc>
                  <a:txBody>
                    <a:bodyPr/>
                    <a:lstStyle/>
                    <a:p>
                      <a:pPr indent="0" marL="0">
                        <a:lnSpc>
                          <a:spcPts val="1960"/>
                        </a:lnSpc>
                        <a:buNone/>
                      </a:pPr>
                      <a:r>
                        <a:rPr lang="en-US" sz="1400" b="1" dirty="0">
                          <a:solidFill>
                            <a:srgbClr val="0B2A5B"/>
                          </a:solidFill>
                          <a:latin typeface="Public Sans" pitchFamily="34" charset="0"/>
                          <a:ea typeface="Public Sans" pitchFamily="34" charset="-122"/>
                          <a:cs typeface="Public Sans" pitchFamily="34" charset="-120"/>
                        </a:rPr>
                        <a:t>Our answer</a:t>
                      </a:r>
                      <a:endParaRPr lang="en-US" sz="1400" dirty="0">
                        <a:latin typeface="Public Sans" charset="0"/>
                        <a:ea typeface="Public Sans" charset="0"/>
                        <a:cs typeface="Public Sans" charset="0"/>
                      </a:endParaRPr>
                    </a:p>
                  </a:txBody>
                  <a:tcPr marL="62230" marR="62230" marT="62230" marB="62230" anchor="t">
                    <a:lnL w="12700" cap="flat" cmpd="sng" algn="ctr">
                      <a:solidFill>
                        <a:srgbClr val="B5B7B9"/>
                      </a:solidFill>
                      <a:prstDash val="solid"/>
                      <a:round/>
                      <a:headEnd type="none" w="med" len="med"/>
                      <a:tailEnd type="none" w="med" len="med"/>
                    </a:lnL>
                    <a:lnR w="12700" cap="flat" cmpd="sng" algn="ctr">
                      <a:solidFill>
                        <a:srgbClr val="B5B7B9"/>
                      </a:solidFill>
                      <a:prstDash val="solid"/>
                      <a:round/>
                      <a:headEnd type="none" w="med" len="med"/>
                      <a:tailEnd type="none" w="med" len="med"/>
                    </a:lnR>
                    <a:lnT w="12700" cap="flat" cmpd="sng" algn="ctr">
                      <a:solidFill>
                        <a:srgbClr val="C3C5C8"/>
                      </a:solidFill>
                      <a:prstDash val="solid"/>
                      <a:round/>
                      <a:headEnd type="none" w="med" len="med"/>
                      <a:tailEnd type="none" w="med" len="med"/>
                    </a:lnT>
                    <a:lnB w="12700" cap="flat" cmpd="sng" algn="ctr">
                      <a:solidFill>
                        <a:srgbClr val="B5B7B9"/>
                      </a:solidFill>
                      <a:prstDash val="solid"/>
                      <a:round/>
                      <a:headEnd type="none" w="med" len="med"/>
                      <a:tailEnd type="none" w="med" len="med"/>
                    </a:lnB>
                    <a:solidFill>
                      <a:srgbClr val="E2E5E8"/>
                    </a:solidFill>
                  </a:tcPr>
                </a:tc>
              </a:tr>
              <a:tr h="632685">
                <a:tc>
                  <a:txBody>
                    <a:bodyPr/>
                    <a:lstStyle/>
                    <a:p>
                      <a:pPr indent="0" marL="0">
                        <a:lnSpc>
                          <a:spcPts val="1960"/>
                        </a:lnSpc>
                        <a:buNone/>
                      </a:pPr>
                      <a:r>
                        <a:rPr lang="en-US" sz="1400" dirty="0">
                          <a:solidFill>
                            <a:srgbClr val="0B2A5B"/>
                          </a:solidFill>
                          <a:latin typeface="Public Sans" pitchFamily="34" charset="0"/>
                          <a:ea typeface="Public Sans" pitchFamily="34" charset="-122"/>
                          <a:cs typeface="Public Sans" pitchFamily="34" charset="-120"/>
                        </a:rPr>
                        <a:t>Flood prediction</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3C5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5B7B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0B2A5B"/>
                          </a:solidFill>
                          <a:latin typeface="Public Sans" pitchFamily="34" charset="0"/>
                          <a:ea typeface="Public Sans" pitchFamily="34" charset="-122"/>
                          <a:cs typeface="Public Sans" pitchFamily="34" charset="-120"/>
                        </a:rPr>
                        <a:t>Random Forest + GIS susceptibility maps</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5B7B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0B2A5B"/>
                          </a:solidFill>
                          <a:latin typeface="Public Sans" pitchFamily="34" charset="0"/>
                          <a:ea typeface="Public Sans" pitchFamily="34" charset="-122"/>
                          <a:cs typeface="Public Sans" pitchFamily="34" charset="-120"/>
                        </a:rPr>
                        <a:t>Static or periodic maps</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5B7B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0B2A5B"/>
                          </a:solidFill>
                          <a:latin typeface="Public Sans" pitchFamily="34" charset="0"/>
                          <a:ea typeface="Public Sans" pitchFamily="34" charset="-122"/>
                          <a:cs typeface="Public Sans" pitchFamily="34" charset="-120"/>
                        </a:rPr>
                        <a:t>Live-updating GIS map</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5B7B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83811">
                <a:tc>
                  <a:txBody>
                    <a:bodyPr/>
                    <a:lstStyle/>
                    <a:p>
                      <a:pPr indent="0" marL="0">
                        <a:lnSpc>
                          <a:spcPts val="1960"/>
                        </a:lnSpc>
                        <a:buNone/>
                      </a:pPr>
                      <a:r>
                        <a:rPr lang="en-US" sz="1400" dirty="0">
                          <a:solidFill>
                            <a:srgbClr val="0B2A5B"/>
                          </a:solidFill>
                          <a:latin typeface="Public Sans" pitchFamily="34" charset="0"/>
                          <a:ea typeface="Public Sans" pitchFamily="34" charset="-122"/>
                          <a:cs typeface="Public Sans" pitchFamily="34" charset="-120"/>
                        </a:rPr>
                        <a:t>River monitoring</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3C5C8"/>
                      </a:solidFill>
                      <a:prstDash val="solid"/>
                      <a:round/>
                      <a:headEnd type="none" w="med" len="med"/>
                      <a:tailEnd type="none" w="med" len="med"/>
                    </a:lnL>
                    <a:lnR w="12700" cap="flat" cmpd="sng" algn="ctr">
                      <a:solidFill>
                        <a:srgbClr val="BBC0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C0C6"/>
                      </a:solidFill>
                      <a:prstDash val="solid"/>
                      <a:round/>
                      <a:headEnd type="none" w="med" len="med"/>
                      <a:tailEnd type="none" w="med" len="med"/>
                    </a:lnB>
                    <a:solidFill>
                      <a:srgbClr val="EAF0F9"/>
                    </a:solidFill>
                  </a:tcPr>
                </a:tc>
                <a:tc>
                  <a:txBody>
                    <a:bodyPr/>
                    <a:lstStyle/>
                    <a:p>
                      <a:pPr indent="0" marL="0">
                        <a:lnSpc>
                          <a:spcPts val="1960"/>
                        </a:lnSpc>
                        <a:buNone/>
                      </a:pPr>
                      <a:r>
                        <a:rPr lang="en-US" sz="1400" dirty="0">
                          <a:solidFill>
                            <a:srgbClr val="0B2A5B"/>
                          </a:solidFill>
                          <a:latin typeface="Public Sans" pitchFamily="34" charset="0"/>
                          <a:ea typeface="Public Sans" pitchFamily="34" charset="-122"/>
                          <a:cs typeface="Public Sans" pitchFamily="34" charset="-120"/>
                        </a:rPr>
                        <a:t>Low-cost IoT water-level sensors</a:t>
                      </a:r>
                      <a:endParaRPr lang="en-US" sz="1400" dirty="0">
                        <a:latin typeface="Public Sans" charset="0"/>
                        <a:ea typeface="Public Sans" charset="0"/>
                        <a:cs typeface="Public Sans" charset="0"/>
                      </a:endParaRPr>
                    </a:p>
                  </a:txBody>
                  <a:tcPr marL="62230" marR="62230" marT="62230" marB="62230" anchor="t">
                    <a:lnL w="12700" cap="flat" cmpd="sng" algn="ctr">
                      <a:solidFill>
                        <a:srgbClr val="BBC0C6"/>
                      </a:solidFill>
                      <a:prstDash val="solid"/>
                      <a:round/>
                      <a:headEnd type="none" w="med" len="med"/>
                      <a:tailEnd type="none" w="med" len="med"/>
                    </a:lnL>
                    <a:lnR w="12700" cap="flat" cmpd="sng" algn="ctr">
                      <a:solidFill>
                        <a:srgbClr val="BBC0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C0C6"/>
                      </a:solidFill>
                      <a:prstDash val="solid"/>
                      <a:round/>
                      <a:headEnd type="none" w="med" len="med"/>
                      <a:tailEnd type="none" w="med" len="med"/>
                    </a:lnB>
                    <a:solidFill>
                      <a:srgbClr val="EAF0F9"/>
                    </a:solidFill>
                  </a:tcPr>
                </a:tc>
                <a:tc>
                  <a:txBody>
                    <a:bodyPr/>
                    <a:lstStyle/>
                    <a:p>
                      <a:pPr indent="0" marL="0">
                        <a:lnSpc>
                          <a:spcPts val="1960"/>
                        </a:lnSpc>
                        <a:buNone/>
                      </a:pPr>
                      <a:r>
                        <a:rPr lang="en-US" sz="1400" dirty="0">
                          <a:solidFill>
                            <a:srgbClr val="0B2A5B"/>
                          </a:solidFill>
                          <a:latin typeface="Public Sans" pitchFamily="34" charset="0"/>
                          <a:ea typeface="Public Sans" pitchFamily="34" charset="-122"/>
                          <a:cs typeface="Public Sans" pitchFamily="34" charset="-120"/>
                        </a:rPr>
                        <a:t>Single-point or fixed threshold</a:t>
                      </a:r>
                      <a:endParaRPr lang="en-US" sz="1400" dirty="0">
                        <a:latin typeface="Public Sans" charset="0"/>
                        <a:ea typeface="Public Sans" charset="0"/>
                        <a:cs typeface="Public Sans" charset="0"/>
                      </a:endParaRPr>
                    </a:p>
                  </a:txBody>
                  <a:tcPr marL="62230" marR="62230" marT="62230" marB="62230" anchor="t">
                    <a:lnL w="12700" cap="flat" cmpd="sng" algn="ctr">
                      <a:solidFill>
                        <a:srgbClr val="BBC0C6"/>
                      </a:solidFill>
                      <a:prstDash val="solid"/>
                      <a:round/>
                      <a:headEnd type="none" w="med" len="med"/>
                      <a:tailEnd type="none" w="med" len="med"/>
                    </a:lnL>
                    <a:lnR w="12700" cap="flat" cmpd="sng" algn="ctr">
                      <a:solidFill>
                        <a:srgbClr val="BBC0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C0C6"/>
                      </a:solidFill>
                      <a:prstDash val="solid"/>
                      <a:round/>
                      <a:headEnd type="none" w="med" len="med"/>
                      <a:tailEnd type="none" w="med" len="med"/>
                    </a:lnB>
                    <a:solidFill>
                      <a:srgbClr val="EAF0F9"/>
                    </a:solidFill>
                  </a:tcPr>
                </a:tc>
                <a:tc>
                  <a:txBody>
                    <a:bodyPr/>
                    <a:lstStyle/>
                    <a:p>
                      <a:pPr indent="0" marL="0">
                        <a:lnSpc>
                          <a:spcPts val="1960"/>
                        </a:lnSpc>
                        <a:buNone/>
                      </a:pPr>
                      <a:r>
                        <a:rPr lang="en-US" sz="1400" dirty="0">
                          <a:solidFill>
                            <a:srgbClr val="0B2A5B"/>
                          </a:solidFill>
                          <a:latin typeface="Public Sans" pitchFamily="34" charset="0"/>
                          <a:ea typeface="Public Sans" pitchFamily="34" charset="-122"/>
                          <a:cs typeface="Public Sans" pitchFamily="34" charset="-120"/>
                        </a:rPr>
                        <a:t>Multi-point comparison</a:t>
                      </a:r>
                      <a:endParaRPr lang="en-US" sz="1400" dirty="0">
                        <a:latin typeface="Public Sans" charset="0"/>
                        <a:ea typeface="Public Sans" charset="0"/>
                        <a:cs typeface="Public Sans" charset="0"/>
                      </a:endParaRPr>
                    </a:p>
                  </a:txBody>
                  <a:tcPr marL="62230" marR="62230" marT="62230" marB="62230" anchor="t">
                    <a:lnL w="12700" cap="flat" cmpd="sng" algn="ctr">
                      <a:solidFill>
                        <a:srgbClr val="BBC0C6"/>
                      </a:solidFill>
                      <a:prstDash val="solid"/>
                      <a:round/>
                      <a:headEnd type="none" w="med" len="med"/>
                      <a:tailEnd type="none" w="med" len="med"/>
                    </a:lnL>
                    <a:lnR w="12700" cap="flat" cmpd="sng" algn="ctr">
                      <a:solidFill>
                        <a:srgbClr val="BBC0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C0C6"/>
                      </a:solidFill>
                      <a:prstDash val="solid"/>
                      <a:round/>
                      <a:headEnd type="none" w="med" len="med"/>
                      <a:tailEnd type="none" w="med" len="med"/>
                    </a:lnB>
                    <a:solidFill>
                      <a:srgbClr val="EAF0F9"/>
                    </a:solidFill>
                  </a:tcPr>
                </a:tc>
              </a:tr>
              <a:tr h="383811">
                <a:tc>
                  <a:txBody>
                    <a:bodyPr/>
                    <a:lstStyle/>
                    <a:p>
                      <a:pPr indent="0" marL="0">
                        <a:lnSpc>
                          <a:spcPts val="1960"/>
                        </a:lnSpc>
                        <a:buNone/>
                      </a:pPr>
                      <a:r>
                        <a:rPr lang="en-US" sz="1400" dirty="0">
                          <a:solidFill>
                            <a:srgbClr val="0B2A5B"/>
                          </a:solidFill>
                          <a:latin typeface="Public Sans" pitchFamily="34" charset="0"/>
                          <a:ea typeface="Public Sans" pitchFamily="34" charset="-122"/>
                          <a:cs typeface="Public Sans" pitchFamily="34" charset="-120"/>
                        </a:rPr>
                        <a:t>Health response</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3C5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0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0B2A5B"/>
                          </a:solidFill>
                          <a:latin typeface="Public Sans" pitchFamily="34" charset="0"/>
                          <a:ea typeface="Public Sans" pitchFamily="34" charset="-122"/>
                          <a:cs typeface="Public Sans" pitchFamily="34" charset="-120"/>
                        </a:rPr>
                        <a:t>ML disease-incidence models</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0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0B2A5B"/>
                          </a:solidFill>
                          <a:latin typeface="Public Sans" pitchFamily="34" charset="0"/>
                          <a:ea typeface="Public Sans" pitchFamily="34" charset="-122"/>
                          <a:cs typeface="Public Sans" pitchFamily="34" charset="-120"/>
                        </a:rPr>
                        <a:t>Population-level, retrospective</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0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0B2A5B"/>
                          </a:solidFill>
                          <a:latin typeface="Public Sans" pitchFamily="34" charset="0"/>
                          <a:ea typeface="Public Sans" pitchFamily="34" charset="-122"/>
                          <a:cs typeface="Public Sans" pitchFamily="34" charset="-120"/>
                        </a:rPr>
                        <a:t>Individual triage</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0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83811">
                <a:tc>
                  <a:txBody>
                    <a:bodyPr/>
                    <a:lstStyle/>
                    <a:p>
                      <a:pPr indent="0" marL="0">
                        <a:lnSpc>
                          <a:spcPts val="1960"/>
                        </a:lnSpc>
                        <a:buNone/>
                      </a:pPr>
                      <a:r>
                        <a:rPr lang="en-US" sz="1400" dirty="0">
                          <a:solidFill>
                            <a:srgbClr val="0B2A5B"/>
                          </a:solidFill>
                          <a:latin typeface="Public Sans" pitchFamily="34" charset="0"/>
                          <a:ea typeface="Public Sans" pitchFamily="34" charset="-122"/>
                          <a:cs typeface="Public Sans" pitchFamily="34" charset="-120"/>
                        </a:rPr>
                        <a:t>Relief allocation</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3C5C8"/>
                      </a:solidFill>
                      <a:prstDash val="solid"/>
                      <a:round/>
                      <a:headEnd type="none" w="med" len="med"/>
                      <a:tailEnd type="none" w="med" len="med"/>
                    </a:lnL>
                    <a:lnR w="12700" cap="flat" cmpd="sng" algn="ctr">
                      <a:solidFill>
                        <a:srgbClr val="BBC0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C0C6"/>
                      </a:solidFill>
                      <a:prstDash val="solid"/>
                      <a:round/>
                      <a:headEnd type="none" w="med" len="med"/>
                      <a:tailEnd type="none" w="med" len="med"/>
                    </a:lnB>
                    <a:solidFill>
                      <a:srgbClr val="EAF0F9"/>
                    </a:solidFill>
                  </a:tcPr>
                </a:tc>
                <a:tc>
                  <a:txBody>
                    <a:bodyPr/>
                    <a:lstStyle/>
                    <a:p>
                      <a:pPr indent="0" marL="0">
                        <a:lnSpc>
                          <a:spcPts val="1960"/>
                        </a:lnSpc>
                        <a:buNone/>
                      </a:pPr>
                      <a:r>
                        <a:rPr lang="en-US" sz="1400" dirty="0">
                          <a:solidFill>
                            <a:srgbClr val="0B2A5B"/>
                          </a:solidFill>
                          <a:latin typeface="Public Sans" pitchFamily="34" charset="0"/>
                          <a:ea typeface="Public Sans" pitchFamily="34" charset="-122"/>
                          <a:cs typeface="Public Sans" pitchFamily="34" charset="-120"/>
                        </a:rPr>
                        <a:t>Optimisation and routing models</a:t>
                      </a:r>
                      <a:endParaRPr lang="en-US" sz="1400" dirty="0">
                        <a:latin typeface="Public Sans" charset="0"/>
                        <a:ea typeface="Public Sans" charset="0"/>
                        <a:cs typeface="Public Sans" charset="0"/>
                      </a:endParaRPr>
                    </a:p>
                  </a:txBody>
                  <a:tcPr marL="62230" marR="62230" marT="62230" marB="62230" anchor="t">
                    <a:lnL w="12700" cap="flat" cmpd="sng" algn="ctr">
                      <a:solidFill>
                        <a:srgbClr val="BBC0C6"/>
                      </a:solidFill>
                      <a:prstDash val="solid"/>
                      <a:round/>
                      <a:headEnd type="none" w="med" len="med"/>
                      <a:tailEnd type="none" w="med" len="med"/>
                    </a:lnL>
                    <a:lnR w="12700" cap="flat" cmpd="sng" algn="ctr">
                      <a:solidFill>
                        <a:srgbClr val="BBC0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C0C6"/>
                      </a:solidFill>
                      <a:prstDash val="solid"/>
                      <a:round/>
                      <a:headEnd type="none" w="med" len="med"/>
                      <a:tailEnd type="none" w="med" len="med"/>
                    </a:lnB>
                    <a:solidFill>
                      <a:srgbClr val="EAF0F9"/>
                    </a:solidFill>
                  </a:tcPr>
                </a:tc>
                <a:tc>
                  <a:txBody>
                    <a:bodyPr/>
                    <a:lstStyle/>
                    <a:p>
                      <a:pPr indent="0" marL="0">
                        <a:lnSpc>
                          <a:spcPts val="1960"/>
                        </a:lnSpc>
                        <a:buNone/>
                      </a:pPr>
                      <a:r>
                        <a:rPr lang="en-US" sz="1400" dirty="0">
                          <a:solidFill>
                            <a:srgbClr val="0B2A5B"/>
                          </a:solidFill>
                          <a:latin typeface="Public Sans" pitchFamily="34" charset="0"/>
                          <a:ea typeface="Public Sans" pitchFamily="34" charset="-122"/>
                          <a:cs typeface="Public Sans" pitchFamily="34" charset="-120"/>
                        </a:rPr>
                        <a:t>Isolated logistics problem</a:t>
                      </a:r>
                      <a:endParaRPr lang="en-US" sz="1400" dirty="0">
                        <a:latin typeface="Public Sans" charset="0"/>
                        <a:ea typeface="Public Sans" charset="0"/>
                        <a:cs typeface="Public Sans" charset="0"/>
                      </a:endParaRPr>
                    </a:p>
                  </a:txBody>
                  <a:tcPr marL="62230" marR="62230" marT="62230" marB="62230" anchor="t">
                    <a:lnL w="12700" cap="flat" cmpd="sng" algn="ctr">
                      <a:solidFill>
                        <a:srgbClr val="BBC0C6"/>
                      </a:solidFill>
                      <a:prstDash val="solid"/>
                      <a:round/>
                      <a:headEnd type="none" w="med" len="med"/>
                      <a:tailEnd type="none" w="med" len="med"/>
                    </a:lnL>
                    <a:lnR w="12700" cap="flat" cmpd="sng" algn="ctr">
                      <a:solidFill>
                        <a:srgbClr val="BBC0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C0C6"/>
                      </a:solidFill>
                      <a:prstDash val="solid"/>
                      <a:round/>
                      <a:headEnd type="none" w="med" len="med"/>
                      <a:tailEnd type="none" w="med" len="med"/>
                    </a:lnB>
                    <a:solidFill>
                      <a:srgbClr val="EAF0F9"/>
                    </a:solidFill>
                  </a:tcPr>
                </a:tc>
                <a:tc>
                  <a:txBody>
                    <a:bodyPr/>
                    <a:lstStyle/>
                    <a:p>
                      <a:pPr indent="0" marL="0">
                        <a:lnSpc>
                          <a:spcPts val="1960"/>
                        </a:lnSpc>
                        <a:buNone/>
                      </a:pPr>
                      <a:r>
                        <a:rPr lang="en-US" sz="1400" dirty="0">
                          <a:solidFill>
                            <a:srgbClr val="0B2A5B"/>
                          </a:solidFill>
                          <a:latin typeface="Public Sans" pitchFamily="34" charset="0"/>
                          <a:ea typeface="Public Sans" pitchFamily="34" charset="-122"/>
                          <a:cs typeface="Public Sans" pitchFamily="34" charset="-120"/>
                        </a:rPr>
                        <a:t>Data-driven priority</a:t>
                      </a:r>
                      <a:endParaRPr lang="en-US" sz="1400" dirty="0">
                        <a:latin typeface="Public Sans" charset="0"/>
                        <a:ea typeface="Public Sans" charset="0"/>
                        <a:cs typeface="Public Sans" charset="0"/>
                      </a:endParaRPr>
                    </a:p>
                  </a:txBody>
                  <a:tcPr marL="62230" marR="62230" marT="62230" marB="62230" anchor="t">
                    <a:lnL w="12700" cap="flat" cmpd="sng" algn="ctr">
                      <a:solidFill>
                        <a:srgbClr val="BBC0C6"/>
                      </a:solidFill>
                      <a:prstDash val="solid"/>
                      <a:round/>
                      <a:headEnd type="none" w="med" len="med"/>
                      <a:tailEnd type="none" w="med" len="med"/>
                    </a:lnL>
                    <a:lnR w="12700" cap="flat" cmpd="sng" algn="ctr">
                      <a:solidFill>
                        <a:srgbClr val="BBC0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C0C6"/>
                      </a:solidFill>
                      <a:prstDash val="solid"/>
                      <a:round/>
                      <a:headEnd type="none" w="med" len="med"/>
                      <a:tailEnd type="none" w="med" len="med"/>
                    </a:lnB>
                    <a:solidFill>
                      <a:srgbClr val="EAF0F9"/>
                    </a:solidFill>
                  </a:tcPr>
                </a:tc>
              </a:tr>
            </a:tbl>
          </a:graphicData>
        </a:graphic>
      </p:graphicFrame>
      <p:sp>
        <p:nvSpPr>
          <p:cNvPr id="5" name="Text 2"/>
          <p:cNvSpPr/>
          <p:nvPr/>
        </p:nvSpPr>
        <p:spPr>
          <a:xfrm>
            <a:off x="812767" y="4286994"/>
            <a:ext cx="10883460" cy="299740"/>
          </a:xfrm>
          <a:prstGeom prst="rect">
            <a:avLst/>
          </a:prstGeom>
          <a:noFill/>
          <a:ln/>
        </p:spPr>
        <p:txBody>
          <a:bodyPr wrap="square" lIns="0" tIns="0" rIns="0" bIns="0" rtlCol="0" anchor="t">
            <a:normAutofit/>
          </a:bodyPr>
          <a:lstStyle/>
          <a:p>
            <a:pPr algn="l" indent="0" marL="0">
              <a:lnSpc>
                <a:spcPts val="2160"/>
              </a:lnSpc>
              <a:buNone/>
            </a:pPr>
            <a:r>
              <a:rPr lang="en-US" sz="1600" b="1" dirty="0">
                <a:solidFill>
                  <a:srgbClr val="1F7A33"/>
                </a:solidFill>
                <a:latin typeface="Public Sans" pitchFamily="34" charset="0"/>
                <a:ea typeface="Public Sans" pitchFamily="34" charset="-122"/>
                <a:cs typeface="Public Sans" pitchFamily="34" charset="-120"/>
              </a:rPr>
              <a:t>The gap is integration, not technology: no shared platform connects all four.</a:t>
            </a:r>
            <a:endParaRPr lang="en-US" sz="1600" dirty="0"/>
          </a:p>
        </p:txBody>
      </p:sp>
      <p:sp>
        <p:nvSpPr>
          <p:cNvPr id="6" name="Text 3"/>
          <p:cNvSpPr/>
          <p:nvPr/>
        </p:nvSpPr>
        <p:spPr>
          <a:xfrm>
            <a:off x="812767" y="6238295"/>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A94"/>
                </a:solidFill>
                <a:latin typeface="Public Sans" pitchFamily="34" charset="0"/>
                <a:ea typeface="Public Sans" pitchFamily="34" charset="-122"/>
                <a:cs typeface="Public Sans" pitchFamily="34" charset="-120"/>
              </a:rPr>
              <a:t>FloodGuard360 · IT4010 Final Presentation</a:t>
            </a:r>
            <a:endParaRPr lang="en-US" sz="1200" dirty="0"/>
          </a:p>
        </p:txBody>
      </p:sp>
      <p:sp>
        <p:nvSpPr>
          <p:cNvPr id="7" name="Text 4"/>
          <p:cNvSpPr/>
          <p:nvPr/>
        </p:nvSpPr>
        <p:spPr>
          <a:xfrm>
            <a:off x="10566433" y="6238295"/>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A94"/>
                </a:solidFill>
                <a:latin typeface="Public Sans" pitchFamily="34" charset="0"/>
                <a:ea typeface="Public Sans" pitchFamily="34" charset="-122"/>
                <a:cs typeface="Public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2A5B"/>
        </a:solidFill>
      </p:bgPr>
    </p:bg>
    <p:spTree>
      <p:nvGrpSpPr>
        <p:cNvPr id="1" name=""/>
        <p:cNvGrpSpPr/>
        <p:nvPr/>
      </p:nvGrpSpPr>
      <p:grpSpPr>
        <a:xfrm>
          <a:off x="0" y="0"/>
          <a:ext cx="0" cy="0"/>
          <a:chOff x="0" y="0"/>
          <a:chExt cx="0" cy="0"/>
        </a:xfrm>
      </p:grpSpPr>
      <p:sp>
        <p:nvSpPr>
          <p:cNvPr id="2" name="Text 0"/>
          <p:cNvSpPr/>
          <p:nvPr/>
        </p:nvSpPr>
        <p:spPr>
          <a:xfrm>
            <a:off x="812767" y="812766"/>
            <a:ext cx="10883460" cy="256497"/>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F5B82E"/>
                </a:solidFill>
                <a:latin typeface="Public Sans" pitchFamily="34" charset="0"/>
                <a:ea typeface="Public Sans" pitchFamily="34" charset="-122"/>
                <a:cs typeface="Public Sans" pitchFamily="34" charset="-120"/>
              </a:rPr>
              <a:t>PROPOSED SOLUTION</a:t>
            </a:r>
            <a:endParaRPr lang="en-US" sz="1300" dirty="0"/>
          </a:p>
        </p:txBody>
      </p:sp>
      <p:sp>
        <p:nvSpPr>
          <p:cNvPr id="3" name="Text 1"/>
          <p:cNvSpPr/>
          <p:nvPr>
            <p:ph type="title"/>
          </p:nvPr>
        </p:nvSpPr>
        <p:spPr>
          <a:xfrm>
            <a:off x="812767" y="1145397"/>
            <a:ext cx="10883460" cy="480483"/>
          </a:xfrm>
          <a:prstGeom prst="rect">
            <a:avLst/>
          </a:prstGeom>
          <a:noFill/>
          <a:ln/>
        </p:spPr>
        <p:txBody>
          <a:bodyPr wrap="square" lIns="0" tIns="0" rIns="0" bIns="0" rtlCol="0" anchor="t">
            <a:normAutofit/>
          </a:bodyPr>
          <a:lstStyle/>
          <a:p>
            <a:pPr algn="l" indent="0" marL="0">
              <a:lnSpc>
                <a:spcPts val="3584"/>
              </a:lnSpc>
              <a:buNone/>
            </a:pPr>
            <a:r>
              <a:rPr lang="en-US" sz="3200" b="1" i="0" dirty="0">
                <a:solidFill>
                  <a:srgbClr val="F4F7FB"/>
                </a:solidFill>
                <a:latin typeface="Rubik" pitchFamily="34" charset="0"/>
                <a:ea typeface="Rubik" pitchFamily="34" charset="-122"/>
                <a:cs typeface="Rubik" pitchFamily="34" charset="-120"/>
              </a:rPr>
              <a:t>One platform, four connected modules</a:t>
            </a:r>
            <a:endParaRPr lang="en-US" sz="3200" dirty="0"/>
          </a:p>
        </p:txBody>
      </p:sp>
      <p:sp>
        <p:nvSpPr>
          <p:cNvPr id="4" name="Shape 2"/>
          <p:cNvSpPr/>
          <p:nvPr/>
        </p:nvSpPr>
        <p:spPr>
          <a:xfrm>
            <a:off x="812767" y="1854481"/>
            <a:ext cx="2527267" cy="2085991"/>
          </a:xfrm>
          <a:prstGeom prst="roundRect">
            <a:avLst>
              <a:gd name="adj" fmla="val 4871"/>
            </a:avLst>
          </a:prstGeom>
          <a:solidFill>
            <a:srgbClr val="14397A"/>
          </a:solidFill>
          <a:ln/>
        </p:spPr>
      </p:sp>
      <p:sp>
        <p:nvSpPr>
          <p:cNvPr id="5" name="Text 3"/>
          <p:cNvSpPr/>
          <p:nvPr/>
        </p:nvSpPr>
        <p:spPr>
          <a:xfrm>
            <a:off x="1015917" y="2057631"/>
            <a:ext cx="2184595" cy="256497"/>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5B82E"/>
                </a:solidFill>
                <a:latin typeface="Public Sans" pitchFamily="34" charset="0"/>
                <a:ea typeface="Public Sans" pitchFamily="34" charset="-122"/>
                <a:cs typeface="Public Sans" pitchFamily="34" charset="-120"/>
              </a:rPr>
              <a:t>MODULE 1</a:t>
            </a:r>
            <a:endParaRPr lang="en-US" sz="1300" dirty="0"/>
          </a:p>
        </p:txBody>
      </p:sp>
      <p:sp>
        <p:nvSpPr>
          <p:cNvPr id="6" name="Text 4"/>
          <p:cNvSpPr/>
          <p:nvPr/>
        </p:nvSpPr>
        <p:spPr>
          <a:xfrm>
            <a:off x="1015917" y="2390262"/>
            <a:ext cx="2184595" cy="551094"/>
          </a:xfrm>
          <a:prstGeom prst="rect">
            <a:avLst/>
          </a:prstGeom>
          <a:noFill/>
          <a:ln/>
        </p:spPr>
        <p:txBody>
          <a:bodyPr wrap="square" lIns="0" tIns="0" rIns="0" bIns="0" rtlCol="0" anchor="t">
            <a:normAutofit/>
          </a:bodyPr>
          <a:lstStyle/>
          <a:p>
            <a:pPr algn="l" indent="0" marL="0">
              <a:lnSpc>
                <a:spcPts val="2070"/>
              </a:lnSpc>
              <a:buNone/>
            </a:pPr>
            <a:r>
              <a:rPr lang="en-US" sz="1800" b="1" dirty="0">
                <a:solidFill>
                  <a:srgbClr val="F4F7FB"/>
                </a:solidFill>
                <a:latin typeface="Rubik" pitchFamily="34" charset="0"/>
                <a:ea typeface="Rubik" pitchFamily="34" charset="-122"/>
                <a:cs typeface="Rubik" pitchFamily="34" charset="-120"/>
              </a:rPr>
              <a:t>Flood-risk prediction</a:t>
            </a:r>
            <a:endParaRPr lang="en-US" sz="1800" dirty="0"/>
          </a:p>
        </p:txBody>
      </p:sp>
      <p:sp>
        <p:nvSpPr>
          <p:cNvPr id="7" name="Text 5"/>
          <p:cNvSpPr/>
          <p:nvPr/>
        </p:nvSpPr>
        <p:spPr>
          <a:xfrm>
            <a:off x="1015917" y="3017490"/>
            <a:ext cx="2184595" cy="505288"/>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D5E2F7"/>
                </a:solidFill>
                <a:latin typeface="Public Sans" pitchFamily="34" charset="0"/>
                <a:ea typeface="Public Sans" pitchFamily="34" charset="-122"/>
                <a:cs typeface="Public Sans" pitchFamily="34" charset="-120"/>
              </a:rPr>
              <a:t>ML risk classes on a live GIS map</a:t>
            </a:r>
            <a:endParaRPr lang="en-US" sz="1400" dirty="0"/>
          </a:p>
        </p:txBody>
      </p:sp>
      <p:sp>
        <p:nvSpPr>
          <p:cNvPr id="8" name="Shape 6"/>
          <p:cNvSpPr/>
          <p:nvPr/>
        </p:nvSpPr>
        <p:spPr>
          <a:xfrm>
            <a:off x="3492417" y="1854481"/>
            <a:ext cx="2527350" cy="2085991"/>
          </a:xfrm>
          <a:prstGeom prst="roundRect">
            <a:avLst>
              <a:gd name="adj" fmla="val 4871"/>
            </a:avLst>
          </a:prstGeom>
          <a:solidFill>
            <a:srgbClr val="14397A"/>
          </a:solidFill>
          <a:ln/>
        </p:spPr>
      </p:sp>
      <p:sp>
        <p:nvSpPr>
          <p:cNvPr id="9" name="Text 7"/>
          <p:cNvSpPr/>
          <p:nvPr/>
        </p:nvSpPr>
        <p:spPr>
          <a:xfrm>
            <a:off x="3695567" y="2057631"/>
            <a:ext cx="2184680" cy="256497"/>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5B82E"/>
                </a:solidFill>
                <a:latin typeface="Public Sans" pitchFamily="34" charset="0"/>
                <a:ea typeface="Public Sans" pitchFamily="34" charset="-122"/>
                <a:cs typeface="Public Sans" pitchFamily="34" charset="-120"/>
              </a:rPr>
              <a:t>MODULE 2</a:t>
            </a:r>
            <a:endParaRPr lang="en-US" sz="1300" dirty="0"/>
          </a:p>
        </p:txBody>
      </p:sp>
      <p:sp>
        <p:nvSpPr>
          <p:cNvPr id="10" name="Text 8"/>
          <p:cNvSpPr/>
          <p:nvPr/>
        </p:nvSpPr>
        <p:spPr>
          <a:xfrm>
            <a:off x="3695567" y="2390262"/>
            <a:ext cx="2184680" cy="551094"/>
          </a:xfrm>
          <a:prstGeom prst="rect">
            <a:avLst/>
          </a:prstGeom>
          <a:noFill/>
          <a:ln/>
        </p:spPr>
        <p:txBody>
          <a:bodyPr wrap="square" lIns="0" tIns="0" rIns="0" bIns="0" rtlCol="0" anchor="t">
            <a:normAutofit/>
          </a:bodyPr>
          <a:lstStyle/>
          <a:p>
            <a:pPr algn="l" indent="0" marL="0">
              <a:lnSpc>
                <a:spcPts val="2070"/>
              </a:lnSpc>
              <a:buNone/>
            </a:pPr>
            <a:r>
              <a:rPr lang="en-US" sz="1800" b="1" dirty="0">
                <a:solidFill>
                  <a:srgbClr val="F4F7FB"/>
                </a:solidFill>
                <a:latin typeface="Rubik" pitchFamily="34" charset="0"/>
                <a:ea typeface="Rubik" pitchFamily="34" charset="-122"/>
                <a:cs typeface="Rubik" pitchFamily="34" charset="-120"/>
              </a:rPr>
              <a:t>Drainage monitoring</a:t>
            </a:r>
            <a:endParaRPr lang="en-US" sz="1800" dirty="0"/>
          </a:p>
        </p:txBody>
      </p:sp>
      <p:sp>
        <p:nvSpPr>
          <p:cNvPr id="11" name="Text 9"/>
          <p:cNvSpPr/>
          <p:nvPr/>
        </p:nvSpPr>
        <p:spPr>
          <a:xfrm>
            <a:off x="3695567" y="3017490"/>
            <a:ext cx="2184680" cy="745232"/>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D5E2F7"/>
                </a:solidFill>
                <a:latin typeface="Public Sans" pitchFamily="34" charset="0"/>
                <a:ea typeface="Public Sans" pitchFamily="34" charset="-122"/>
                <a:cs typeface="Public Sans" pitchFamily="34" charset="-120"/>
              </a:rPr>
              <a:t>IoT sensors detect blockages and forecast levels</a:t>
            </a:r>
            <a:endParaRPr lang="en-US" sz="1400" dirty="0"/>
          </a:p>
        </p:txBody>
      </p:sp>
      <p:sp>
        <p:nvSpPr>
          <p:cNvPr id="12" name="Shape 10"/>
          <p:cNvSpPr/>
          <p:nvPr/>
        </p:nvSpPr>
        <p:spPr>
          <a:xfrm>
            <a:off x="6172150" y="1854481"/>
            <a:ext cx="2527350" cy="2085991"/>
          </a:xfrm>
          <a:prstGeom prst="roundRect">
            <a:avLst>
              <a:gd name="adj" fmla="val 4871"/>
            </a:avLst>
          </a:prstGeom>
          <a:solidFill>
            <a:srgbClr val="14397A"/>
          </a:solidFill>
          <a:ln/>
        </p:spPr>
      </p:sp>
      <p:sp>
        <p:nvSpPr>
          <p:cNvPr id="13" name="Text 11"/>
          <p:cNvSpPr/>
          <p:nvPr/>
        </p:nvSpPr>
        <p:spPr>
          <a:xfrm>
            <a:off x="6375301" y="2057631"/>
            <a:ext cx="2184680" cy="256497"/>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5B82E"/>
                </a:solidFill>
                <a:latin typeface="Public Sans" pitchFamily="34" charset="0"/>
                <a:ea typeface="Public Sans" pitchFamily="34" charset="-122"/>
                <a:cs typeface="Public Sans" pitchFamily="34" charset="-120"/>
              </a:rPr>
              <a:t>MODULE 3</a:t>
            </a:r>
            <a:endParaRPr lang="en-US" sz="1300" dirty="0"/>
          </a:p>
        </p:txBody>
      </p:sp>
      <p:sp>
        <p:nvSpPr>
          <p:cNvPr id="14" name="Text 12"/>
          <p:cNvSpPr/>
          <p:nvPr/>
        </p:nvSpPr>
        <p:spPr>
          <a:xfrm>
            <a:off x="6375301" y="2390262"/>
            <a:ext cx="2184680" cy="288247"/>
          </a:xfrm>
          <a:prstGeom prst="rect">
            <a:avLst/>
          </a:prstGeom>
          <a:noFill/>
          <a:ln/>
        </p:spPr>
        <p:txBody>
          <a:bodyPr wrap="square" lIns="0" tIns="0" rIns="0" bIns="0" rtlCol="0" anchor="t">
            <a:normAutofit/>
          </a:bodyPr>
          <a:lstStyle/>
          <a:p>
            <a:pPr algn="l" indent="0" marL="0">
              <a:lnSpc>
                <a:spcPts val="2070"/>
              </a:lnSpc>
              <a:buNone/>
            </a:pPr>
            <a:r>
              <a:rPr lang="en-US" sz="1800" b="1" dirty="0">
                <a:solidFill>
                  <a:srgbClr val="F4F7FB"/>
                </a:solidFill>
                <a:latin typeface="Rubik" pitchFamily="34" charset="0"/>
                <a:ea typeface="Rubik" pitchFamily="34" charset="-122"/>
                <a:cs typeface="Rubik" pitchFamily="34" charset="-120"/>
              </a:rPr>
              <a:t>Health screening</a:t>
            </a:r>
            <a:endParaRPr lang="en-US" sz="1800" dirty="0"/>
          </a:p>
        </p:txBody>
      </p:sp>
      <p:sp>
        <p:nvSpPr>
          <p:cNvPr id="15" name="Text 13"/>
          <p:cNvSpPr/>
          <p:nvPr/>
        </p:nvSpPr>
        <p:spPr>
          <a:xfrm>
            <a:off x="6375301" y="2754643"/>
            <a:ext cx="2184680" cy="505288"/>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D5E2F7"/>
                </a:solidFill>
                <a:latin typeface="Public Sans" pitchFamily="34" charset="0"/>
                <a:ea typeface="Public Sans" pitchFamily="34" charset="-122"/>
                <a:cs typeface="Public Sans" pitchFamily="34" charset="-120"/>
              </a:rPr>
              <a:t>Symptoms and images triaged by risk</a:t>
            </a:r>
            <a:endParaRPr lang="en-US" sz="1400" dirty="0"/>
          </a:p>
        </p:txBody>
      </p:sp>
      <p:sp>
        <p:nvSpPr>
          <p:cNvPr id="16" name="Shape 14"/>
          <p:cNvSpPr/>
          <p:nvPr/>
        </p:nvSpPr>
        <p:spPr>
          <a:xfrm>
            <a:off x="8851883" y="1854481"/>
            <a:ext cx="2527350" cy="2085991"/>
          </a:xfrm>
          <a:prstGeom prst="roundRect">
            <a:avLst>
              <a:gd name="adj" fmla="val 4871"/>
            </a:avLst>
          </a:prstGeom>
          <a:solidFill>
            <a:srgbClr val="14397A"/>
          </a:solidFill>
          <a:ln/>
        </p:spPr>
      </p:sp>
      <p:sp>
        <p:nvSpPr>
          <p:cNvPr id="17" name="Text 15"/>
          <p:cNvSpPr/>
          <p:nvPr/>
        </p:nvSpPr>
        <p:spPr>
          <a:xfrm>
            <a:off x="9055033" y="2057631"/>
            <a:ext cx="2184680" cy="256497"/>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5B82E"/>
                </a:solidFill>
                <a:latin typeface="Public Sans" pitchFamily="34" charset="0"/>
                <a:ea typeface="Public Sans" pitchFamily="34" charset="-122"/>
                <a:cs typeface="Public Sans" pitchFamily="34" charset="-120"/>
              </a:rPr>
              <a:t>MODULE 4</a:t>
            </a:r>
            <a:endParaRPr lang="en-US" sz="1300" dirty="0"/>
          </a:p>
        </p:txBody>
      </p:sp>
      <p:sp>
        <p:nvSpPr>
          <p:cNvPr id="18" name="Text 16"/>
          <p:cNvSpPr/>
          <p:nvPr/>
        </p:nvSpPr>
        <p:spPr>
          <a:xfrm>
            <a:off x="9055033" y="2390262"/>
            <a:ext cx="2184680" cy="288247"/>
          </a:xfrm>
          <a:prstGeom prst="rect">
            <a:avLst/>
          </a:prstGeom>
          <a:noFill/>
          <a:ln/>
        </p:spPr>
        <p:txBody>
          <a:bodyPr wrap="square" lIns="0" tIns="0" rIns="0" bIns="0" rtlCol="0" anchor="t">
            <a:normAutofit/>
          </a:bodyPr>
          <a:lstStyle/>
          <a:p>
            <a:pPr algn="l" indent="0" marL="0">
              <a:lnSpc>
                <a:spcPts val="2070"/>
              </a:lnSpc>
              <a:buNone/>
            </a:pPr>
            <a:r>
              <a:rPr lang="en-US" sz="1800" b="1" dirty="0">
                <a:solidFill>
                  <a:srgbClr val="F4F7FB"/>
                </a:solidFill>
                <a:latin typeface="Rubik" pitchFamily="34" charset="0"/>
                <a:ea typeface="Rubik" pitchFamily="34" charset="-122"/>
                <a:cs typeface="Rubik" pitchFamily="34" charset="-120"/>
              </a:rPr>
              <a:t>Rescue and relief</a:t>
            </a:r>
            <a:endParaRPr lang="en-US" sz="1800" dirty="0"/>
          </a:p>
        </p:txBody>
      </p:sp>
      <p:sp>
        <p:nvSpPr>
          <p:cNvPr id="19" name="Text 17"/>
          <p:cNvSpPr/>
          <p:nvPr/>
        </p:nvSpPr>
        <p:spPr>
          <a:xfrm>
            <a:off x="9055033" y="2754643"/>
            <a:ext cx="2184680" cy="505288"/>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D5E2F7"/>
                </a:solidFill>
                <a:latin typeface="Public Sans" pitchFamily="34" charset="0"/>
                <a:ea typeface="Public Sans" pitchFamily="34" charset="-122"/>
                <a:cs typeface="Public Sans" pitchFamily="34" charset="-120"/>
              </a:rPr>
              <a:t>Camp and resource priorities</a:t>
            </a:r>
            <a:endParaRPr lang="en-US" sz="1400" dirty="0"/>
          </a:p>
        </p:txBody>
      </p:sp>
      <p:sp>
        <p:nvSpPr>
          <p:cNvPr id="20" name="Shape 18"/>
          <p:cNvSpPr/>
          <p:nvPr/>
        </p:nvSpPr>
        <p:spPr>
          <a:xfrm>
            <a:off x="812767" y="4194473"/>
            <a:ext cx="10566466" cy="660301"/>
          </a:xfrm>
          <a:prstGeom prst="roundRect">
            <a:avLst>
              <a:gd name="adj" fmla="val 15387"/>
            </a:avLst>
          </a:prstGeom>
          <a:solidFill>
            <a:srgbClr val="2E9B45"/>
          </a:solidFill>
          <a:ln/>
        </p:spPr>
      </p:sp>
      <p:pic>
        <p:nvPicPr>
          <p:cNvPr id="21" name="Image 0" descr="Link">    </p:cNvPr>
          <p:cNvPicPr>
            <a:picLocks noChangeAspect="1"/>
          </p:cNvPicPr>
          <p:nvPr/>
        </p:nvPicPr>
        <p:blipFill>
          <a:blip r:embed="rId1"/>
          <a:srcRect l="0" r="0" t="0" b="0"/>
          <a:stretch/>
        </p:blipFill>
        <p:spPr>
          <a:xfrm>
            <a:off x="1066767" y="4372239"/>
            <a:ext cx="304767" cy="304767"/>
          </a:xfrm>
          <a:prstGeom prst="rect">
            <a:avLst/>
          </a:prstGeom>
        </p:spPr>
      </p:pic>
      <p:sp>
        <p:nvSpPr>
          <p:cNvPr id="22" name="Text 19"/>
          <p:cNvSpPr/>
          <p:nvPr/>
        </p:nvSpPr>
        <p:spPr>
          <a:xfrm>
            <a:off x="1523917" y="4392496"/>
            <a:ext cx="8297267" cy="28957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08210F"/>
                </a:solidFill>
                <a:latin typeface="Public Sans" pitchFamily="34" charset="0"/>
                <a:ea typeface="Public Sans" pitchFamily="34" charset="-122"/>
                <a:cs typeface="Public Sans" pitchFamily="34" charset="-120"/>
              </a:rPr>
              <a:t>Shared integration layer: REST APIs, Socket.IO real-time bus, MongoDB</a:t>
            </a:r>
            <a:endParaRPr lang="en-US" sz="1600" dirty="0"/>
          </a:p>
        </p:txBody>
      </p:sp>
      <p:sp>
        <p:nvSpPr>
          <p:cNvPr id="23" name="Text 20"/>
          <p:cNvSpPr/>
          <p:nvPr/>
        </p:nvSpPr>
        <p:spPr>
          <a:xfrm>
            <a:off x="812767" y="6238295"/>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DB6DD"/>
                </a:solidFill>
                <a:latin typeface="Public Sans" pitchFamily="34" charset="0"/>
                <a:ea typeface="Public Sans" pitchFamily="34" charset="-122"/>
                <a:cs typeface="Public Sans" pitchFamily="34" charset="-120"/>
              </a:rPr>
              <a:t>FloodGuard360 · IT4010 Final Presentation</a:t>
            </a:r>
            <a:endParaRPr lang="en-US" sz="1200" dirty="0"/>
          </a:p>
        </p:txBody>
      </p:sp>
      <p:sp>
        <p:nvSpPr>
          <p:cNvPr id="24" name="Text 21"/>
          <p:cNvSpPr/>
          <p:nvPr/>
        </p:nvSpPr>
        <p:spPr>
          <a:xfrm>
            <a:off x="10566433" y="6238295"/>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DB6DD"/>
                </a:solidFill>
                <a:latin typeface="Public Sans" pitchFamily="34" charset="0"/>
                <a:ea typeface="Public Sans" pitchFamily="34" charset="-122"/>
                <a:cs typeface="Public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812767" y="1640830"/>
            <a:ext cx="5169294" cy="256497"/>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1F78C8"/>
                </a:solidFill>
                <a:latin typeface="Public Sans" pitchFamily="34" charset="0"/>
                <a:ea typeface="Public Sans" pitchFamily="34" charset="-122"/>
                <a:cs typeface="Public Sans" pitchFamily="34" charset="-120"/>
              </a:rPr>
              <a:t>SYSTEM ARCHITECTURE</a:t>
            </a:r>
            <a:endParaRPr lang="en-US" sz="1300" dirty="0"/>
          </a:p>
        </p:txBody>
      </p:sp>
      <p:sp>
        <p:nvSpPr>
          <p:cNvPr id="3" name="Text 1"/>
          <p:cNvSpPr/>
          <p:nvPr>
            <p:ph type="title"/>
          </p:nvPr>
        </p:nvSpPr>
        <p:spPr>
          <a:xfrm>
            <a:off x="812767" y="2049692"/>
            <a:ext cx="5169294" cy="878681"/>
          </a:xfrm>
          <a:prstGeom prst="rect">
            <a:avLst/>
          </a:prstGeom>
          <a:noFill/>
          <a:ln/>
        </p:spPr>
        <p:txBody>
          <a:bodyPr wrap="square" lIns="0" tIns="0" rIns="0" bIns="0" rtlCol="0" anchor="t">
            <a:normAutofit/>
          </a:bodyPr>
          <a:lstStyle/>
          <a:p>
            <a:pPr algn="l" indent="0" marL="0">
              <a:lnSpc>
                <a:spcPts val="3360"/>
              </a:lnSpc>
              <a:buNone/>
            </a:pPr>
            <a:r>
              <a:rPr lang="en-US" sz="3000" b="1" i="0" dirty="0">
                <a:solidFill>
                  <a:srgbClr val="0B2A5B"/>
                </a:solidFill>
                <a:latin typeface="Rubik" pitchFamily="34" charset="0"/>
                <a:ea typeface="Rubik" pitchFamily="34" charset="-122"/>
                <a:cs typeface="Rubik" pitchFamily="34" charset="-120"/>
              </a:rPr>
              <a:t>Modules publish to one shared layer</a:t>
            </a:r>
            <a:endParaRPr lang="en-US" sz="3000" dirty="0"/>
          </a:p>
        </p:txBody>
      </p:sp>
      <p:sp>
        <p:nvSpPr>
          <p:cNvPr id="4" name="Text 2"/>
          <p:cNvSpPr/>
          <p:nvPr/>
        </p:nvSpPr>
        <p:spPr>
          <a:xfrm>
            <a:off x="890237" y="3080742"/>
            <a:ext cx="5084204" cy="1958512"/>
          </a:xfrm>
          <a:prstGeom prst="rect">
            <a:avLst/>
          </a:prstGeom>
          <a:noFill/>
          <a:ln/>
        </p:spPr>
        <p:txBody>
          <a:bodyPr wrap="square" lIns="0" tIns="0" rIns="0" bIns="0" rtlCol="0" anchor="t">
            <a:normAutofit/>
          </a:bodyPr>
          <a:lstStyle/>
          <a:p>
            <a:pPr algn="l" marL="176530" indent="-176530">
              <a:lnSpc>
                <a:spcPts val="2175"/>
              </a:lnSpc>
              <a:buSzPct val="100000"/>
              <a:buChar char="•"/>
            </a:pPr>
            <a:r>
              <a:rPr lang="en-US" sz="1500" dirty="0">
                <a:solidFill>
                  <a:srgbClr val="3A4A66"/>
                </a:solidFill>
                <a:latin typeface="Public Sans" pitchFamily="34" charset="0"/>
                <a:ea typeface="Public Sans" pitchFamily="34" charset="-122"/>
                <a:cs typeface="Public Sans" pitchFamily="34" charset="-120"/>
              </a:rPr>
              <a:t>Each module ingests its own data: rainfall, IoT telemetry, symptoms and images, camp data</a:t>
            </a:r>
            <a:endParaRPr lang="en-US" sz="1500" dirty="0"/>
          </a:p>
          <a:p>
            <a:pPr algn="l" marL="176530" indent="-176530">
              <a:lnSpc>
                <a:spcPts val="2175"/>
              </a:lnSpc>
              <a:buSzPct val="100000"/>
              <a:buChar char="•"/>
            </a:pPr>
            <a:r>
              <a:rPr lang="en-US" sz="1500" dirty="0">
                <a:solidFill>
                  <a:srgbClr val="3A4A66"/>
                </a:solidFill>
                <a:latin typeface="Public Sans" pitchFamily="34" charset="0"/>
                <a:ea typeface="Public Sans" pitchFamily="34" charset="-122"/>
                <a:cs typeface="Public Sans" pitchFamily="34" charset="-120"/>
              </a:rPr>
              <a:t>Outputs go to REST APIs, a Socket.IO real-time bus and MongoDB</a:t>
            </a:r>
            <a:endParaRPr lang="en-US" sz="1500" dirty="0"/>
          </a:p>
          <a:p>
            <a:pPr algn="l" marL="176530" indent="-176530">
              <a:lnSpc>
                <a:spcPts val="2175"/>
              </a:lnSpc>
              <a:buSzPct val="100000"/>
              <a:buChar char="•"/>
            </a:pPr>
            <a:r>
              <a:rPr lang="en-US" sz="1500" dirty="0">
                <a:solidFill>
                  <a:srgbClr val="3A4A66"/>
                </a:solidFill>
                <a:latin typeface="Public Sans" pitchFamily="34" charset="0"/>
                <a:ea typeface="Public Sans" pitchFamily="34" charset="-122"/>
                <a:cs typeface="Public Sans" pitchFamily="34" charset="-120"/>
              </a:rPr>
              <a:t>Officers, the public app and the rescue centre all read and write the same layer</a:t>
            </a:r>
            <a:endParaRPr lang="en-US" sz="1500" dirty="0"/>
          </a:p>
          <a:p>
            <a:pPr algn="l" marL="176530" indent="-176530">
              <a:lnSpc>
                <a:spcPts val="2175"/>
              </a:lnSpc>
              <a:buSzPct val="100000"/>
              <a:buChar char="•"/>
            </a:pPr>
            <a:r>
              <a:rPr lang="en-US" sz="1500" dirty="0">
                <a:solidFill>
                  <a:srgbClr val="3A4A66"/>
                </a:solidFill>
                <a:latin typeface="Public Sans" pitchFamily="34" charset="0"/>
                <a:ea typeface="Public Sans" pitchFamily="34" charset="-122"/>
                <a:cs typeface="Public Sans" pitchFamily="34" charset="-120"/>
              </a:rPr>
              <a:t>ML models run as independent microservices</a:t>
            </a:r>
            <a:endParaRPr lang="en-US" sz="1500" dirty="0"/>
          </a:p>
        </p:txBody>
      </p:sp>
      <p:sp>
        <p:nvSpPr>
          <p:cNvPr id="5" name="Shape 3"/>
          <p:cNvSpPr/>
          <p:nvPr/>
        </p:nvSpPr>
        <p:spPr>
          <a:xfrm>
            <a:off x="6241058" y="1083748"/>
            <a:ext cx="5135000" cy="4487267"/>
          </a:xfrm>
          <a:prstGeom prst="roundRect">
            <a:avLst>
              <a:gd name="adj" fmla="val 2193"/>
            </a:avLst>
          </a:prstGeom>
          <a:solidFill>
            <a:srgbClr val="FFFFFF"/>
          </a:solidFill>
          <a:ln w="6350">
            <a:solidFill>
              <a:srgbClr val="D5DEEC"/>
            </a:solidFill>
            <a:prstDash val="solid"/>
          </a:ln>
        </p:spPr>
      </p:sp>
      <p:pic>
        <p:nvPicPr>
          <p:cNvPr id="6" name="Image 0" descr="Overall system architecture of the integrated platform">    </p:cNvPr>
          <p:cNvPicPr>
            <a:picLocks noChangeAspect="1"/>
          </p:cNvPicPr>
          <p:nvPr/>
        </p:nvPicPr>
        <p:blipFill>
          <a:blip r:embed="rId1"/>
          <a:srcRect l="0" r="0" t="-14" b="-14"/>
          <a:stretch/>
        </p:blipFill>
        <p:spPr>
          <a:xfrm>
            <a:off x="6395558" y="1238250"/>
            <a:ext cx="4826000" cy="4178267"/>
          </a:xfrm>
          <a:prstGeom prst="rect">
            <a:avLst/>
          </a:prstGeom>
        </p:spPr>
      </p:pic>
      <p:sp>
        <p:nvSpPr>
          <p:cNvPr id="7" name="Text 4"/>
          <p:cNvSpPr/>
          <p:nvPr/>
        </p:nvSpPr>
        <p:spPr>
          <a:xfrm>
            <a:off x="812767" y="6238295"/>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A94"/>
                </a:solidFill>
                <a:latin typeface="Public Sans" pitchFamily="34" charset="0"/>
                <a:ea typeface="Public Sans" pitchFamily="34" charset="-122"/>
                <a:cs typeface="Public Sans" pitchFamily="34" charset="-120"/>
              </a:rPr>
              <a:t>FloodGuard360 · IT4010 Final Presentation</a:t>
            </a:r>
            <a:endParaRPr lang="en-US" sz="1200" dirty="0"/>
          </a:p>
        </p:txBody>
      </p:sp>
      <p:sp>
        <p:nvSpPr>
          <p:cNvPr id="8" name="Text 5"/>
          <p:cNvSpPr/>
          <p:nvPr/>
        </p:nvSpPr>
        <p:spPr>
          <a:xfrm>
            <a:off x="10566433" y="6238295"/>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A94"/>
                </a:solidFill>
                <a:latin typeface="Public Sans" pitchFamily="34" charset="0"/>
                <a:ea typeface="Public Sans" pitchFamily="34" charset="-122"/>
                <a:cs typeface="Public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815942" y="1188507"/>
            <a:ext cx="5135000" cy="4277750"/>
          </a:xfrm>
          <a:prstGeom prst="roundRect">
            <a:avLst>
              <a:gd name="adj" fmla="val 2301"/>
            </a:avLst>
          </a:prstGeom>
          <a:solidFill>
            <a:srgbClr val="FFFFFF"/>
          </a:solidFill>
          <a:ln w="6350">
            <a:solidFill>
              <a:srgbClr val="D5DEEC"/>
            </a:solidFill>
            <a:prstDash val="solid"/>
          </a:ln>
        </p:spPr>
      </p:sp>
      <p:pic>
        <p:nvPicPr>
          <p:cNvPr id="3" name="Image 0" descr="Integrated cross-module disaster-management workflow">    </p:cNvPr>
          <p:cNvPicPr>
            <a:picLocks noChangeAspect="1"/>
          </p:cNvPicPr>
          <p:nvPr/>
        </p:nvPicPr>
        <p:blipFill>
          <a:blip r:embed="rId1"/>
          <a:srcRect l="0" r="0" t="-29" b="-29"/>
          <a:stretch/>
        </p:blipFill>
        <p:spPr>
          <a:xfrm>
            <a:off x="970442" y="1343006"/>
            <a:ext cx="4826000" cy="3968750"/>
          </a:xfrm>
          <a:prstGeom prst="rect">
            <a:avLst/>
          </a:prstGeom>
        </p:spPr>
      </p:pic>
      <p:sp>
        <p:nvSpPr>
          <p:cNvPr id="4" name="Text 1"/>
          <p:cNvSpPr/>
          <p:nvPr/>
        </p:nvSpPr>
        <p:spPr>
          <a:xfrm>
            <a:off x="6360501" y="1916987"/>
            <a:ext cx="5169294" cy="256497"/>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1F78C8"/>
                </a:solidFill>
                <a:latin typeface="Public Sans" pitchFamily="34" charset="0"/>
                <a:ea typeface="Public Sans" pitchFamily="34" charset="-122"/>
                <a:cs typeface="Public Sans" pitchFamily="34" charset="-120"/>
              </a:rPr>
              <a:t>WORKFLOW DURING A FLOOD</a:t>
            </a:r>
            <a:endParaRPr lang="en-US" sz="1300" dirty="0"/>
          </a:p>
        </p:txBody>
      </p:sp>
      <p:sp>
        <p:nvSpPr>
          <p:cNvPr id="5" name="Text 2"/>
          <p:cNvSpPr/>
          <p:nvPr>
            <p:ph type="title"/>
          </p:nvPr>
        </p:nvSpPr>
        <p:spPr>
          <a:xfrm>
            <a:off x="6360501" y="2325852"/>
            <a:ext cx="5169294" cy="878681"/>
          </a:xfrm>
          <a:prstGeom prst="rect">
            <a:avLst/>
          </a:prstGeom>
          <a:noFill/>
          <a:ln/>
        </p:spPr>
        <p:txBody>
          <a:bodyPr wrap="square" lIns="0" tIns="0" rIns="0" bIns="0" rtlCol="0" anchor="t">
            <a:normAutofit/>
          </a:bodyPr>
          <a:lstStyle/>
          <a:p>
            <a:pPr algn="l" indent="0" marL="0">
              <a:lnSpc>
                <a:spcPts val="3360"/>
              </a:lnSpc>
              <a:buNone/>
            </a:pPr>
            <a:r>
              <a:rPr lang="en-US" sz="3000" b="1" i="0" dirty="0">
                <a:solidFill>
                  <a:srgbClr val="0B2A5B"/>
                </a:solidFill>
                <a:latin typeface="Rubik" pitchFamily="34" charset="0"/>
                <a:ea typeface="Rubik" pitchFamily="34" charset="-122"/>
                <a:cs typeface="Rubik" pitchFamily="34" charset="-120"/>
              </a:rPr>
              <a:t>Information flows across modules</a:t>
            </a:r>
            <a:endParaRPr lang="en-US" sz="3000" dirty="0"/>
          </a:p>
        </p:txBody>
      </p:sp>
      <p:sp>
        <p:nvSpPr>
          <p:cNvPr id="6" name="Text 3"/>
          <p:cNvSpPr/>
          <p:nvPr/>
        </p:nvSpPr>
        <p:spPr>
          <a:xfrm>
            <a:off x="6437971" y="3356899"/>
            <a:ext cx="5084204" cy="1406194"/>
          </a:xfrm>
          <a:prstGeom prst="rect">
            <a:avLst/>
          </a:prstGeom>
          <a:noFill/>
          <a:ln/>
        </p:spPr>
        <p:txBody>
          <a:bodyPr wrap="square" lIns="0" tIns="0" rIns="0" bIns="0" rtlCol="0" anchor="t">
            <a:normAutofit/>
          </a:bodyPr>
          <a:lstStyle/>
          <a:p>
            <a:pPr algn="l" marL="176530" indent="-176530">
              <a:lnSpc>
                <a:spcPts val="2175"/>
              </a:lnSpc>
              <a:buSzPct val="100000"/>
              <a:buChar char="•"/>
            </a:pPr>
            <a:r>
              <a:rPr lang="en-US" sz="1500" dirty="0">
                <a:solidFill>
                  <a:srgbClr val="3A4A66"/>
                </a:solidFill>
                <a:latin typeface="Public Sans" pitchFamily="34" charset="0"/>
                <a:ea typeface="Public Sans" pitchFamily="34" charset="-122"/>
                <a:cs typeface="Public Sans" pitchFamily="34" charset="-120"/>
              </a:rPr>
              <a:t>New river-level data updates the Module 1 risk map</a:t>
            </a:r>
            <a:endParaRPr lang="en-US" sz="1500" dirty="0"/>
          </a:p>
          <a:p>
            <a:pPr algn="l" marL="176530" indent="-176530">
              <a:lnSpc>
                <a:spcPts val="2175"/>
              </a:lnSpc>
              <a:buSzPct val="100000"/>
              <a:buChar char="•"/>
            </a:pPr>
            <a:r>
              <a:rPr lang="en-US" sz="1500" dirty="0">
                <a:solidFill>
                  <a:srgbClr val="3A4A66"/>
                </a:solidFill>
                <a:latin typeface="Public Sans" pitchFamily="34" charset="0"/>
                <a:ea typeface="Public Sans" pitchFamily="34" charset="-122"/>
                <a:cs typeface="Public Sans" pitchFamily="34" charset="-120"/>
              </a:rPr>
              <a:t>Module 2 flags unsafe routes before rescue teams are sent</a:t>
            </a:r>
            <a:endParaRPr lang="en-US" sz="1500" dirty="0"/>
          </a:p>
          <a:p>
            <a:pPr algn="l" marL="176530" indent="-176530">
              <a:lnSpc>
                <a:spcPts val="2175"/>
              </a:lnSpc>
              <a:buSzPct val="100000"/>
              <a:buChar char="•"/>
            </a:pPr>
            <a:r>
              <a:rPr lang="en-US" sz="1500" dirty="0">
                <a:solidFill>
                  <a:srgbClr val="3A4A66"/>
                </a:solidFill>
                <a:latin typeface="Public Sans" pitchFamily="34" charset="0"/>
                <a:ea typeface="Public Sans" pitchFamily="34" charset="-122"/>
                <a:cs typeface="Public Sans" pitchFamily="34" charset="-120"/>
              </a:rPr>
              <a:t>Module 3 health risk supports medical prioritisation</a:t>
            </a:r>
            <a:endParaRPr lang="en-US" sz="1500" dirty="0"/>
          </a:p>
          <a:p>
            <a:pPr algn="l" marL="176530" indent="-176530">
              <a:lnSpc>
                <a:spcPts val="2175"/>
              </a:lnSpc>
              <a:buSzPct val="100000"/>
              <a:buChar char="•"/>
            </a:pPr>
            <a:r>
              <a:rPr lang="en-US" sz="1500" dirty="0">
                <a:solidFill>
                  <a:srgbClr val="3A4A66"/>
                </a:solidFill>
                <a:latin typeface="Public Sans" pitchFamily="34" charset="0"/>
                <a:ea typeface="Public Sans" pitchFamily="34" charset="-122"/>
                <a:cs typeface="Public Sans" pitchFamily="34" charset="-120"/>
              </a:rPr>
              <a:t>No manual re-entry between modules</a:t>
            </a:r>
            <a:endParaRPr lang="en-US" sz="1500" dirty="0"/>
          </a:p>
        </p:txBody>
      </p:sp>
      <p:sp>
        <p:nvSpPr>
          <p:cNvPr id="7" name="Text 4"/>
          <p:cNvSpPr/>
          <p:nvPr/>
        </p:nvSpPr>
        <p:spPr>
          <a:xfrm>
            <a:off x="812767" y="6238295"/>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A94"/>
                </a:solidFill>
                <a:latin typeface="Public Sans" pitchFamily="34" charset="0"/>
                <a:ea typeface="Public Sans" pitchFamily="34" charset="-122"/>
                <a:cs typeface="Public Sans" pitchFamily="34" charset="-120"/>
              </a:rPr>
              <a:t>FloodGuard360 · IT4010 Final Presentation</a:t>
            </a:r>
            <a:endParaRPr lang="en-US" sz="1200" dirty="0"/>
          </a:p>
        </p:txBody>
      </p:sp>
      <p:sp>
        <p:nvSpPr>
          <p:cNvPr id="8" name="Text 5"/>
          <p:cNvSpPr/>
          <p:nvPr/>
        </p:nvSpPr>
        <p:spPr>
          <a:xfrm>
            <a:off x="10566433" y="6238295"/>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A94"/>
                </a:solidFill>
                <a:latin typeface="Public Sans" pitchFamily="34" charset="0"/>
                <a:ea typeface="Public Sans" pitchFamily="34" charset="-122"/>
                <a:cs typeface="Public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812767" y="812766"/>
            <a:ext cx="10883460" cy="256497"/>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1F78C8"/>
                </a:solidFill>
                <a:latin typeface="Public Sans" pitchFamily="34" charset="0"/>
                <a:ea typeface="Public Sans" pitchFamily="34" charset="-122"/>
                <a:cs typeface="Public Sans" pitchFamily="34" charset="-120"/>
              </a:rPr>
              <a:t>TECHNOLOGIES APPLIED</a:t>
            </a:r>
            <a:endParaRPr lang="en-US" sz="1300" dirty="0"/>
          </a:p>
        </p:txBody>
      </p:sp>
      <p:sp>
        <p:nvSpPr>
          <p:cNvPr id="3" name="Text 1"/>
          <p:cNvSpPr/>
          <p:nvPr>
            <p:ph type="title"/>
          </p:nvPr>
        </p:nvSpPr>
        <p:spPr>
          <a:xfrm>
            <a:off x="812767" y="1145397"/>
            <a:ext cx="10883460" cy="480483"/>
          </a:xfrm>
          <a:prstGeom prst="rect">
            <a:avLst/>
          </a:prstGeom>
          <a:noFill/>
          <a:ln/>
        </p:spPr>
        <p:txBody>
          <a:bodyPr wrap="square" lIns="0" tIns="0" rIns="0" bIns="0" rtlCol="0" anchor="t">
            <a:normAutofit/>
          </a:bodyPr>
          <a:lstStyle/>
          <a:p>
            <a:pPr algn="l" indent="0" marL="0">
              <a:lnSpc>
                <a:spcPts val="3584"/>
              </a:lnSpc>
              <a:buNone/>
            </a:pPr>
            <a:r>
              <a:rPr lang="en-US" sz="3200" b="1" i="0" dirty="0">
                <a:solidFill>
                  <a:srgbClr val="0B2A5B"/>
                </a:solidFill>
                <a:latin typeface="Rubik" pitchFamily="34" charset="0"/>
                <a:ea typeface="Rubik" pitchFamily="34" charset="-122"/>
                <a:cs typeface="Rubik" pitchFamily="34" charset="-120"/>
              </a:rPr>
              <a:t>AI, IoT and GIS on a MERN-style stack</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3350" y="1865062"/>
          <a:ext cx="10555883" cy="2686678"/>
        </p:xfrm>
        <a:graphic>
          <a:graphicData uri="http://schemas.openxmlformats.org/drawingml/2006/table">
            <a:tbl>
              <a:tblPr/>
              <a:tblGrid>
                <a:gridCol w="2533412"/>
                <a:gridCol w="4855706"/>
                <a:gridCol w="3166765"/>
              </a:tblGrid>
              <a:tr h="383811">
                <a:tc>
                  <a:txBody>
                    <a:bodyPr/>
                    <a:lstStyle/>
                    <a:p>
                      <a:pPr indent="0" marL="0">
                        <a:lnSpc>
                          <a:spcPts val="1960"/>
                        </a:lnSpc>
                        <a:buNone/>
                      </a:pPr>
                      <a:r>
                        <a:rPr lang="en-US" sz="1400" b="1" dirty="0">
                          <a:solidFill>
                            <a:srgbClr val="0B2A5B"/>
                          </a:solidFill>
                          <a:latin typeface="Public Sans" pitchFamily="34" charset="0"/>
                          <a:ea typeface="Public Sans" pitchFamily="34" charset="-122"/>
                          <a:cs typeface="Public Sans" pitchFamily="34" charset="-120"/>
                        </a:rPr>
                        <a:t>Layer</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3C5C8"/>
                      </a:solidFill>
                      <a:prstDash val="solid"/>
                      <a:round/>
                      <a:headEnd type="none" w="med" len="med"/>
                      <a:tailEnd type="none" w="med" len="med"/>
                    </a:lnL>
                    <a:lnR w="12700" cap="flat" cmpd="sng" algn="ctr">
                      <a:solidFill>
                        <a:srgbClr val="B5B7B9"/>
                      </a:solidFill>
                      <a:prstDash val="solid"/>
                      <a:round/>
                      <a:headEnd type="none" w="med" len="med"/>
                      <a:tailEnd type="none" w="med" len="med"/>
                    </a:lnR>
                    <a:lnT w="12700" cap="flat" cmpd="sng" algn="ctr">
                      <a:solidFill>
                        <a:srgbClr val="C3C5C8"/>
                      </a:solidFill>
                      <a:prstDash val="solid"/>
                      <a:round/>
                      <a:headEnd type="none" w="med" len="med"/>
                      <a:tailEnd type="none" w="med" len="med"/>
                    </a:lnT>
                    <a:lnB w="12700" cap="flat" cmpd="sng" algn="ctr">
                      <a:solidFill>
                        <a:srgbClr val="B5B7B9"/>
                      </a:solidFill>
                      <a:prstDash val="solid"/>
                      <a:round/>
                      <a:headEnd type="none" w="med" len="med"/>
                      <a:tailEnd type="none" w="med" len="med"/>
                    </a:lnB>
                    <a:solidFill>
                      <a:srgbClr val="E2E5E8"/>
                    </a:solidFill>
                  </a:tcPr>
                </a:tc>
                <a:tc>
                  <a:txBody>
                    <a:bodyPr/>
                    <a:lstStyle/>
                    <a:p>
                      <a:pPr indent="0" marL="0">
                        <a:lnSpc>
                          <a:spcPts val="1960"/>
                        </a:lnSpc>
                        <a:buNone/>
                      </a:pPr>
                      <a:r>
                        <a:rPr lang="en-US" sz="1400" b="1" dirty="0">
                          <a:solidFill>
                            <a:srgbClr val="0B2A5B"/>
                          </a:solidFill>
                          <a:latin typeface="Public Sans" pitchFamily="34" charset="0"/>
                          <a:ea typeface="Public Sans" pitchFamily="34" charset="-122"/>
                          <a:cs typeface="Public Sans" pitchFamily="34" charset="-120"/>
                        </a:rPr>
                        <a:t>Technology</a:t>
                      </a:r>
                      <a:endParaRPr lang="en-US" sz="1400" dirty="0">
                        <a:latin typeface="Public Sans" charset="0"/>
                        <a:ea typeface="Public Sans" charset="0"/>
                        <a:cs typeface="Public Sans" charset="0"/>
                      </a:endParaRPr>
                    </a:p>
                  </a:txBody>
                  <a:tcPr marL="62230" marR="62230" marT="62230" marB="62230" anchor="t">
                    <a:lnL w="12700" cap="flat" cmpd="sng" algn="ctr">
                      <a:solidFill>
                        <a:srgbClr val="B5B7B9"/>
                      </a:solidFill>
                      <a:prstDash val="solid"/>
                      <a:round/>
                      <a:headEnd type="none" w="med" len="med"/>
                      <a:tailEnd type="none" w="med" len="med"/>
                    </a:lnL>
                    <a:lnR w="12700" cap="flat" cmpd="sng" algn="ctr">
                      <a:solidFill>
                        <a:srgbClr val="B5B7B9"/>
                      </a:solidFill>
                      <a:prstDash val="solid"/>
                      <a:round/>
                      <a:headEnd type="none" w="med" len="med"/>
                      <a:tailEnd type="none" w="med" len="med"/>
                    </a:lnR>
                    <a:lnT w="12700" cap="flat" cmpd="sng" algn="ctr">
                      <a:solidFill>
                        <a:srgbClr val="C3C5C8"/>
                      </a:solidFill>
                      <a:prstDash val="solid"/>
                      <a:round/>
                      <a:headEnd type="none" w="med" len="med"/>
                      <a:tailEnd type="none" w="med" len="med"/>
                    </a:lnT>
                    <a:lnB w="12700" cap="flat" cmpd="sng" algn="ctr">
                      <a:solidFill>
                        <a:srgbClr val="B5B7B9"/>
                      </a:solidFill>
                      <a:prstDash val="solid"/>
                      <a:round/>
                      <a:headEnd type="none" w="med" len="med"/>
                      <a:tailEnd type="none" w="med" len="med"/>
                    </a:lnB>
                    <a:solidFill>
                      <a:srgbClr val="E2E5E8"/>
                    </a:solidFill>
                  </a:tcPr>
                </a:tc>
                <a:tc>
                  <a:txBody>
                    <a:bodyPr/>
                    <a:lstStyle/>
                    <a:p>
                      <a:pPr indent="0" marL="0">
                        <a:lnSpc>
                          <a:spcPts val="1960"/>
                        </a:lnSpc>
                        <a:buNone/>
                      </a:pPr>
                      <a:r>
                        <a:rPr lang="en-US" sz="1400" b="1" dirty="0">
                          <a:solidFill>
                            <a:srgbClr val="0B2A5B"/>
                          </a:solidFill>
                          <a:latin typeface="Public Sans" pitchFamily="34" charset="0"/>
                          <a:ea typeface="Public Sans" pitchFamily="34" charset="-122"/>
                          <a:cs typeface="Public Sans" pitchFamily="34" charset="-120"/>
                        </a:rPr>
                        <a:t>Pillar</a:t>
                      </a:r>
                      <a:endParaRPr lang="en-US" sz="1400" dirty="0">
                        <a:latin typeface="Public Sans" charset="0"/>
                        <a:ea typeface="Public Sans" charset="0"/>
                        <a:cs typeface="Public Sans" charset="0"/>
                      </a:endParaRPr>
                    </a:p>
                  </a:txBody>
                  <a:tcPr marL="62230" marR="62230" marT="62230" marB="62230" anchor="t">
                    <a:lnL w="12700" cap="flat" cmpd="sng" algn="ctr">
                      <a:solidFill>
                        <a:srgbClr val="B5B7B9"/>
                      </a:solidFill>
                      <a:prstDash val="solid"/>
                      <a:round/>
                      <a:headEnd type="none" w="med" len="med"/>
                      <a:tailEnd type="none" w="med" len="med"/>
                    </a:lnL>
                    <a:lnR w="12700" cap="flat" cmpd="sng" algn="ctr">
                      <a:solidFill>
                        <a:srgbClr val="B5B7B9"/>
                      </a:solidFill>
                      <a:prstDash val="solid"/>
                      <a:round/>
                      <a:headEnd type="none" w="med" len="med"/>
                      <a:tailEnd type="none" w="med" len="med"/>
                    </a:lnR>
                    <a:lnT w="12700" cap="flat" cmpd="sng" algn="ctr">
                      <a:solidFill>
                        <a:srgbClr val="C3C5C8"/>
                      </a:solidFill>
                      <a:prstDash val="solid"/>
                      <a:round/>
                      <a:headEnd type="none" w="med" len="med"/>
                      <a:tailEnd type="none" w="med" len="med"/>
                    </a:lnT>
                    <a:lnB w="12700" cap="flat" cmpd="sng" algn="ctr">
                      <a:solidFill>
                        <a:srgbClr val="B5B7B9"/>
                      </a:solidFill>
                      <a:prstDash val="solid"/>
                      <a:round/>
                      <a:headEnd type="none" w="med" len="med"/>
                      <a:tailEnd type="none" w="med" len="med"/>
                    </a:lnB>
                    <a:solidFill>
                      <a:srgbClr val="E2E5E8"/>
                    </a:solidFill>
                  </a:tcPr>
                </a:tc>
              </a:tr>
              <a:tr h="383811">
                <a:tc>
                  <a:txBody>
                    <a:bodyPr/>
                    <a:lstStyle/>
                    <a:p>
                      <a:pPr indent="0" marL="0">
                        <a:lnSpc>
                          <a:spcPts val="1960"/>
                        </a:lnSpc>
                        <a:buNone/>
                      </a:pPr>
                      <a:r>
                        <a:rPr lang="en-US" sz="1400" dirty="0">
                          <a:solidFill>
                            <a:srgbClr val="0B2A5B"/>
                          </a:solidFill>
                          <a:latin typeface="Public Sans" pitchFamily="34" charset="0"/>
                          <a:ea typeface="Public Sans" pitchFamily="34" charset="-122"/>
                          <a:cs typeface="Public Sans" pitchFamily="34" charset="-120"/>
                        </a:rPr>
                        <a:t>Frontend and mapping</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3C5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5B7B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0B2A5B"/>
                          </a:solidFill>
                          <a:latin typeface="Public Sans" pitchFamily="34" charset="0"/>
                          <a:ea typeface="Public Sans" pitchFamily="34" charset="-122"/>
                          <a:cs typeface="Public Sans" pitchFamily="34" charset="-120"/>
                        </a:rPr>
                        <a:t>React, TypeScript, Tailwind, Vite, Leaflet, GeoJSON</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5B7B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0B2A5B"/>
                          </a:solidFill>
                          <a:latin typeface="Public Sans" pitchFamily="34" charset="0"/>
                          <a:ea typeface="Public Sans" pitchFamily="34" charset="-122"/>
                          <a:cs typeface="Public Sans" pitchFamily="34" charset="-120"/>
                        </a:rPr>
                        <a:t>GIS</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5B7B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83811">
                <a:tc>
                  <a:txBody>
                    <a:bodyPr/>
                    <a:lstStyle/>
                    <a:p>
                      <a:pPr indent="0" marL="0">
                        <a:lnSpc>
                          <a:spcPts val="1960"/>
                        </a:lnSpc>
                        <a:buNone/>
                      </a:pPr>
                      <a:r>
                        <a:rPr lang="en-US" sz="1400" dirty="0">
                          <a:solidFill>
                            <a:srgbClr val="0B2A5B"/>
                          </a:solidFill>
                          <a:latin typeface="Public Sans" pitchFamily="34" charset="0"/>
                          <a:ea typeface="Public Sans" pitchFamily="34" charset="-122"/>
                          <a:cs typeface="Public Sans" pitchFamily="34" charset="-120"/>
                        </a:rPr>
                        <a:t>Backend APIs</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3C5C8"/>
                      </a:solidFill>
                      <a:prstDash val="solid"/>
                      <a:round/>
                      <a:headEnd type="none" w="med" len="med"/>
                      <a:tailEnd type="none" w="med" len="med"/>
                    </a:lnL>
                    <a:lnR w="12700" cap="flat" cmpd="sng" algn="ctr">
                      <a:solidFill>
                        <a:srgbClr val="BBC0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C0C6"/>
                      </a:solidFill>
                      <a:prstDash val="solid"/>
                      <a:round/>
                      <a:headEnd type="none" w="med" len="med"/>
                      <a:tailEnd type="none" w="med" len="med"/>
                    </a:lnB>
                    <a:solidFill>
                      <a:srgbClr val="EAF0F9"/>
                    </a:solidFill>
                  </a:tcPr>
                </a:tc>
                <a:tc>
                  <a:txBody>
                    <a:bodyPr/>
                    <a:lstStyle/>
                    <a:p>
                      <a:pPr indent="0" marL="0">
                        <a:lnSpc>
                          <a:spcPts val="1960"/>
                        </a:lnSpc>
                        <a:buNone/>
                      </a:pPr>
                      <a:r>
                        <a:rPr lang="en-US" sz="1400" dirty="0">
                          <a:solidFill>
                            <a:srgbClr val="0B2A5B"/>
                          </a:solidFill>
                          <a:latin typeface="Public Sans" pitchFamily="34" charset="0"/>
                          <a:ea typeface="Public Sans" pitchFamily="34" charset="-122"/>
                          <a:cs typeface="Public Sans" pitchFamily="34" charset="-120"/>
                        </a:rPr>
                        <a:t>Node.js, Express, Socket.IO</a:t>
                      </a:r>
                      <a:endParaRPr lang="en-US" sz="1400" dirty="0">
                        <a:latin typeface="Public Sans" charset="0"/>
                        <a:ea typeface="Public Sans" charset="0"/>
                        <a:cs typeface="Public Sans" charset="0"/>
                      </a:endParaRPr>
                    </a:p>
                  </a:txBody>
                  <a:tcPr marL="62230" marR="62230" marT="62230" marB="62230" anchor="t">
                    <a:lnL w="12700" cap="flat" cmpd="sng" algn="ctr">
                      <a:solidFill>
                        <a:srgbClr val="BBC0C6"/>
                      </a:solidFill>
                      <a:prstDash val="solid"/>
                      <a:round/>
                      <a:headEnd type="none" w="med" len="med"/>
                      <a:tailEnd type="none" w="med" len="med"/>
                    </a:lnL>
                    <a:lnR w="12700" cap="flat" cmpd="sng" algn="ctr">
                      <a:solidFill>
                        <a:srgbClr val="BBC0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C0C6"/>
                      </a:solidFill>
                      <a:prstDash val="solid"/>
                      <a:round/>
                      <a:headEnd type="none" w="med" len="med"/>
                      <a:tailEnd type="none" w="med" len="med"/>
                    </a:lnB>
                    <a:solidFill>
                      <a:srgbClr val="EAF0F9"/>
                    </a:solidFill>
                  </a:tcPr>
                </a:tc>
                <a:tc>
                  <a:txBody>
                    <a:bodyPr/>
                    <a:lstStyle/>
                    <a:p>
                      <a:pPr indent="0" marL="0">
                        <a:lnSpc>
                          <a:spcPts val="1960"/>
                        </a:lnSpc>
                        <a:buNone/>
                      </a:pPr>
                      <a:r>
                        <a:rPr lang="en-US" sz="1400" dirty="0">
                          <a:solidFill>
                            <a:srgbClr val="0B2A5B"/>
                          </a:solidFill>
                          <a:latin typeface="Public Sans" pitchFamily="34" charset="0"/>
                          <a:ea typeface="Public Sans" pitchFamily="34" charset="-122"/>
                          <a:cs typeface="Public Sans" pitchFamily="34" charset="-120"/>
                        </a:rPr>
                        <a:t>Integration</a:t>
                      </a:r>
                      <a:endParaRPr lang="en-US" sz="1400" dirty="0">
                        <a:latin typeface="Public Sans" charset="0"/>
                        <a:ea typeface="Public Sans" charset="0"/>
                        <a:cs typeface="Public Sans" charset="0"/>
                      </a:endParaRPr>
                    </a:p>
                  </a:txBody>
                  <a:tcPr marL="62230" marR="62230" marT="62230" marB="62230" anchor="t">
                    <a:lnL w="12700" cap="flat" cmpd="sng" algn="ctr">
                      <a:solidFill>
                        <a:srgbClr val="BBC0C6"/>
                      </a:solidFill>
                      <a:prstDash val="solid"/>
                      <a:round/>
                      <a:headEnd type="none" w="med" len="med"/>
                      <a:tailEnd type="none" w="med" len="med"/>
                    </a:lnL>
                    <a:lnR w="12700" cap="flat" cmpd="sng" algn="ctr">
                      <a:solidFill>
                        <a:srgbClr val="BBC0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C0C6"/>
                      </a:solidFill>
                      <a:prstDash val="solid"/>
                      <a:round/>
                      <a:headEnd type="none" w="med" len="med"/>
                      <a:tailEnd type="none" w="med" len="med"/>
                    </a:lnB>
                    <a:solidFill>
                      <a:srgbClr val="EAF0F9"/>
                    </a:solidFill>
                  </a:tcPr>
                </a:tc>
              </a:tr>
              <a:tr h="383811">
                <a:tc>
                  <a:txBody>
                    <a:bodyPr/>
                    <a:lstStyle/>
                    <a:p>
                      <a:pPr indent="0" marL="0">
                        <a:lnSpc>
                          <a:spcPts val="1960"/>
                        </a:lnSpc>
                        <a:buNone/>
                      </a:pPr>
                      <a:r>
                        <a:rPr lang="en-US" sz="1400" dirty="0">
                          <a:solidFill>
                            <a:srgbClr val="0B2A5B"/>
                          </a:solidFill>
                          <a:latin typeface="Public Sans" pitchFamily="34" charset="0"/>
                          <a:ea typeface="Public Sans" pitchFamily="34" charset="-122"/>
                          <a:cs typeface="Public Sans" pitchFamily="34" charset="-120"/>
                        </a:rPr>
                        <a:t>ML services</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3C5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0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0B2A5B"/>
                          </a:solidFill>
                          <a:latin typeface="Public Sans" pitchFamily="34" charset="0"/>
                          <a:ea typeface="Public Sans" pitchFamily="34" charset="-122"/>
                          <a:cs typeface="Public Sans" pitchFamily="34" charset="-120"/>
                        </a:rPr>
                        <a:t>Python, scikit-learn, Random Forest, Gradient Boosting</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0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0B2A5B"/>
                          </a:solidFill>
                          <a:latin typeface="Public Sans" pitchFamily="34" charset="0"/>
                          <a:ea typeface="Public Sans" pitchFamily="34" charset="-122"/>
                          <a:cs typeface="Public Sans" pitchFamily="34" charset="-120"/>
                        </a:rPr>
                        <a:t>AI</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0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83811">
                <a:tc>
                  <a:txBody>
                    <a:bodyPr/>
                    <a:lstStyle/>
                    <a:p>
                      <a:pPr indent="0" marL="0">
                        <a:lnSpc>
                          <a:spcPts val="1960"/>
                        </a:lnSpc>
                        <a:buNone/>
                      </a:pPr>
                      <a:r>
                        <a:rPr lang="en-US" sz="1400" dirty="0">
                          <a:solidFill>
                            <a:srgbClr val="0B2A5B"/>
                          </a:solidFill>
                          <a:latin typeface="Public Sans" pitchFamily="34" charset="0"/>
                          <a:ea typeface="Public Sans" pitchFamily="34" charset="-122"/>
                          <a:cs typeface="Public Sans" pitchFamily="34" charset="-120"/>
                        </a:rPr>
                        <a:t>IoT layer</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3C5C8"/>
                      </a:solidFill>
                      <a:prstDash val="solid"/>
                      <a:round/>
                      <a:headEnd type="none" w="med" len="med"/>
                      <a:tailEnd type="none" w="med" len="med"/>
                    </a:lnL>
                    <a:lnR w="12700" cap="flat" cmpd="sng" algn="ctr">
                      <a:solidFill>
                        <a:srgbClr val="BBC0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C0C6"/>
                      </a:solidFill>
                      <a:prstDash val="solid"/>
                      <a:round/>
                      <a:headEnd type="none" w="med" len="med"/>
                      <a:tailEnd type="none" w="med" len="med"/>
                    </a:lnB>
                    <a:solidFill>
                      <a:srgbClr val="EAF0F9"/>
                    </a:solidFill>
                  </a:tcPr>
                </a:tc>
                <a:tc>
                  <a:txBody>
                    <a:bodyPr/>
                    <a:lstStyle/>
                    <a:p>
                      <a:pPr indent="0" marL="0">
                        <a:lnSpc>
                          <a:spcPts val="1960"/>
                        </a:lnSpc>
                        <a:buNone/>
                      </a:pPr>
                      <a:r>
                        <a:rPr lang="en-US" sz="1400" dirty="0">
                          <a:solidFill>
                            <a:srgbClr val="0B2A5B"/>
                          </a:solidFill>
                          <a:latin typeface="Public Sans" pitchFamily="34" charset="0"/>
                          <a:ea typeface="Public Sans" pitchFamily="34" charset="-122"/>
                          <a:cs typeface="Public Sans" pitchFamily="34" charset="-120"/>
                        </a:rPr>
                        <a:t>Arduino, 3 ultrasonic sensors, rainfall sensor, Wi-Fi</a:t>
                      </a:r>
                      <a:endParaRPr lang="en-US" sz="1400" dirty="0">
                        <a:latin typeface="Public Sans" charset="0"/>
                        <a:ea typeface="Public Sans" charset="0"/>
                        <a:cs typeface="Public Sans" charset="0"/>
                      </a:endParaRPr>
                    </a:p>
                  </a:txBody>
                  <a:tcPr marL="62230" marR="62230" marT="62230" marB="62230" anchor="t">
                    <a:lnL w="12700" cap="flat" cmpd="sng" algn="ctr">
                      <a:solidFill>
                        <a:srgbClr val="BBC0C6"/>
                      </a:solidFill>
                      <a:prstDash val="solid"/>
                      <a:round/>
                      <a:headEnd type="none" w="med" len="med"/>
                      <a:tailEnd type="none" w="med" len="med"/>
                    </a:lnL>
                    <a:lnR w="12700" cap="flat" cmpd="sng" algn="ctr">
                      <a:solidFill>
                        <a:srgbClr val="BBC0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C0C6"/>
                      </a:solidFill>
                      <a:prstDash val="solid"/>
                      <a:round/>
                      <a:headEnd type="none" w="med" len="med"/>
                      <a:tailEnd type="none" w="med" len="med"/>
                    </a:lnB>
                    <a:solidFill>
                      <a:srgbClr val="EAF0F9"/>
                    </a:solidFill>
                  </a:tcPr>
                </a:tc>
                <a:tc>
                  <a:txBody>
                    <a:bodyPr/>
                    <a:lstStyle/>
                    <a:p>
                      <a:pPr indent="0" marL="0">
                        <a:lnSpc>
                          <a:spcPts val="1960"/>
                        </a:lnSpc>
                        <a:buNone/>
                      </a:pPr>
                      <a:r>
                        <a:rPr lang="en-US" sz="1400" dirty="0">
                          <a:solidFill>
                            <a:srgbClr val="0B2A5B"/>
                          </a:solidFill>
                          <a:latin typeface="Public Sans" pitchFamily="34" charset="0"/>
                          <a:ea typeface="Public Sans" pitchFamily="34" charset="-122"/>
                          <a:cs typeface="Public Sans" pitchFamily="34" charset="-120"/>
                        </a:rPr>
                        <a:t>IoT</a:t>
                      </a:r>
                      <a:endParaRPr lang="en-US" sz="1400" dirty="0">
                        <a:latin typeface="Public Sans" charset="0"/>
                        <a:ea typeface="Public Sans" charset="0"/>
                        <a:cs typeface="Public Sans" charset="0"/>
                      </a:endParaRPr>
                    </a:p>
                  </a:txBody>
                  <a:tcPr marL="62230" marR="62230" marT="62230" marB="62230" anchor="t">
                    <a:lnL w="12700" cap="flat" cmpd="sng" algn="ctr">
                      <a:solidFill>
                        <a:srgbClr val="BBC0C6"/>
                      </a:solidFill>
                      <a:prstDash val="solid"/>
                      <a:round/>
                      <a:headEnd type="none" w="med" len="med"/>
                      <a:tailEnd type="none" w="med" len="med"/>
                    </a:lnL>
                    <a:lnR w="12700" cap="flat" cmpd="sng" algn="ctr">
                      <a:solidFill>
                        <a:srgbClr val="BBC0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C0C6"/>
                      </a:solidFill>
                      <a:prstDash val="solid"/>
                      <a:round/>
                      <a:headEnd type="none" w="med" len="med"/>
                      <a:tailEnd type="none" w="med" len="med"/>
                    </a:lnB>
                    <a:solidFill>
                      <a:srgbClr val="EAF0F9"/>
                    </a:solidFill>
                  </a:tcPr>
                </a:tc>
              </a:tr>
              <a:tr h="383811">
                <a:tc>
                  <a:txBody>
                    <a:bodyPr/>
                    <a:lstStyle/>
                    <a:p>
                      <a:pPr indent="0" marL="0">
                        <a:lnSpc>
                          <a:spcPts val="1960"/>
                        </a:lnSpc>
                        <a:buNone/>
                      </a:pPr>
                      <a:r>
                        <a:rPr lang="en-US" sz="1400" dirty="0">
                          <a:solidFill>
                            <a:srgbClr val="0B2A5B"/>
                          </a:solidFill>
                          <a:latin typeface="Public Sans" pitchFamily="34" charset="0"/>
                          <a:ea typeface="Public Sans" pitchFamily="34" charset="-122"/>
                          <a:cs typeface="Public Sans" pitchFamily="34" charset="-120"/>
                        </a:rPr>
                        <a:t>Data storage</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3C5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0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0B2A5B"/>
                          </a:solidFill>
                          <a:latin typeface="Public Sans" pitchFamily="34" charset="0"/>
                          <a:ea typeface="Public Sans" pitchFamily="34" charset="-122"/>
                          <a:cs typeface="Public Sans" pitchFamily="34" charset="-120"/>
                        </a:rPr>
                        <a:t>MongoDB</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0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0B2A5B"/>
                          </a:solidFill>
                          <a:latin typeface="Public Sans" pitchFamily="34" charset="0"/>
                          <a:ea typeface="Public Sans" pitchFamily="34" charset="-122"/>
                          <a:cs typeface="Public Sans" pitchFamily="34" charset="-120"/>
                        </a:rPr>
                        <a:t>Shared store</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0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83811">
                <a:tc>
                  <a:txBody>
                    <a:bodyPr/>
                    <a:lstStyle/>
                    <a:p>
                      <a:pPr indent="0" marL="0">
                        <a:lnSpc>
                          <a:spcPts val="1960"/>
                        </a:lnSpc>
                        <a:buNone/>
                      </a:pPr>
                      <a:r>
                        <a:rPr lang="en-US" sz="1400" dirty="0">
                          <a:solidFill>
                            <a:srgbClr val="0B2A5B"/>
                          </a:solidFill>
                          <a:latin typeface="Public Sans" pitchFamily="34" charset="0"/>
                          <a:ea typeface="Public Sans" pitchFamily="34" charset="-122"/>
                          <a:cs typeface="Public Sans" pitchFamily="34" charset="-120"/>
                        </a:rPr>
                        <a:t>Security</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3C5C8"/>
                      </a:solidFill>
                      <a:prstDash val="solid"/>
                      <a:round/>
                      <a:headEnd type="none" w="med" len="med"/>
                      <a:tailEnd type="none" w="med" len="med"/>
                    </a:lnL>
                    <a:lnR w="12700" cap="flat" cmpd="sng" algn="ctr">
                      <a:solidFill>
                        <a:srgbClr val="BBC0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C0C6"/>
                      </a:solidFill>
                      <a:prstDash val="solid"/>
                      <a:round/>
                      <a:headEnd type="none" w="med" len="med"/>
                      <a:tailEnd type="none" w="med" len="med"/>
                    </a:lnB>
                    <a:solidFill>
                      <a:srgbClr val="EAF0F9"/>
                    </a:solidFill>
                  </a:tcPr>
                </a:tc>
                <a:tc>
                  <a:txBody>
                    <a:bodyPr/>
                    <a:lstStyle/>
                    <a:p>
                      <a:pPr indent="0" marL="0">
                        <a:lnSpc>
                          <a:spcPts val="1960"/>
                        </a:lnSpc>
                        <a:buNone/>
                      </a:pPr>
                      <a:r>
                        <a:rPr lang="en-US" sz="1400" dirty="0">
                          <a:solidFill>
                            <a:srgbClr val="0B2A5B"/>
                          </a:solidFill>
                          <a:latin typeface="Public Sans" pitchFamily="34" charset="0"/>
                          <a:ea typeface="Public Sans" pitchFamily="34" charset="-122"/>
                          <a:cs typeface="Public Sans" pitchFamily="34" charset="-120"/>
                        </a:rPr>
                        <a:t>JWT, bcrypt, role-based access</a:t>
                      </a:r>
                      <a:endParaRPr lang="en-US" sz="1400" dirty="0">
                        <a:latin typeface="Public Sans" charset="0"/>
                        <a:ea typeface="Public Sans" charset="0"/>
                        <a:cs typeface="Public Sans" charset="0"/>
                      </a:endParaRPr>
                    </a:p>
                  </a:txBody>
                  <a:tcPr marL="62230" marR="62230" marT="62230" marB="62230" anchor="t">
                    <a:lnL w="12700" cap="flat" cmpd="sng" algn="ctr">
                      <a:solidFill>
                        <a:srgbClr val="BBC0C6"/>
                      </a:solidFill>
                      <a:prstDash val="solid"/>
                      <a:round/>
                      <a:headEnd type="none" w="med" len="med"/>
                      <a:tailEnd type="none" w="med" len="med"/>
                    </a:lnL>
                    <a:lnR w="12700" cap="flat" cmpd="sng" algn="ctr">
                      <a:solidFill>
                        <a:srgbClr val="BBC0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C0C6"/>
                      </a:solidFill>
                      <a:prstDash val="solid"/>
                      <a:round/>
                      <a:headEnd type="none" w="med" len="med"/>
                      <a:tailEnd type="none" w="med" len="med"/>
                    </a:lnB>
                    <a:solidFill>
                      <a:srgbClr val="EAF0F9"/>
                    </a:solidFill>
                  </a:tcPr>
                </a:tc>
                <a:tc>
                  <a:txBody>
                    <a:bodyPr/>
                    <a:lstStyle/>
                    <a:p>
                      <a:pPr indent="0" marL="0">
                        <a:lnSpc>
                          <a:spcPts val="1960"/>
                        </a:lnSpc>
                        <a:buNone/>
                      </a:pPr>
                      <a:r>
                        <a:rPr lang="en-US" sz="1400" dirty="0">
                          <a:solidFill>
                            <a:srgbClr val="0B2A5B"/>
                          </a:solidFill>
                          <a:latin typeface="Public Sans" pitchFamily="34" charset="0"/>
                          <a:ea typeface="Public Sans" pitchFamily="34" charset="-122"/>
                          <a:cs typeface="Public Sans" pitchFamily="34" charset="-120"/>
                        </a:rPr>
                        <a:t>Security</a:t>
                      </a:r>
                      <a:endParaRPr lang="en-US" sz="1400" dirty="0">
                        <a:latin typeface="Public Sans" charset="0"/>
                        <a:ea typeface="Public Sans" charset="0"/>
                        <a:cs typeface="Public Sans" charset="0"/>
                      </a:endParaRPr>
                    </a:p>
                  </a:txBody>
                  <a:tcPr marL="62230" marR="62230" marT="62230" marB="62230" anchor="t">
                    <a:lnL w="12700" cap="flat" cmpd="sng" algn="ctr">
                      <a:solidFill>
                        <a:srgbClr val="BBC0C6"/>
                      </a:solidFill>
                      <a:prstDash val="solid"/>
                      <a:round/>
                      <a:headEnd type="none" w="med" len="med"/>
                      <a:tailEnd type="none" w="med" len="med"/>
                    </a:lnL>
                    <a:lnR w="12700" cap="flat" cmpd="sng" algn="ctr">
                      <a:solidFill>
                        <a:srgbClr val="BBC0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C0C6"/>
                      </a:solidFill>
                      <a:prstDash val="solid"/>
                      <a:round/>
                      <a:headEnd type="none" w="med" len="med"/>
                      <a:tailEnd type="none" w="med" len="med"/>
                    </a:lnB>
                    <a:solidFill>
                      <a:srgbClr val="EAF0F9"/>
                    </a:solidFill>
                  </a:tcPr>
                </a:tc>
              </a:tr>
            </a:tbl>
          </a:graphicData>
        </a:graphic>
      </p:graphicFrame>
      <p:sp>
        <p:nvSpPr>
          <p:cNvPr id="5" name="Text 2"/>
          <p:cNvSpPr/>
          <p:nvPr/>
        </p:nvSpPr>
        <p:spPr>
          <a:xfrm>
            <a:off x="812767" y="6238295"/>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A94"/>
                </a:solidFill>
                <a:latin typeface="Public Sans" pitchFamily="34" charset="0"/>
                <a:ea typeface="Public Sans" pitchFamily="34" charset="-122"/>
                <a:cs typeface="Public Sans" pitchFamily="34" charset="-120"/>
              </a:rPr>
              <a:t>FloodGuard360 · IT4010 Final Presentation</a:t>
            </a:r>
            <a:endParaRPr lang="en-US" sz="1200" dirty="0"/>
          </a:p>
        </p:txBody>
      </p:sp>
      <p:sp>
        <p:nvSpPr>
          <p:cNvPr id="6" name="Text 3"/>
          <p:cNvSpPr/>
          <p:nvPr/>
        </p:nvSpPr>
        <p:spPr>
          <a:xfrm>
            <a:off x="10566433" y="6238295"/>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A94"/>
                </a:solidFill>
                <a:latin typeface="Public Sans" pitchFamily="34" charset="0"/>
                <a:ea typeface="Public Sans" pitchFamily="34" charset="-122"/>
                <a:cs typeface="Public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812767" y="812766"/>
            <a:ext cx="10883460" cy="256497"/>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1F78C8"/>
                </a:solidFill>
                <a:latin typeface="Public Sans" pitchFamily="34" charset="0"/>
                <a:ea typeface="Public Sans" pitchFamily="34" charset="-122"/>
                <a:cs typeface="Public Sans" pitchFamily="34" charset="-120"/>
              </a:rPr>
              <a:t>MODULE 1 · FLOOD-RISK PREDICTION</a:t>
            </a:r>
            <a:endParaRPr lang="en-US" sz="1300" dirty="0"/>
          </a:p>
        </p:txBody>
      </p:sp>
      <p:sp>
        <p:nvSpPr>
          <p:cNvPr id="3" name="Text 1"/>
          <p:cNvSpPr/>
          <p:nvPr>
            <p:ph type="title"/>
          </p:nvPr>
        </p:nvSpPr>
        <p:spPr>
          <a:xfrm>
            <a:off x="812767" y="1145397"/>
            <a:ext cx="10883460" cy="452041"/>
          </a:xfrm>
          <a:prstGeom prst="rect">
            <a:avLst/>
          </a:prstGeom>
          <a:noFill/>
          <a:ln/>
        </p:spPr>
        <p:txBody>
          <a:bodyPr wrap="square" lIns="0" tIns="0" rIns="0" bIns="0" rtlCol="0" anchor="t">
            <a:normAutofit/>
          </a:bodyPr>
          <a:lstStyle/>
          <a:p>
            <a:pPr algn="l" indent="0" marL="0">
              <a:lnSpc>
                <a:spcPts val="3360"/>
              </a:lnSpc>
              <a:buNone/>
            </a:pPr>
            <a:r>
              <a:rPr lang="en-US" sz="3000" b="1" i="0" dirty="0">
                <a:solidFill>
                  <a:srgbClr val="0B2A5B"/>
                </a:solidFill>
                <a:latin typeface="Rubik" pitchFamily="34" charset="0"/>
                <a:ea typeface="Rubik" pitchFamily="34" charset="-122"/>
                <a:cs typeface="Rubik" pitchFamily="34" charset="-120"/>
              </a:rPr>
              <a:t>Risk classes on a live GIS map</a:t>
            </a:r>
            <a:endParaRPr lang="en-US" sz="3000" dirty="0"/>
          </a:p>
        </p:txBody>
      </p:sp>
      <p:sp>
        <p:nvSpPr>
          <p:cNvPr id="4" name="Text 2"/>
          <p:cNvSpPr/>
          <p:nvPr/>
        </p:nvSpPr>
        <p:spPr>
          <a:xfrm>
            <a:off x="890237" y="1826037"/>
            <a:ext cx="5199685" cy="1958512"/>
          </a:xfrm>
          <a:prstGeom prst="rect">
            <a:avLst/>
          </a:prstGeom>
          <a:noFill/>
          <a:ln/>
        </p:spPr>
        <p:txBody>
          <a:bodyPr wrap="square" lIns="0" tIns="0" rIns="0" bIns="0" rtlCol="0" anchor="t">
            <a:normAutofit/>
          </a:bodyPr>
          <a:lstStyle/>
          <a:p>
            <a:pPr algn="l" marL="176530" indent="-176530">
              <a:lnSpc>
                <a:spcPts val="2175"/>
              </a:lnSpc>
              <a:buSzPct val="100000"/>
              <a:buChar char="•"/>
            </a:pPr>
            <a:r>
              <a:rPr lang="en-US" sz="1500" dirty="0">
                <a:solidFill>
                  <a:srgbClr val="3A4A66"/>
                </a:solidFill>
                <a:latin typeface="Public Sans" pitchFamily="34" charset="0"/>
                <a:ea typeface="Public Sans" pitchFamily="34" charset="-122"/>
                <a:cs typeface="Public Sans" pitchFamily="34" charset="-120"/>
              </a:rPr>
              <a:t>Inputs: rainfall, river level, elevation, land use, drainage, soil</a:t>
            </a:r>
            <a:endParaRPr lang="en-US" sz="1500" dirty="0"/>
          </a:p>
          <a:p>
            <a:pPr algn="l" marL="176530" indent="-176530">
              <a:lnSpc>
                <a:spcPts val="2175"/>
              </a:lnSpc>
              <a:buSzPct val="100000"/>
              <a:buChar char="•"/>
            </a:pPr>
            <a:r>
              <a:rPr lang="en-US" sz="1500" dirty="0">
                <a:solidFill>
                  <a:srgbClr val="3A4A66"/>
                </a:solidFill>
                <a:latin typeface="Public Sans" pitchFamily="34" charset="0"/>
                <a:ea typeface="Public Sans" pitchFamily="34" charset="-122"/>
                <a:cs typeface="Public Sans" pitchFamily="34" charset="-120"/>
              </a:rPr>
              <a:t>Models: Random Forest, Gradient Boosting, Logistic Regression baseline</a:t>
            </a:r>
            <a:endParaRPr lang="en-US" sz="1500" dirty="0"/>
          </a:p>
          <a:p>
            <a:pPr algn="l" marL="176530" indent="-176530">
              <a:lnSpc>
                <a:spcPts val="2175"/>
              </a:lnSpc>
              <a:buSzPct val="100000"/>
              <a:buChar char="•"/>
            </a:pPr>
            <a:r>
              <a:rPr lang="en-US" sz="1500" dirty="0">
                <a:solidFill>
                  <a:srgbClr val="3A4A66"/>
                </a:solidFill>
                <a:latin typeface="Public Sans" pitchFamily="34" charset="0"/>
                <a:ea typeface="Public Sans" pitchFamily="34" charset="-122"/>
                <a:cs typeface="Public Sans" pitchFamily="34" charset="-120"/>
              </a:rPr>
              <a:t>Output: Low, Moderate, High or Critical per location</a:t>
            </a:r>
            <a:endParaRPr lang="en-US" sz="1500" dirty="0"/>
          </a:p>
          <a:p>
            <a:pPr algn="l" marL="176530" indent="-176530">
              <a:lnSpc>
                <a:spcPts val="2175"/>
              </a:lnSpc>
              <a:buSzPct val="100000"/>
              <a:buChar char="•"/>
            </a:pPr>
            <a:r>
              <a:rPr lang="en-US" sz="1500" dirty="0">
                <a:solidFill>
                  <a:srgbClr val="3A4A66"/>
                </a:solidFill>
                <a:latin typeface="Public Sans" pitchFamily="34" charset="0"/>
                <a:ea typeface="Public Sans" pitchFamily="34" charset="-122"/>
                <a:cs typeface="Public Sans" pitchFamily="34" charset="-120"/>
              </a:rPr>
              <a:t>GeoJSON layer on a Leaflet map, refreshed as new data arrive</a:t>
            </a:r>
            <a:endParaRPr lang="en-US" sz="15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258967" y="1836621"/>
          <a:ext cx="5120266" cy="1535245"/>
        </p:xfrm>
        <a:graphic>
          <a:graphicData uri="http://schemas.openxmlformats.org/drawingml/2006/table">
            <a:tbl>
              <a:tblPr/>
              <a:tblGrid>
                <a:gridCol w="2048107"/>
                <a:gridCol w="1024053"/>
                <a:gridCol w="1024053"/>
                <a:gridCol w="1024053"/>
              </a:tblGrid>
              <a:tr h="383811">
                <a:tc>
                  <a:txBody>
                    <a:bodyPr/>
                    <a:lstStyle/>
                    <a:p>
                      <a:pPr indent="0" marL="0">
                        <a:lnSpc>
                          <a:spcPts val="1960"/>
                        </a:lnSpc>
                        <a:buNone/>
                      </a:pPr>
                      <a:r>
                        <a:rPr lang="en-US" sz="1400" b="1" dirty="0">
                          <a:solidFill>
                            <a:srgbClr val="0B2A5B"/>
                          </a:solidFill>
                          <a:latin typeface="Public Sans" pitchFamily="34" charset="0"/>
                          <a:ea typeface="Public Sans" pitchFamily="34" charset="-122"/>
                          <a:cs typeface="Public Sans" pitchFamily="34" charset="-120"/>
                        </a:rPr>
                        <a:t>Model</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3C5C8"/>
                      </a:solidFill>
                      <a:prstDash val="solid"/>
                      <a:round/>
                      <a:headEnd type="none" w="med" len="med"/>
                      <a:tailEnd type="none" w="med" len="med"/>
                    </a:lnL>
                    <a:lnR w="12700" cap="flat" cmpd="sng" algn="ctr">
                      <a:solidFill>
                        <a:srgbClr val="B5B7B9"/>
                      </a:solidFill>
                      <a:prstDash val="solid"/>
                      <a:round/>
                      <a:headEnd type="none" w="med" len="med"/>
                      <a:tailEnd type="none" w="med" len="med"/>
                    </a:lnR>
                    <a:lnT w="12700" cap="flat" cmpd="sng" algn="ctr">
                      <a:solidFill>
                        <a:srgbClr val="C3C5C8"/>
                      </a:solidFill>
                      <a:prstDash val="solid"/>
                      <a:round/>
                      <a:headEnd type="none" w="med" len="med"/>
                      <a:tailEnd type="none" w="med" len="med"/>
                    </a:lnT>
                    <a:lnB w="12700" cap="flat" cmpd="sng" algn="ctr">
                      <a:solidFill>
                        <a:srgbClr val="B5B7B9"/>
                      </a:solidFill>
                      <a:prstDash val="solid"/>
                      <a:round/>
                      <a:headEnd type="none" w="med" len="med"/>
                      <a:tailEnd type="none" w="med" len="med"/>
                    </a:lnB>
                    <a:solidFill>
                      <a:srgbClr val="E2E5E8"/>
                    </a:solidFill>
                  </a:tcPr>
                </a:tc>
                <a:tc>
                  <a:txBody>
                    <a:bodyPr/>
                    <a:lstStyle/>
                    <a:p>
                      <a:pPr algn="r" indent="0" marL="0">
                        <a:lnSpc>
                          <a:spcPts val="1960"/>
                        </a:lnSpc>
                        <a:buNone/>
                      </a:pPr>
                      <a:r>
                        <a:rPr lang="en-US" sz="1400" b="1" dirty="0">
                          <a:solidFill>
                            <a:srgbClr val="0B2A5B"/>
                          </a:solidFill>
                          <a:latin typeface="Public Sans" pitchFamily="34" charset="0"/>
                          <a:ea typeface="Public Sans" pitchFamily="34" charset="-122"/>
                          <a:cs typeface="Public Sans" pitchFamily="34" charset="-120"/>
                        </a:rPr>
                        <a:t>Acc.</a:t>
                      </a:r>
                      <a:endParaRPr lang="en-US" sz="1400" dirty="0">
                        <a:latin typeface="Public Sans" charset="0"/>
                        <a:ea typeface="Public Sans" charset="0"/>
                        <a:cs typeface="Public Sans" charset="0"/>
                      </a:endParaRPr>
                    </a:p>
                  </a:txBody>
                  <a:tcPr marL="62230" marR="62230" marT="62230" marB="62230" anchor="t">
                    <a:lnL w="12700" cap="flat" cmpd="sng" algn="ctr">
                      <a:solidFill>
                        <a:srgbClr val="B5B7B9"/>
                      </a:solidFill>
                      <a:prstDash val="solid"/>
                      <a:round/>
                      <a:headEnd type="none" w="med" len="med"/>
                      <a:tailEnd type="none" w="med" len="med"/>
                    </a:lnL>
                    <a:lnR w="12700" cap="flat" cmpd="sng" algn="ctr">
                      <a:solidFill>
                        <a:srgbClr val="B5B7B9"/>
                      </a:solidFill>
                      <a:prstDash val="solid"/>
                      <a:round/>
                      <a:headEnd type="none" w="med" len="med"/>
                      <a:tailEnd type="none" w="med" len="med"/>
                    </a:lnR>
                    <a:lnT w="12700" cap="flat" cmpd="sng" algn="ctr">
                      <a:solidFill>
                        <a:srgbClr val="C3C5C8"/>
                      </a:solidFill>
                      <a:prstDash val="solid"/>
                      <a:round/>
                      <a:headEnd type="none" w="med" len="med"/>
                      <a:tailEnd type="none" w="med" len="med"/>
                    </a:lnT>
                    <a:lnB w="12700" cap="flat" cmpd="sng" algn="ctr">
                      <a:solidFill>
                        <a:srgbClr val="B5B7B9"/>
                      </a:solidFill>
                      <a:prstDash val="solid"/>
                      <a:round/>
                      <a:headEnd type="none" w="med" len="med"/>
                      <a:tailEnd type="none" w="med" len="med"/>
                    </a:lnB>
                    <a:solidFill>
                      <a:srgbClr val="E2E5E8"/>
                    </a:solidFill>
                  </a:tcPr>
                </a:tc>
                <a:tc>
                  <a:txBody>
                    <a:bodyPr/>
                    <a:lstStyle/>
                    <a:p>
                      <a:pPr algn="r" indent="0" marL="0">
                        <a:lnSpc>
                          <a:spcPts val="1960"/>
                        </a:lnSpc>
                        <a:buNone/>
                      </a:pPr>
                      <a:r>
                        <a:rPr lang="en-US" sz="1400" b="1" dirty="0">
                          <a:solidFill>
                            <a:srgbClr val="0B2A5B"/>
                          </a:solidFill>
                          <a:latin typeface="Public Sans" pitchFamily="34" charset="0"/>
                          <a:ea typeface="Public Sans" pitchFamily="34" charset="-122"/>
                          <a:cs typeface="Public Sans" pitchFamily="34" charset="-120"/>
                        </a:rPr>
                        <a:t>F1</a:t>
                      </a:r>
                      <a:endParaRPr lang="en-US" sz="1400" dirty="0">
                        <a:latin typeface="Public Sans" charset="0"/>
                        <a:ea typeface="Public Sans" charset="0"/>
                        <a:cs typeface="Public Sans" charset="0"/>
                      </a:endParaRPr>
                    </a:p>
                  </a:txBody>
                  <a:tcPr marL="62230" marR="62230" marT="62230" marB="62230" anchor="t">
                    <a:lnL w="12700" cap="flat" cmpd="sng" algn="ctr">
                      <a:solidFill>
                        <a:srgbClr val="B5B7B9"/>
                      </a:solidFill>
                      <a:prstDash val="solid"/>
                      <a:round/>
                      <a:headEnd type="none" w="med" len="med"/>
                      <a:tailEnd type="none" w="med" len="med"/>
                    </a:lnL>
                    <a:lnR w="12700" cap="flat" cmpd="sng" algn="ctr">
                      <a:solidFill>
                        <a:srgbClr val="B5B7B9"/>
                      </a:solidFill>
                      <a:prstDash val="solid"/>
                      <a:round/>
                      <a:headEnd type="none" w="med" len="med"/>
                      <a:tailEnd type="none" w="med" len="med"/>
                    </a:lnR>
                    <a:lnT w="12700" cap="flat" cmpd="sng" algn="ctr">
                      <a:solidFill>
                        <a:srgbClr val="C3C5C8"/>
                      </a:solidFill>
                      <a:prstDash val="solid"/>
                      <a:round/>
                      <a:headEnd type="none" w="med" len="med"/>
                      <a:tailEnd type="none" w="med" len="med"/>
                    </a:lnT>
                    <a:lnB w="12700" cap="flat" cmpd="sng" algn="ctr">
                      <a:solidFill>
                        <a:srgbClr val="B5B7B9"/>
                      </a:solidFill>
                      <a:prstDash val="solid"/>
                      <a:round/>
                      <a:headEnd type="none" w="med" len="med"/>
                      <a:tailEnd type="none" w="med" len="med"/>
                    </a:lnB>
                    <a:solidFill>
                      <a:srgbClr val="E2E5E8"/>
                    </a:solidFill>
                  </a:tcPr>
                </a:tc>
                <a:tc>
                  <a:txBody>
                    <a:bodyPr/>
                    <a:lstStyle/>
                    <a:p>
                      <a:pPr algn="r" indent="0" marL="0">
                        <a:lnSpc>
                          <a:spcPts val="1960"/>
                        </a:lnSpc>
                        <a:buNone/>
                      </a:pPr>
                      <a:r>
                        <a:rPr lang="en-US" sz="1400" b="1" dirty="0">
                          <a:solidFill>
                            <a:srgbClr val="0B2A5B"/>
                          </a:solidFill>
                          <a:latin typeface="Public Sans" pitchFamily="34" charset="0"/>
                          <a:ea typeface="Public Sans" pitchFamily="34" charset="-122"/>
                          <a:cs typeface="Public Sans" pitchFamily="34" charset="-120"/>
                        </a:rPr>
                        <a:t>AUC</a:t>
                      </a:r>
                      <a:endParaRPr lang="en-US" sz="1400" dirty="0">
                        <a:latin typeface="Public Sans" charset="0"/>
                        <a:ea typeface="Public Sans" charset="0"/>
                        <a:cs typeface="Public Sans" charset="0"/>
                      </a:endParaRPr>
                    </a:p>
                  </a:txBody>
                  <a:tcPr marL="62230" marR="62230" marT="62230" marB="62230" anchor="t">
                    <a:lnL w="12700" cap="flat" cmpd="sng" algn="ctr">
                      <a:solidFill>
                        <a:srgbClr val="B5B7B9"/>
                      </a:solidFill>
                      <a:prstDash val="solid"/>
                      <a:round/>
                      <a:headEnd type="none" w="med" len="med"/>
                      <a:tailEnd type="none" w="med" len="med"/>
                    </a:lnL>
                    <a:lnR w="12700" cap="flat" cmpd="sng" algn="ctr">
                      <a:solidFill>
                        <a:srgbClr val="B5B7B9"/>
                      </a:solidFill>
                      <a:prstDash val="solid"/>
                      <a:round/>
                      <a:headEnd type="none" w="med" len="med"/>
                      <a:tailEnd type="none" w="med" len="med"/>
                    </a:lnR>
                    <a:lnT w="12700" cap="flat" cmpd="sng" algn="ctr">
                      <a:solidFill>
                        <a:srgbClr val="C3C5C8"/>
                      </a:solidFill>
                      <a:prstDash val="solid"/>
                      <a:round/>
                      <a:headEnd type="none" w="med" len="med"/>
                      <a:tailEnd type="none" w="med" len="med"/>
                    </a:lnT>
                    <a:lnB w="12700" cap="flat" cmpd="sng" algn="ctr">
                      <a:solidFill>
                        <a:srgbClr val="B5B7B9"/>
                      </a:solidFill>
                      <a:prstDash val="solid"/>
                      <a:round/>
                      <a:headEnd type="none" w="med" len="med"/>
                      <a:tailEnd type="none" w="med" len="med"/>
                    </a:lnB>
                    <a:solidFill>
                      <a:srgbClr val="E2E5E8"/>
                    </a:solidFill>
                  </a:tcPr>
                </a:tc>
              </a:tr>
              <a:tr h="383811">
                <a:tc>
                  <a:txBody>
                    <a:bodyPr/>
                    <a:lstStyle/>
                    <a:p>
                      <a:pPr indent="0" marL="0">
                        <a:lnSpc>
                          <a:spcPts val="1960"/>
                        </a:lnSpc>
                        <a:buNone/>
                      </a:pPr>
                      <a:r>
                        <a:rPr lang="en-US" sz="1400" dirty="0">
                          <a:solidFill>
                            <a:srgbClr val="0B2A5B"/>
                          </a:solidFill>
                          <a:latin typeface="Public Sans" pitchFamily="34" charset="0"/>
                          <a:ea typeface="Public Sans" pitchFamily="34" charset="-122"/>
                          <a:cs typeface="Public Sans" pitchFamily="34" charset="-120"/>
                        </a:rPr>
                        <a:t>Random Forest</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3C5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5B7B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algn="r" indent="0" marL="0">
                        <a:lnSpc>
                          <a:spcPts val="1960"/>
                        </a:lnSpc>
                        <a:buNone/>
                      </a:pPr>
                      <a:r>
                        <a:rPr lang="en-US" sz="1400" dirty="0">
                          <a:solidFill>
                            <a:srgbClr val="0B2A5B"/>
                          </a:solidFill>
                          <a:latin typeface="Public Sans" pitchFamily="34" charset="0"/>
                          <a:ea typeface="Public Sans" pitchFamily="34" charset="-122"/>
                          <a:cs typeface="Public Sans" pitchFamily="34" charset="-120"/>
                        </a:rPr>
                        <a:t>1.00</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5B7B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algn="r" indent="0" marL="0">
                        <a:lnSpc>
                          <a:spcPts val="1960"/>
                        </a:lnSpc>
                        <a:buNone/>
                      </a:pPr>
                      <a:r>
                        <a:rPr lang="en-US" sz="1400" dirty="0">
                          <a:solidFill>
                            <a:srgbClr val="0B2A5B"/>
                          </a:solidFill>
                          <a:latin typeface="Public Sans" pitchFamily="34" charset="0"/>
                          <a:ea typeface="Public Sans" pitchFamily="34" charset="-122"/>
                          <a:cs typeface="Public Sans" pitchFamily="34" charset="-120"/>
                        </a:rPr>
                        <a:t>1.00</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5B7B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algn="r" indent="0" marL="0">
                        <a:lnSpc>
                          <a:spcPts val="1960"/>
                        </a:lnSpc>
                        <a:buNone/>
                      </a:pPr>
                      <a:r>
                        <a:rPr lang="en-US" sz="1400" dirty="0">
                          <a:solidFill>
                            <a:srgbClr val="0B2A5B"/>
                          </a:solidFill>
                          <a:latin typeface="Public Sans" pitchFamily="34" charset="0"/>
                          <a:ea typeface="Public Sans" pitchFamily="34" charset="-122"/>
                          <a:cs typeface="Public Sans" pitchFamily="34" charset="-120"/>
                        </a:rPr>
                        <a:t>1.00</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5B7B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83811">
                <a:tc>
                  <a:txBody>
                    <a:bodyPr/>
                    <a:lstStyle/>
                    <a:p>
                      <a:pPr indent="0" marL="0">
                        <a:lnSpc>
                          <a:spcPts val="1960"/>
                        </a:lnSpc>
                        <a:buNone/>
                      </a:pPr>
                      <a:r>
                        <a:rPr lang="en-US" sz="1400" dirty="0">
                          <a:solidFill>
                            <a:srgbClr val="0B2A5B"/>
                          </a:solidFill>
                          <a:latin typeface="Public Sans" pitchFamily="34" charset="0"/>
                          <a:ea typeface="Public Sans" pitchFamily="34" charset="-122"/>
                          <a:cs typeface="Public Sans" pitchFamily="34" charset="-120"/>
                        </a:rPr>
                        <a:t>Gradient Boosting</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3C5C8"/>
                      </a:solidFill>
                      <a:prstDash val="solid"/>
                      <a:round/>
                      <a:headEnd type="none" w="med" len="med"/>
                      <a:tailEnd type="none" w="med" len="med"/>
                    </a:lnL>
                    <a:lnR w="12700" cap="flat" cmpd="sng" algn="ctr">
                      <a:solidFill>
                        <a:srgbClr val="BBC0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C0C6"/>
                      </a:solidFill>
                      <a:prstDash val="solid"/>
                      <a:round/>
                      <a:headEnd type="none" w="med" len="med"/>
                      <a:tailEnd type="none" w="med" len="med"/>
                    </a:lnB>
                    <a:solidFill>
                      <a:srgbClr val="EAF0F9"/>
                    </a:solidFill>
                  </a:tcPr>
                </a:tc>
                <a:tc>
                  <a:txBody>
                    <a:bodyPr/>
                    <a:lstStyle/>
                    <a:p>
                      <a:pPr algn="r" indent="0" marL="0">
                        <a:lnSpc>
                          <a:spcPts val="1960"/>
                        </a:lnSpc>
                        <a:buNone/>
                      </a:pPr>
                      <a:r>
                        <a:rPr lang="en-US" sz="1400" dirty="0">
                          <a:solidFill>
                            <a:srgbClr val="0B2A5B"/>
                          </a:solidFill>
                          <a:latin typeface="Public Sans" pitchFamily="34" charset="0"/>
                          <a:ea typeface="Public Sans" pitchFamily="34" charset="-122"/>
                          <a:cs typeface="Public Sans" pitchFamily="34" charset="-120"/>
                        </a:rPr>
                        <a:t>1.00</a:t>
                      </a:r>
                      <a:endParaRPr lang="en-US" sz="1400" dirty="0">
                        <a:latin typeface="Public Sans" charset="0"/>
                        <a:ea typeface="Public Sans" charset="0"/>
                        <a:cs typeface="Public Sans" charset="0"/>
                      </a:endParaRPr>
                    </a:p>
                  </a:txBody>
                  <a:tcPr marL="62230" marR="62230" marT="62230" marB="62230" anchor="t">
                    <a:lnL w="12700" cap="flat" cmpd="sng" algn="ctr">
                      <a:solidFill>
                        <a:srgbClr val="BBC0C6"/>
                      </a:solidFill>
                      <a:prstDash val="solid"/>
                      <a:round/>
                      <a:headEnd type="none" w="med" len="med"/>
                      <a:tailEnd type="none" w="med" len="med"/>
                    </a:lnL>
                    <a:lnR w="12700" cap="flat" cmpd="sng" algn="ctr">
                      <a:solidFill>
                        <a:srgbClr val="BBC0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C0C6"/>
                      </a:solidFill>
                      <a:prstDash val="solid"/>
                      <a:round/>
                      <a:headEnd type="none" w="med" len="med"/>
                      <a:tailEnd type="none" w="med" len="med"/>
                    </a:lnB>
                    <a:solidFill>
                      <a:srgbClr val="EAF0F9"/>
                    </a:solidFill>
                  </a:tcPr>
                </a:tc>
                <a:tc>
                  <a:txBody>
                    <a:bodyPr/>
                    <a:lstStyle/>
                    <a:p>
                      <a:pPr algn="r" indent="0" marL="0">
                        <a:lnSpc>
                          <a:spcPts val="1960"/>
                        </a:lnSpc>
                        <a:buNone/>
                      </a:pPr>
                      <a:r>
                        <a:rPr lang="en-US" sz="1400" dirty="0">
                          <a:solidFill>
                            <a:srgbClr val="0B2A5B"/>
                          </a:solidFill>
                          <a:latin typeface="Public Sans" pitchFamily="34" charset="0"/>
                          <a:ea typeface="Public Sans" pitchFamily="34" charset="-122"/>
                          <a:cs typeface="Public Sans" pitchFamily="34" charset="-120"/>
                        </a:rPr>
                        <a:t>1.00</a:t>
                      </a:r>
                      <a:endParaRPr lang="en-US" sz="1400" dirty="0">
                        <a:latin typeface="Public Sans" charset="0"/>
                        <a:ea typeface="Public Sans" charset="0"/>
                        <a:cs typeface="Public Sans" charset="0"/>
                      </a:endParaRPr>
                    </a:p>
                  </a:txBody>
                  <a:tcPr marL="62230" marR="62230" marT="62230" marB="62230" anchor="t">
                    <a:lnL w="12700" cap="flat" cmpd="sng" algn="ctr">
                      <a:solidFill>
                        <a:srgbClr val="BBC0C6"/>
                      </a:solidFill>
                      <a:prstDash val="solid"/>
                      <a:round/>
                      <a:headEnd type="none" w="med" len="med"/>
                      <a:tailEnd type="none" w="med" len="med"/>
                    </a:lnL>
                    <a:lnR w="12700" cap="flat" cmpd="sng" algn="ctr">
                      <a:solidFill>
                        <a:srgbClr val="BBC0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C0C6"/>
                      </a:solidFill>
                      <a:prstDash val="solid"/>
                      <a:round/>
                      <a:headEnd type="none" w="med" len="med"/>
                      <a:tailEnd type="none" w="med" len="med"/>
                    </a:lnB>
                    <a:solidFill>
                      <a:srgbClr val="EAF0F9"/>
                    </a:solidFill>
                  </a:tcPr>
                </a:tc>
                <a:tc>
                  <a:txBody>
                    <a:bodyPr/>
                    <a:lstStyle/>
                    <a:p>
                      <a:pPr algn="r" indent="0" marL="0">
                        <a:lnSpc>
                          <a:spcPts val="1960"/>
                        </a:lnSpc>
                        <a:buNone/>
                      </a:pPr>
                      <a:r>
                        <a:rPr lang="en-US" sz="1400" dirty="0">
                          <a:solidFill>
                            <a:srgbClr val="0B2A5B"/>
                          </a:solidFill>
                          <a:latin typeface="Public Sans" pitchFamily="34" charset="0"/>
                          <a:ea typeface="Public Sans" pitchFamily="34" charset="-122"/>
                          <a:cs typeface="Public Sans" pitchFamily="34" charset="-120"/>
                        </a:rPr>
                        <a:t>1.00</a:t>
                      </a:r>
                      <a:endParaRPr lang="en-US" sz="1400" dirty="0">
                        <a:latin typeface="Public Sans" charset="0"/>
                        <a:ea typeface="Public Sans" charset="0"/>
                        <a:cs typeface="Public Sans" charset="0"/>
                      </a:endParaRPr>
                    </a:p>
                  </a:txBody>
                  <a:tcPr marL="62230" marR="62230" marT="62230" marB="62230" anchor="t">
                    <a:lnL w="12700" cap="flat" cmpd="sng" algn="ctr">
                      <a:solidFill>
                        <a:srgbClr val="BBC0C6"/>
                      </a:solidFill>
                      <a:prstDash val="solid"/>
                      <a:round/>
                      <a:headEnd type="none" w="med" len="med"/>
                      <a:tailEnd type="none" w="med" len="med"/>
                    </a:lnL>
                    <a:lnR w="12700" cap="flat" cmpd="sng" algn="ctr">
                      <a:solidFill>
                        <a:srgbClr val="BBC0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C0C6"/>
                      </a:solidFill>
                      <a:prstDash val="solid"/>
                      <a:round/>
                      <a:headEnd type="none" w="med" len="med"/>
                      <a:tailEnd type="none" w="med" len="med"/>
                    </a:lnB>
                    <a:solidFill>
                      <a:srgbClr val="EAF0F9"/>
                    </a:solidFill>
                  </a:tcPr>
                </a:tc>
              </a:tr>
              <a:tr h="383811">
                <a:tc>
                  <a:txBody>
                    <a:bodyPr/>
                    <a:lstStyle/>
                    <a:p>
                      <a:pPr indent="0" marL="0">
                        <a:lnSpc>
                          <a:spcPts val="1960"/>
                        </a:lnSpc>
                        <a:buNone/>
                      </a:pPr>
                      <a:r>
                        <a:rPr lang="en-US" sz="1400" dirty="0">
                          <a:solidFill>
                            <a:srgbClr val="0B2A5B"/>
                          </a:solidFill>
                          <a:latin typeface="Public Sans" pitchFamily="34" charset="0"/>
                          <a:ea typeface="Public Sans" pitchFamily="34" charset="-122"/>
                          <a:cs typeface="Public Sans" pitchFamily="34" charset="-120"/>
                        </a:rPr>
                        <a:t>Logistic Regression</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3C5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0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algn="r" indent="0" marL="0">
                        <a:lnSpc>
                          <a:spcPts val="1960"/>
                        </a:lnSpc>
                        <a:buNone/>
                      </a:pPr>
                      <a:r>
                        <a:rPr lang="en-US" sz="1400" dirty="0">
                          <a:solidFill>
                            <a:srgbClr val="0B2A5B"/>
                          </a:solidFill>
                          <a:latin typeface="Public Sans" pitchFamily="34" charset="0"/>
                          <a:ea typeface="Public Sans" pitchFamily="34" charset="-122"/>
                          <a:cs typeface="Public Sans" pitchFamily="34" charset="-120"/>
                        </a:rPr>
                        <a:t>0.93</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0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algn="r" indent="0" marL="0">
                        <a:lnSpc>
                          <a:spcPts val="1960"/>
                        </a:lnSpc>
                        <a:buNone/>
                      </a:pPr>
                      <a:r>
                        <a:rPr lang="en-US" sz="1400" dirty="0">
                          <a:solidFill>
                            <a:srgbClr val="0B2A5B"/>
                          </a:solidFill>
                          <a:latin typeface="Public Sans" pitchFamily="34" charset="0"/>
                          <a:ea typeface="Public Sans" pitchFamily="34" charset="-122"/>
                          <a:cs typeface="Public Sans" pitchFamily="34" charset="-120"/>
                        </a:rPr>
                        <a:t>0.91</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0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algn="r" indent="0" marL="0">
                        <a:lnSpc>
                          <a:spcPts val="1960"/>
                        </a:lnSpc>
                        <a:buNone/>
                      </a:pPr>
                      <a:r>
                        <a:rPr lang="en-US" sz="1400" dirty="0">
                          <a:solidFill>
                            <a:srgbClr val="0B2A5B"/>
                          </a:solidFill>
                          <a:latin typeface="Public Sans" pitchFamily="34" charset="0"/>
                          <a:ea typeface="Public Sans" pitchFamily="34" charset="-122"/>
                          <a:cs typeface="Public Sans" pitchFamily="34" charset="-120"/>
                        </a:rPr>
                        <a:t>0.95</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0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sp>
        <p:nvSpPr>
          <p:cNvPr id="6" name="Text 3"/>
          <p:cNvSpPr/>
          <p:nvPr/>
        </p:nvSpPr>
        <p:spPr>
          <a:xfrm>
            <a:off x="6248383" y="3524250"/>
            <a:ext cx="5130850" cy="716194"/>
          </a:xfrm>
          <a:prstGeom prst="roundRect">
            <a:avLst>
              <a:gd name="adj" fmla="val 10640"/>
            </a:avLst>
          </a:prstGeom>
          <a:solidFill>
            <a:srgbClr val="FDF1CF"/>
          </a:solidFill>
          <a:ln/>
        </p:spPr>
        <p:txBody>
          <a:bodyPr wrap="square" lIns="130082" tIns="104682" rIns="0" bIns="79282" rtlCol="0" anchor="t">
            <a:normAutofit/>
          </a:bodyPr>
          <a:lstStyle/>
          <a:p>
            <a:pPr algn="l" indent="0" marL="0">
              <a:lnSpc>
                <a:spcPts val="1820"/>
              </a:lnSpc>
              <a:buNone/>
            </a:pPr>
            <a:r>
              <a:rPr lang="en-US" sz="1300" dirty="0">
                <a:solidFill>
                  <a:srgbClr val="6A4A00"/>
                </a:solidFill>
                <a:latin typeface="Public Sans" pitchFamily="34" charset="0"/>
                <a:ea typeface="Public Sans" pitchFamily="34" charset="-122"/>
                <a:cs typeface="Public Sans" pitchFamily="34" charset="-120"/>
              </a:rPr>
              <a:t>Small test set (n = 40): read with caution. Larger, more diverse data is planned.</a:t>
            </a:r>
            <a:endParaRPr lang="en-US" sz="1300" dirty="0"/>
          </a:p>
        </p:txBody>
      </p:sp>
      <p:sp>
        <p:nvSpPr>
          <p:cNvPr id="7" name="Text 4"/>
          <p:cNvSpPr/>
          <p:nvPr/>
        </p:nvSpPr>
        <p:spPr>
          <a:xfrm>
            <a:off x="812767" y="6238292"/>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A94"/>
                </a:solidFill>
                <a:latin typeface="Public Sans" pitchFamily="34" charset="0"/>
                <a:ea typeface="Public Sans" pitchFamily="34" charset="-122"/>
                <a:cs typeface="Public Sans" pitchFamily="34" charset="-120"/>
              </a:rPr>
              <a:t>FloodGuard360 · IT4010 Final Presentation</a:t>
            </a:r>
            <a:endParaRPr lang="en-US" sz="1200" dirty="0"/>
          </a:p>
        </p:txBody>
      </p:sp>
      <p:sp>
        <p:nvSpPr>
          <p:cNvPr id="8" name="Text 5"/>
          <p:cNvSpPr/>
          <p:nvPr/>
        </p:nvSpPr>
        <p:spPr>
          <a:xfrm>
            <a:off x="10566433" y="6238292"/>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A94"/>
                </a:solidFill>
                <a:latin typeface="Public Sans" pitchFamily="34" charset="0"/>
                <a:ea typeface="Public Sans" pitchFamily="34" charset="-122"/>
                <a:cs typeface="Public Sa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812767" y="812763"/>
            <a:ext cx="10883460" cy="256497"/>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1F78C8"/>
                </a:solidFill>
                <a:latin typeface="Public Sans" pitchFamily="34" charset="0"/>
                <a:ea typeface="Public Sans" pitchFamily="34" charset="-122"/>
                <a:cs typeface="Public Sans" pitchFamily="34" charset="-120"/>
              </a:rPr>
              <a:t>MODULE 2 · DRAINAGE MONITORING</a:t>
            </a:r>
            <a:endParaRPr lang="en-US" sz="1300" dirty="0"/>
          </a:p>
        </p:txBody>
      </p:sp>
      <p:sp>
        <p:nvSpPr>
          <p:cNvPr id="3" name="Text 1"/>
          <p:cNvSpPr/>
          <p:nvPr>
            <p:ph type="title"/>
          </p:nvPr>
        </p:nvSpPr>
        <p:spPr>
          <a:xfrm>
            <a:off x="812767" y="1145394"/>
            <a:ext cx="11379233" cy="452041"/>
          </a:xfrm>
          <a:prstGeom prst="rect">
            <a:avLst/>
          </a:prstGeom>
          <a:noFill/>
          <a:ln/>
        </p:spPr>
        <p:txBody>
          <a:bodyPr wrap="square" lIns="0" tIns="0" rIns="0" bIns="0" rtlCol="0" anchor="t">
            <a:normAutofit/>
          </a:bodyPr>
          <a:lstStyle/>
          <a:p>
            <a:pPr algn="l" indent="0" marL="0">
              <a:lnSpc>
                <a:spcPts val="3360"/>
              </a:lnSpc>
              <a:buNone/>
            </a:pPr>
            <a:r>
              <a:rPr lang="en-US" sz="3000" b="1" i="0" dirty="0">
                <a:solidFill>
                  <a:srgbClr val="0B2A5B"/>
                </a:solidFill>
                <a:latin typeface="Rubik" pitchFamily="34" charset="0"/>
                <a:ea typeface="Rubik" pitchFamily="34" charset="-122"/>
                <a:cs typeface="Rubik" pitchFamily="34" charset="-120"/>
              </a:rPr>
              <a:t>Comparing sensors finds blockages, not just high water</a:t>
            </a:r>
            <a:endParaRPr lang="en-US" sz="3000" dirty="0"/>
          </a:p>
        </p:txBody>
      </p:sp>
      <p:sp>
        <p:nvSpPr>
          <p:cNvPr id="4" name="Text 2"/>
          <p:cNvSpPr/>
          <p:nvPr/>
        </p:nvSpPr>
        <p:spPr>
          <a:xfrm>
            <a:off x="890237" y="1800572"/>
            <a:ext cx="5199685" cy="2234671"/>
          </a:xfrm>
          <a:prstGeom prst="rect">
            <a:avLst/>
          </a:prstGeom>
          <a:noFill/>
          <a:ln/>
        </p:spPr>
        <p:txBody>
          <a:bodyPr wrap="square" lIns="0" tIns="0" rIns="0" bIns="0" rtlCol="0" anchor="t">
            <a:normAutofit/>
          </a:bodyPr>
          <a:lstStyle/>
          <a:p>
            <a:pPr algn="l" marL="176530" indent="-176530">
              <a:lnSpc>
                <a:spcPts val="2175"/>
              </a:lnSpc>
              <a:buSzPct val="100000"/>
              <a:buChar char="•"/>
            </a:pPr>
            <a:r>
              <a:rPr lang="en-US" sz="1500" dirty="0">
                <a:solidFill>
                  <a:srgbClr val="3A4A66"/>
                </a:solidFill>
                <a:latin typeface="Public Sans" pitchFamily="34" charset="0"/>
                <a:ea typeface="Public Sans" pitchFamily="34" charset="-122"/>
                <a:cs typeface="Public Sans" pitchFamily="34" charset="-120"/>
              </a:rPr>
              <a:t>Ultrasonic sensors upstream, middle and downstream, plus a rainfall sensor</a:t>
            </a:r>
            <a:endParaRPr lang="en-US" sz="1500" dirty="0"/>
          </a:p>
          <a:p>
            <a:pPr algn="l" marL="176530" indent="-176530">
              <a:lnSpc>
                <a:spcPts val="2175"/>
              </a:lnSpc>
              <a:buSzPct val="100000"/>
              <a:buChar char="•"/>
            </a:pPr>
            <a:r>
              <a:rPr lang="en-US" sz="1500" dirty="0">
                <a:solidFill>
                  <a:srgbClr val="3A4A66"/>
                </a:solidFill>
                <a:latin typeface="Public Sans" pitchFamily="34" charset="0"/>
                <a:ea typeface="Public Sans" pitchFamily="34" charset="-122"/>
                <a:cs typeface="Public Sans" pitchFamily="34" charset="-120"/>
              </a:rPr>
              <a:t>Level difference between neighbouring points, judged by size and persistence</a:t>
            </a:r>
            <a:endParaRPr lang="en-US" sz="1500" dirty="0"/>
          </a:p>
          <a:p>
            <a:pPr algn="l" marL="176530" indent="-176530">
              <a:lnSpc>
                <a:spcPts val="2175"/>
              </a:lnSpc>
              <a:buSzPct val="100000"/>
              <a:buChar char="•"/>
            </a:pPr>
            <a:r>
              <a:rPr lang="en-US" sz="1500" dirty="0">
                <a:solidFill>
                  <a:srgbClr val="3A4A66"/>
                </a:solidFill>
                <a:latin typeface="Public Sans" pitchFamily="34" charset="0"/>
                <a:ea typeface="Public Sans" pitchFamily="34" charset="-122"/>
                <a:cs typeface="Public Sans" pitchFamily="34" charset="-120"/>
              </a:rPr>
              <a:t>Rainfall and tributary inflow considered to cut false alerts</a:t>
            </a:r>
            <a:endParaRPr lang="en-US" sz="1500" dirty="0"/>
          </a:p>
          <a:p>
            <a:pPr algn="l" marL="176530" indent="-176530">
              <a:lnSpc>
                <a:spcPts val="2175"/>
              </a:lnSpc>
              <a:buSzPct val="100000"/>
              <a:buChar char="•"/>
            </a:pPr>
            <a:r>
              <a:rPr lang="en-US" sz="1500" dirty="0">
                <a:solidFill>
                  <a:srgbClr val="3A4A66"/>
                </a:solidFill>
                <a:latin typeface="Public Sans" pitchFamily="34" charset="0"/>
                <a:ea typeface="Public Sans" pitchFamily="34" charset="-122"/>
                <a:cs typeface="Public Sans" pitchFamily="34" charset="-120"/>
              </a:rPr>
              <a:t>Five alert levels, from Normal to Critical blockage warning</a:t>
            </a:r>
            <a:endParaRPr lang="en-US" sz="1500" dirty="0"/>
          </a:p>
        </p:txBody>
      </p:sp>
      <p:sp>
        <p:nvSpPr>
          <p:cNvPr id="5" name="Shape 3"/>
          <p:cNvSpPr/>
          <p:nvPr/>
        </p:nvSpPr>
        <p:spPr>
          <a:xfrm>
            <a:off x="6251558" y="1803747"/>
            <a:ext cx="2495533" cy="1408757"/>
          </a:xfrm>
          <a:prstGeom prst="roundRect">
            <a:avLst>
              <a:gd name="adj" fmla="val 6987"/>
            </a:avLst>
          </a:prstGeom>
          <a:solidFill>
            <a:srgbClr val="FFFFFF"/>
          </a:solidFill>
          <a:ln w="6350">
            <a:solidFill>
              <a:srgbClr val="D5DEEC"/>
            </a:solidFill>
            <a:prstDash val="solid"/>
          </a:ln>
        </p:spPr>
      </p:sp>
      <p:sp>
        <p:nvSpPr>
          <p:cNvPr id="6" name="Text 4"/>
          <p:cNvSpPr/>
          <p:nvPr/>
        </p:nvSpPr>
        <p:spPr>
          <a:xfrm>
            <a:off x="6431442" y="1983631"/>
            <a:ext cx="2199839" cy="594337"/>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1F78C8"/>
                </a:solidFill>
                <a:latin typeface="Rubik" pitchFamily="34" charset="0"/>
                <a:ea typeface="Rubik" pitchFamily="34" charset="-122"/>
                <a:cs typeface="Rubik" pitchFamily="34" charset="-120"/>
              </a:rPr>
              <a:t>94%</a:t>
            </a:r>
            <a:endParaRPr lang="en-US" sz="3200" dirty="0"/>
          </a:p>
        </p:txBody>
      </p:sp>
      <p:sp>
        <p:nvSpPr>
          <p:cNvPr id="7" name="Text 5"/>
          <p:cNvSpPr/>
          <p:nvPr/>
        </p:nvSpPr>
        <p:spPr>
          <a:xfrm>
            <a:off x="6431442" y="2603333"/>
            <a:ext cx="2199839" cy="454686"/>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3A4A66"/>
                </a:solidFill>
                <a:latin typeface="Public Sans" pitchFamily="34" charset="0"/>
                <a:ea typeface="Public Sans" pitchFamily="34" charset="-122"/>
                <a:cs typeface="Public Sans" pitchFamily="34" charset="-120"/>
              </a:rPr>
              <a:t>47 of 50 anomalies detected</a:t>
            </a:r>
            <a:endParaRPr lang="en-US" sz="1300" dirty="0"/>
          </a:p>
        </p:txBody>
      </p:sp>
      <p:sp>
        <p:nvSpPr>
          <p:cNvPr id="8" name="Shape 6"/>
          <p:cNvSpPr/>
          <p:nvPr/>
        </p:nvSpPr>
        <p:spPr>
          <a:xfrm>
            <a:off x="8880442" y="1803747"/>
            <a:ext cx="2495616" cy="1408757"/>
          </a:xfrm>
          <a:prstGeom prst="roundRect">
            <a:avLst>
              <a:gd name="adj" fmla="val 6987"/>
            </a:avLst>
          </a:prstGeom>
          <a:solidFill>
            <a:srgbClr val="FFFFFF"/>
          </a:solidFill>
          <a:ln w="6350">
            <a:solidFill>
              <a:srgbClr val="D5DEEC"/>
            </a:solidFill>
            <a:prstDash val="solid"/>
          </a:ln>
        </p:spPr>
      </p:sp>
      <p:sp>
        <p:nvSpPr>
          <p:cNvPr id="9" name="Text 7"/>
          <p:cNvSpPr/>
          <p:nvPr/>
        </p:nvSpPr>
        <p:spPr>
          <a:xfrm>
            <a:off x="9060325" y="1983631"/>
            <a:ext cx="2199924" cy="594337"/>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1F78C8"/>
                </a:solidFill>
                <a:latin typeface="Rubik" pitchFamily="34" charset="0"/>
                <a:ea typeface="Rubik" pitchFamily="34" charset="-122"/>
                <a:cs typeface="Rubik" pitchFamily="34" charset="-120"/>
              </a:rPr>
              <a:t>0.15 m</a:t>
            </a:r>
            <a:endParaRPr lang="en-US" sz="3200" dirty="0"/>
          </a:p>
        </p:txBody>
      </p:sp>
      <p:sp>
        <p:nvSpPr>
          <p:cNvPr id="10" name="Text 8"/>
          <p:cNvSpPr/>
          <p:nvPr/>
        </p:nvSpPr>
        <p:spPr>
          <a:xfrm>
            <a:off x="9060325" y="2603333"/>
            <a:ext cx="2199924" cy="240043"/>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3A4A66"/>
                </a:solidFill>
                <a:latin typeface="Public Sans" pitchFamily="34" charset="0"/>
                <a:ea typeface="Public Sans" pitchFamily="34" charset="-122"/>
                <a:cs typeface="Public Sans" pitchFamily="34" charset="-120"/>
              </a:rPr>
              <a:t>Forecast RMSE</a:t>
            </a:r>
            <a:endParaRPr lang="en-US" sz="1300" dirty="0"/>
          </a:p>
        </p:txBody>
      </p:sp>
      <p:sp>
        <p:nvSpPr>
          <p:cNvPr id="11" name="Shape 9"/>
          <p:cNvSpPr/>
          <p:nvPr/>
        </p:nvSpPr>
        <p:spPr>
          <a:xfrm>
            <a:off x="6251558" y="3345855"/>
            <a:ext cx="2495533" cy="1408757"/>
          </a:xfrm>
          <a:prstGeom prst="roundRect">
            <a:avLst>
              <a:gd name="adj" fmla="val 6987"/>
            </a:avLst>
          </a:prstGeom>
          <a:solidFill>
            <a:srgbClr val="FFFFFF"/>
          </a:solidFill>
          <a:ln w="6350">
            <a:solidFill>
              <a:srgbClr val="D5DEEC"/>
            </a:solidFill>
            <a:prstDash val="solid"/>
          </a:ln>
        </p:spPr>
      </p:sp>
      <p:sp>
        <p:nvSpPr>
          <p:cNvPr id="12" name="Text 10"/>
          <p:cNvSpPr/>
          <p:nvPr/>
        </p:nvSpPr>
        <p:spPr>
          <a:xfrm>
            <a:off x="6431442" y="3525738"/>
            <a:ext cx="2199839" cy="594337"/>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1F7A33"/>
                </a:solidFill>
                <a:latin typeface="Rubik" pitchFamily="34" charset="0"/>
                <a:ea typeface="Rubik" pitchFamily="34" charset="-122"/>
                <a:cs typeface="Rubik" pitchFamily="34" charset="-120"/>
              </a:rPr>
              <a:t>0.10 m</a:t>
            </a:r>
            <a:endParaRPr lang="en-US" sz="3200" dirty="0"/>
          </a:p>
        </p:txBody>
      </p:sp>
      <p:sp>
        <p:nvSpPr>
          <p:cNvPr id="13" name="Text 11"/>
          <p:cNvSpPr/>
          <p:nvPr/>
        </p:nvSpPr>
        <p:spPr>
          <a:xfrm>
            <a:off x="6431442" y="4145440"/>
            <a:ext cx="2199839" cy="240043"/>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3A4A66"/>
                </a:solidFill>
                <a:latin typeface="Public Sans" pitchFamily="34" charset="0"/>
                <a:ea typeface="Public Sans" pitchFamily="34" charset="-122"/>
                <a:cs typeface="Public Sans" pitchFamily="34" charset="-120"/>
              </a:rPr>
              <a:t>Forecast MAE</a:t>
            </a:r>
            <a:endParaRPr lang="en-US" sz="1300" dirty="0"/>
          </a:p>
        </p:txBody>
      </p:sp>
      <p:sp>
        <p:nvSpPr>
          <p:cNvPr id="14" name="Shape 12"/>
          <p:cNvSpPr/>
          <p:nvPr/>
        </p:nvSpPr>
        <p:spPr>
          <a:xfrm>
            <a:off x="8880442" y="3345855"/>
            <a:ext cx="2495616" cy="1408757"/>
          </a:xfrm>
          <a:prstGeom prst="roundRect">
            <a:avLst>
              <a:gd name="adj" fmla="val 6987"/>
            </a:avLst>
          </a:prstGeom>
          <a:solidFill>
            <a:srgbClr val="FFFFFF"/>
          </a:solidFill>
          <a:ln w="6350">
            <a:solidFill>
              <a:srgbClr val="D5DEEC"/>
            </a:solidFill>
            <a:prstDash val="solid"/>
          </a:ln>
        </p:spPr>
      </p:sp>
      <p:sp>
        <p:nvSpPr>
          <p:cNvPr id="15" name="Text 13"/>
          <p:cNvSpPr/>
          <p:nvPr/>
        </p:nvSpPr>
        <p:spPr>
          <a:xfrm>
            <a:off x="9060325" y="3525738"/>
            <a:ext cx="2199924" cy="594337"/>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1F7A33"/>
                </a:solidFill>
                <a:latin typeface="Rubik" pitchFamily="34" charset="0"/>
                <a:ea typeface="Rubik" pitchFamily="34" charset="-122"/>
                <a:cs typeface="Rubik" pitchFamily="34" charset="-120"/>
              </a:rPr>
              <a:t>3 / 2</a:t>
            </a:r>
            <a:endParaRPr lang="en-US" sz="3200" dirty="0"/>
          </a:p>
        </p:txBody>
      </p:sp>
      <p:sp>
        <p:nvSpPr>
          <p:cNvPr id="16" name="Text 14"/>
          <p:cNvSpPr/>
          <p:nvPr/>
        </p:nvSpPr>
        <p:spPr>
          <a:xfrm>
            <a:off x="9060325" y="4145440"/>
            <a:ext cx="2199924" cy="454686"/>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3A4A66"/>
                </a:solidFill>
                <a:latin typeface="Public Sans" pitchFamily="34" charset="0"/>
                <a:ea typeface="Public Sans" pitchFamily="34" charset="-122"/>
                <a:cs typeface="Public Sans" pitchFamily="34" charset="-120"/>
              </a:rPr>
              <a:t>False positives / false negatives</a:t>
            </a:r>
            <a:endParaRPr lang="en-US" sz="1300" dirty="0"/>
          </a:p>
        </p:txBody>
      </p:sp>
      <p:sp>
        <p:nvSpPr>
          <p:cNvPr id="17" name="Text 15"/>
          <p:cNvSpPr/>
          <p:nvPr/>
        </p:nvSpPr>
        <p:spPr>
          <a:xfrm>
            <a:off x="812767" y="6238292"/>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A94"/>
                </a:solidFill>
                <a:latin typeface="Public Sans" pitchFamily="34" charset="0"/>
                <a:ea typeface="Public Sans" pitchFamily="34" charset="-122"/>
                <a:cs typeface="Public Sans" pitchFamily="34" charset="-120"/>
              </a:rPr>
              <a:t>FloodGuard360 · IT4010 Final Presentation</a:t>
            </a:r>
            <a:endParaRPr lang="en-US" sz="1200" dirty="0"/>
          </a:p>
        </p:txBody>
      </p:sp>
      <p:sp>
        <p:nvSpPr>
          <p:cNvPr id="18" name="Text 16"/>
          <p:cNvSpPr/>
          <p:nvPr/>
        </p:nvSpPr>
        <p:spPr>
          <a:xfrm>
            <a:off x="10566433" y="6238292"/>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A94"/>
                </a:solidFill>
                <a:latin typeface="Public Sans" pitchFamily="34" charset="0"/>
                <a:ea typeface="Public Sans" pitchFamily="34" charset="-122"/>
                <a:cs typeface="Public Sans"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812767" y="812763"/>
            <a:ext cx="10883460" cy="256497"/>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1F78C8"/>
                </a:solidFill>
                <a:latin typeface="Public Sans" pitchFamily="34" charset="0"/>
                <a:ea typeface="Public Sans" pitchFamily="34" charset="-122"/>
                <a:cs typeface="Public Sans" pitchFamily="34" charset="-120"/>
              </a:rPr>
              <a:t>MODULE 3 · POST-FLOOD HEALTH SCREENING</a:t>
            </a:r>
            <a:endParaRPr lang="en-US" sz="1300" dirty="0"/>
          </a:p>
        </p:txBody>
      </p:sp>
      <p:sp>
        <p:nvSpPr>
          <p:cNvPr id="3" name="Text 1"/>
          <p:cNvSpPr/>
          <p:nvPr>
            <p:ph type="title"/>
          </p:nvPr>
        </p:nvSpPr>
        <p:spPr>
          <a:xfrm>
            <a:off x="812767" y="1145394"/>
            <a:ext cx="10883460" cy="452041"/>
          </a:xfrm>
          <a:prstGeom prst="rect">
            <a:avLst/>
          </a:prstGeom>
          <a:noFill/>
          <a:ln/>
        </p:spPr>
        <p:txBody>
          <a:bodyPr wrap="square" lIns="0" tIns="0" rIns="0" bIns="0" rtlCol="0" anchor="t">
            <a:normAutofit/>
          </a:bodyPr>
          <a:lstStyle/>
          <a:p>
            <a:pPr algn="l" indent="0" marL="0">
              <a:lnSpc>
                <a:spcPts val="3360"/>
              </a:lnSpc>
              <a:buNone/>
            </a:pPr>
            <a:r>
              <a:rPr lang="en-US" sz="3000" b="1" i="0" dirty="0">
                <a:solidFill>
                  <a:srgbClr val="0B2A5B"/>
                </a:solidFill>
                <a:latin typeface="Rubik" pitchFamily="34" charset="0"/>
                <a:ea typeface="Rubik" pitchFamily="34" charset="-122"/>
                <a:cs typeface="Rubik" pitchFamily="34" charset="-120"/>
              </a:rPr>
              <a:t>Triage that rarely misses an urgent case</a:t>
            </a:r>
            <a:endParaRPr lang="en-US" sz="3000" dirty="0"/>
          </a:p>
        </p:txBody>
      </p:sp>
      <p:sp>
        <p:nvSpPr>
          <p:cNvPr id="4" name="Text 2"/>
          <p:cNvSpPr/>
          <p:nvPr/>
        </p:nvSpPr>
        <p:spPr>
          <a:xfrm>
            <a:off x="890237" y="1800572"/>
            <a:ext cx="5199685" cy="1958512"/>
          </a:xfrm>
          <a:prstGeom prst="rect">
            <a:avLst/>
          </a:prstGeom>
          <a:noFill/>
          <a:ln/>
        </p:spPr>
        <p:txBody>
          <a:bodyPr wrap="square" lIns="0" tIns="0" rIns="0" bIns="0" rtlCol="0" anchor="t">
            <a:normAutofit/>
          </a:bodyPr>
          <a:lstStyle/>
          <a:p>
            <a:pPr algn="l" marL="176530" indent="-176530">
              <a:lnSpc>
                <a:spcPts val="2175"/>
              </a:lnSpc>
              <a:buSzPct val="100000"/>
              <a:buChar char="•"/>
            </a:pPr>
            <a:r>
              <a:rPr lang="en-US" sz="1500" dirty="0">
                <a:solidFill>
                  <a:srgbClr val="3A4A66"/>
                </a:solidFill>
                <a:latin typeface="Public Sans" pitchFamily="34" charset="0"/>
                <a:ea typeface="Public Sans" pitchFamily="34" charset="-122"/>
                <a:cs typeface="Public Sans" pitchFamily="34" charset="-120"/>
              </a:rPr>
              <a:t>Inputs: age group, symptoms, duration and an optional image</a:t>
            </a:r>
            <a:endParaRPr lang="en-US" sz="1500" dirty="0"/>
          </a:p>
          <a:p>
            <a:pPr algn="l" marL="176530" indent="-176530">
              <a:lnSpc>
                <a:spcPts val="2175"/>
              </a:lnSpc>
              <a:buSzPct val="100000"/>
              <a:buChar char="•"/>
            </a:pPr>
            <a:r>
              <a:rPr lang="en-US" sz="1500" dirty="0">
                <a:solidFill>
                  <a:srgbClr val="3A4A66"/>
                </a:solidFill>
                <a:latin typeface="Public Sans" pitchFamily="34" charset="0"/>
                <a:ea typeface="Public Sans" pitchFamily="34" charset="-122"/>
                <a:cs typeface="Public Sans" pitchFamily="34" charset="-120"/>
              </a:rPr>
              <a:t>Hybrid approach: ML output plus predefined risk rules</a:t>
            </a:r>
            <a:endParaRPr lang="en-US" sz="1500" dirty="0"/>
          </a:p>
          <a:p>
            <a:pPr algn="l" marL="176530" indent="-176530">
              <a:lnSpc>
                <a:spcPts val="2175"/>
              </a:lnSpc>
              <a:buSzPct val="100000"/>
              <a:buChar char="•"/>
            </a:pPr>
            <a:r>
              <a:rPr lang="en-US" sz="1500" dirty="0">
                <a:solidFill>
                  <a:srgbClr val="3A4A66"/>
                </a:solidFill>
                <a:latin typeface="Public Sans" pitchFamily="34" charset="0"/>
                <a:ea typeface="Public Sans" pitchFamily="34" charset="-122"/>
                <a:cs typeface="Public Sans" pitchFamily="34" charset="-120"/>
              </a:rPr>
              <a:t>Four categories: Low, Moderate, High, Critical/Urgent</a:t>
            </a:r>
            <a:endParaRPr lang="en-US" sz="1500" dirty="0"/>
          </a:p>
          <a:p>
            <a:pPr algn="l" marL="176530" indent="-176530">
              <a:lnSpc>
                <a:spcPts val="2175"/>
              </a:lnSpc>
              <a:buSzPct val="100000"/>
              <a:buChar char="•"/>
            </a:pPr>
            <a:r>
              <a:rPr lang="en-US" sz="1500" dirty="0">
                <a:solidFill>
                  <a:srgbClr val="3A4A66"/>
                </a:solidFill>
                <a:latin typeface="Public Sans" pitchFamily="34" charset="0"/>
                <a:ea typeface="Public Sans" pitchFamily="34" charset="-122"/>
                <a:cs typeface="Public Sans" pitchFamily="34" charset="-120"/>
              </a:rPr>
              <a:t>High and Critical cases are highlighted on the healthcare dashboard</a:t>
            </a:r>
            <a:endParaRPr lang="en-US" sz="1500" dirty="0"/>
          </a:p>
          <a:p>
            <a:pPr algn="l" marL="176530" indent="-176530">
              <a:lnSpc>
                <a:spcPts val="2175"/>
              </a:lnSpc>
              <a:buSzPct val="100000"/>
              <a:buChar char="•"/>
            </a:pPr>
            <a:r>
              <a:rPr lang="en-US" sz="1500" dirty="0">
                <a:solidFill>
                  <a:srgbClr val="3A4A66"/>
                </a:solidFill>
                <a:latin typeface="Public Sans" pitchFamily="34" charset="0"/>
                <a:ea typeface="Public Sans" pitchFamily="34" charset="-122"/>
                <a:cs typeface="Public Sans" pitchFamily="34" charset="-120"/>
              </a:rPr>
              <a:t>Supports screening only, never independent diagnosis</a:t>
            </a:r>
            <a:endParaRPr lang="en-US" sz="15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258967" y="1811156"/>
          <a:ext cx="5120266" cy="1919056"/>
        </p:xfrm>
        <a:graphic>
          <a:graphicData uri="http://schemas.openxmlformats.org/drawingml/2006/table">
            <a:tbl>
              <a:tblPr/>
              <a:tblGrid>
                <a:gridCol w="2048107"/>
                <a:gridCol w="1024053"/>
                <a:gridCol w="1024053"/>
                <a:gridCol w="1024053"/>
              </a:tblGrid>
              <a:tr h="383811">
                <a:tc>
                  <a:txBody>
                    <a:bodyPr/>
                    <a:lstStyle/>
                    <a:p>
                      <a:pPr indent="0" marL="0">
                        <a:lnSpc>
                          <a:spcPts val="1960"/>
                        </a:lnSpc>
                        <a:buNone/>
                      </a:pPr>
                      <a:r>
                        <a:rPr lang="en-US" sz="1400" b="1" dirty="0">
                          <a:solidFill>
                            <a:srgbClr val="0B2A5B"/>
                          </a:solidFill>
                          <a:latin typeface="Public Sans" pitchFamily="34" charset="0"/>
                          <a:ea typeface="Public Sans" pitchFamily="34" charset="-122"/>
                          <a:cs typeface="Public Sans" pitchFamily="34" charset="-120"/>
                        </a:rPr>
                        <a:t>Category</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3C5C8"/>
                      </a:solidFill>
                      <a:prstDash val="solid"/>
                      <a:round/>
                      <a:headEnd type="none" w="med" len="med"/>
                      <a:tailEnd type="none" w="med" len="med"/>
                    </a:lnL>
                    <a:lnR w="12700" cap="flat" cmpd="sng" algn="ctr">
                      <a:solidFill>
                        <a:srgbClr val="B5B7B9"/>
                      </a:solidFill>
                      <a:prstDash val="solid"/>
                      <a:round/>
                      <a:headEnd type="none" w="med" len="med"/>
                      <a:tailEnd type="none" w="med" len="med"/>
                    </a:lnR>
                    <a:lnT w="12700" cap="flat" cmpd="sng" algn="ctr">
                      <a:solidFill>
                        <a:srgbClr val="C3C5C8"/>
                      </a:solidFill>
                      <a:prstDash val="solid"/>
                      <a:round/>
                      <a:headEnd type="none" w="med" len="med"/>
                      <a:tailEnd type="none" w="med" len="med"/>
                    </a:lnT>
                    <a:lnB w="12700" cap="flat" cmpd="sng" algn="ctr">
                      <a:solidFill>
                        <a:srgbClr val="B5B7B9"/>
                      </a:solidFill>
                      <a:prstDash val="solid"/>
                      <a:round/>
                      <a:headEnd type="none" w="med" len="med"/>
                      <a:tailEnd type="none" w="med" len="med"/>
                    </a:lnB>
                    <a:solidFill>
                      <a:srgbClr val="E2E5E8"/>
                    </a:solidFill>
                  </a:tcPr>
                </a:tc>
                <a:tc>
                  <a:txBody>
                    <a:bodyPr/>
                    <a:lstStyle/>
                    <a:p>
                      <a:pPr algn="r" indent="0" marL="0">
                        <a:lnSpc>
                          <a:spcPts val="1960"/>
                        </a:lnSpc>
                        <a:buNone/>
                      </a:pPr>
                      <a:r>
                        <a:rPr lang="en-US" sz="1400" b="1" dirty="0">
                          <a:solidFill>
                            <a:srgbClr val="0B2A5B"/>
                          </a:solidFill>
                          <a:latin typeface="Public Sans" pitchFamily="34" charset="0"/>
                          <a:ea typeface="Public Sans" pitchFamily="34" charset="-122"/>
                          <a:cs typeface="Public Sans" pitchFamily="34" charset="-120"/>
                        </a:rPr>
                        <a:t>Prec.</a:t>
                      </a:r>
                      <a:endParaRPr lang="en-US" sz="1400" dirty="0">
                        <a:latin typeface="Public Sans" charset="0"/>
                        <a:ea typeface="Public Sans" charset="0"/>
                        <a:cs typeface="Public Sans" charset="0"/>
                      </a:endParaRPr>
                    </a:p>
                  </a:txBody>
                  <a:tcPr marL="62230" marR="62230" marT="62230" marB="62230" anchor="t">
                    <a:lnL w="12700" cap="flat" cmpd="sng" algn="ctr">
                      <a:solidFill>
                        <a:srgbClr val="B5B7B9"/>
                      </a:solidFill>
                      <a:prstDash val="solid"/>
                      <a:round/>
                      <a:headEnd type="none" w="med" len="med"/>
                      <a:tailEnd type="none" w="med" len="med"/>
                    </a:lnL>
                    <a:lnR w="12700" cap="flat" cmpd="sng" algn="ctr">
                      <a:solidFill>
                        <a:srgbClr val="B5B7B9"/>
                      </a:solidFill>
                      <a:prstDash val="solid"/>
                      <a:round/>
                      <a:headEnd type="none" w="med" len="med"/>
                      <a:tailEnd type="none" w="med" len="med"/>
                    </a:lnR>
                    <a:lnT w="12700" cap="flat" cmpd="sng" algn="ctr">
                      <a:solidFill>
                        <a:srgbClr val="C3C5C8"/>
                      </a:solidFill>
                      <a:prstDash val="solid"/>
                      <a:round/>
                      <a:headEnd type="none" w="med" len="med"/>
                      <a:tailEnd type="none" w="med" len="med"/>
                    </a:lnT>
                    <a:lnB w="12700" cap="flat" cmpd="sng" algn="ctr">
                      <a:solidFill>
                        <a:srgbClr val="B5B7B9"/>
                      </a:solidFill>
                      <a:prstDash val="solid"/>
                      <a:round/>
                      <a:headEnd type="none" w="med" len="med"/>
                      <a:tailEnd type="none" w="med" len="med"/>
                    </a:lnB>
                    <a:solidFill>
                      <a:srgbClr val="E2E5E8"/>
                    </a:solidFill>
                  </a:tcPr>
                </a:tc>
                <a:tc>
                  <a:txBody>
                    <a:bodyPr/>
                    <a:lstStyle/>
                    <a:p>
                      <a:pPr algn="r" indent="0" marL="0">
                        <a:lnSpc>
                          <a:spcPts val="1960"/>
                        </a:lnSpc>
                        <a:buNone/>
                      </a:pPr>
                      <a:r>
                        <a:rPr lang="en-US" sz="1400" b="1" dirty="0">
                          <a:solidFill>
                            <a:srgbClr val="0B2A5B"/>
                          </a:solidFill>
                          <a:latin typeface="Public Sans" pitchFamily="34" charset="0"/>
                          <a:ea typeface="Public Sans" pitchFamily="34" charset="-122"/>
                          <a:cs typeface="Public Sans" pitchFamily="34" charset="-120"/>
                        </a:rPr>
                        <a:t>Recall</a:t>
                      </a:r>
                      <a:endParaRPr lang="en-US" sz="1400" dirty="0">
                        <a:latin typeface="Public Sans" charset="0"/>
                        <a:ea typeface="Public Sans" charset="0"/>
                        <a:cs typeface="Public Sans" charset="0"/>
                      </a:endParaRPr>
                    </a:p>
                  </a:txBody>
                  <a:tcPr marL="62230" marR="62230" marT="62230" marB="62230" anchor="t">
                    <a:lnL w="12700" cap="flat" cmpd="sng" algn="ctr">
                      <a:solidFill>
                        <a:srgbClr val="B5B7B9"/>
                      </a:solidFill>
                      <a:prstDash val="solid"/>
                      <a:round/>
                      <a:headEnd type="none" w="med" len="med"/>
                      <a:tailEnd type="none" w="med" len="med"/>
                    </a:lnL>
                    <a:lnR w="12700" cap="flat" cmpd="sng" algn="ctr">
                      <a:solidFill>
                        <a:srgbClr val="B5B7B9"/>
                      </a:solidFill>
                      <a:prstDash val="solid"/>
                      <a:round/>
                      <a:headEnd type="none" w="med" len="med"/>
                      <a:tailEnd type="none" w="med" len="med"/>
                    </a:lnR>
                    <a:lnT w="12700" cap="flat" cmpd="sng" algn="ctr">
                      <a:solidFill>
                        <a:srgbClr val="C3C5C8"/>
                      </a:solidFill>
                      <a:prstDash val="solid"/>
                      <a:round/>
                      <a:headEnd type="none" w="med" len="med"/>
                      <a:tailEnd type="none" w="med" len="med"/>
                    </a:lnT>
                    <a:lnB w="12700" cap="flat" cmpd="sng" algn="ctr">
                      <a:solidFill>
                        <a:srgbClr val="B5B7B9"/>
                      </a:solidFill>
                      <a:prstDash val="solid"/>
                      <a:round/>
                      <a:headEnd type="none" w="med" len="med"/>
                      <a:tailEnd type="none" w="med" len="med"/>
                    </a:lnB>
                    <a:solidFill>
                      <a:srgbClr val="E2E5E8"/>
                    </a:solidFill>
                  </a:tcPr>
                </a:tc>
                <a:tc>
                  <a:txBody>
                    <a:bodyPr/>
                    <a:lstStyle/>
                    <a:p>
                      <a:pPr algn="r" indent="0" marL="0">
                        <a:lnSpc>
                          <a:spcPts val="1960"/>
                        </a:lnSpc>
                        <a:buNone/>
                      </a:pPr>
                      <a:r>
                        <a:rPr lang="en-US" sz="1400" b="1" dirty="0">
                          <a:solidFill>
                            <a:srgbClr val="0B2A5B"/>
                          </a:solidFill>
                          <a:latin typeface="Public Sans" pitchFamily="34" charset="0"/>
                          <a:ea typeface="Public Sans" pitchFamily="34" charset="-122"/>
                          <a:cs typeface="Public Sans" pitchFamily="34" charset="-120"/>
                        </a:rPr>
                        <a:t>F1</a:t>
                      </a:r>
                      <a:endParaRPr lang="en-US" sz="1400" dirty="0">
                        <a:latin typeface="Public Sans" charset="0"/>
                        <a:ea typeface="Public Sans" charset="0"/>
                        <a:cs typeface="Public Sans" charset="0"/>
                      </a:endParaRPr>
                    </a:p>
                  </a:txBody>
                  <a:tcPr marL="62230" marR="62230" marT="62230" marB="62230" anchor="t">
                    <a:lnL w="12700" cap="flat" cmpd="sng" algn="ctr">
                      <a:solidFill>
                        <a:srgbClr val="B5B7B9"/>
                      </a:solidFill>
                      <a:prstDash val="solid"/>
                      <a:round/>
                      <a:headEnd type="none" w="med" len="med"/>
                      <a:tailEnd type="none" w="med" len="med"/>
                    </a:lnL>
                    <a:lnR w="12700" cap="flat" cmpd="sng" algn="ctr">
                      <a:solidFill>
                        <a:srgbClr val="B5B7B9"/>
                      </a:solidFill>
                      <a:prstDash val="solid"/>
                      <a:round/>
                      <a:headEnd type="none" w="med" len="med"/>
                      <a:tailEnd type="none" w="med" len="med"/>
                    </a:lnR>
                    <a:lnT w="12700" cap="flat" cmpd="sng" algn="ctr">
                      <a:solidFill>
                        <a:srgbClr val="C3C5C8"/>
                      </a:solidFill>
                      <a:prstDash val="solid"/>
                      <a:round/>
                      <a:headEnd type="none" w="med" len="med"/>
                      <a:tailEnd type="none" w="med" len="med"/>
                    </a:lnT>
                    <a:lnB w="12700" cap="flat" cmpd="sng" algn="ctr">
                      <a:solidFill>
                        <a:srgbClr val="B5B7B9"/>
                      </a:solidFill>
                      <a:prstDash val="solid"/>
                      <a:round/>
                      <a:headEnd type="none" w="med" len="med"/>
                      <a:tailEnd type="none" w="med" len="med"/>
                    </a:lnB>
                    <a:solidFill>
                      <a:srgbClr val="E2E5E8"/>
                    </a:solidFill>
                  </a:tcPr>
                </a:tc>
              </a:tr>
              <a:tr h="383811">
                <a:tc>
                  <a:txBody>
                    <a:bodyPr/>
                    <a:lstStyle/>
                    <a:p>
                      <a:pPr indent="0" marL="0">
                        <a:lnSpc>
                          <a:spcPts val="1960"/>
                        </a:lnSpc>
                        <a:buNone/>
                      </a:pPr>
                      <a:r>
                        <a:rPr lang="en-US" sz="1400" dirty="0">
                          <a:solidFill>
                            <a:srgbClr val="0B2A5B"/>
                          </a:solidFill>
                          <a:latin typeface="Public Sans" pitchFamily="34" charset="0"/>
                          <a:ea typeface="Public Sans" pitchFamily="34" charset="-122"/>
                          <a:cs typeface="Public Sans" pitchFamily="34" charset="-120"/>
                        </a:rPr>
                        <a:t>Low</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3C5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5B7B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algn="r" indent="0" marL="0">
                        <a:lnSpc>
                          <a:spcPts val="1960"/>
                        </a:lnSpc>
                        <a:buNone/>
                      </a:pPr>
                      <a:r>
                        <a:rPr lang="en-US" sz="1400" dirty="0">
                          <a:solidFill>
                            <a:srgbClr val="0B2A5B"/>
                          </a:solidFill>
                          <a:latin typeface="Public Sans" pitchFamily="34" charset="0"/>
                          <a:ea typeface="Public Sans" pitchFamily="34" charset="-122"/>
                          <a:cs typeface="Public Sans" pitchFamily="34" charset="-120"/>
                        </a:rPr>
                        <a:t>0.95</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5B7B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algn="r" indent="0" marL="0">
                        <a:lnSpc>
                          <a:spcPts val="1960"/>
                        </a:lnSpc>
                        <a:buNone/>
                      </a:pPr>
                      <a:r>
                        <a:rPr lang="en-US" sz="1400" dirty="0">
                          <a:solidFill>
                            <a:srgbClr val="0B2A5B"/>
                          </a:solidFill>
                          <a:latin typeface="Public Sans" pitchFamily="34" charset="0"/>
                          <a:ea typeface="Public Sans" pitchFamily="34" charset="-122"/>
                          <a:cs typeface="Public Sans" pitchFamily="34" charset="-120"/>
                        </a:rPr>
                        <a:t>0.96</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5B7B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algn="r" indent="0" marL="0">
                        <a:lnSpc>
                          <a:spcPts val="1960"/>
                        </a:lnSpc>
                        <a:buNone/>
                      </a:pPr>
                      <a:r>
                        <a:rPr lang="en-US" sz="1400" dirty="0">
                          <a:solidFill>
                            <a:srgbClr val="0B2A5B"/>
                          </a:solidFill>
                          <a:latin typeface="Public Sans" pitchFamily="34" charset="0"/>
                          <a:ea typeface="Public Sans" pitchFamily="34" charset="-122"/>
                          <a:cs typeface="Public Sans" pitchFamily="34" charset="-120"/>
                        </a:rPr>
                        <a:t>0.95</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5B7B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83811">
                <a:tc>
                  <a:txBody>
                    <a:bodyPr/>
                    <a:lstStyle/>
                    <a:p>
                      <a:pPr indent="0" marL="0">
                        <a:lnSpc>
                          <a:spcPts val="1960"/>
                        </a:lnSpc>
                        <a:buNone/>
                      </a:pPr>
                      <a:r>
                        <a:rPr lang="en-US" sz="1400" dirty="0">
                          <a:solidFill>
                            <a:srgbClr val="0B2A5B"/>
                          </a:solidFill>
                          <a:latin typeface="Public Sans" pitchFamily="34" charset="0"/>
                          <a:ea typeface="Public Sans" pitchFamily="34" charset="-122"/>
                          <a:cs typeface="Public Sans" pitchFamily="34" charset="-120"/>
                        </a:rPr>
                        <a:t>Moderate</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3C5C8"/>
                      </a:solidFill>
                      <a:prstDash val="solid"/>
                      <a:round/>
                      <a:headEnd type="none" w="med" len="med"/>
                      <a:tailEnd type="none" w="med" len="med"/>
                    </a:lnL>
                    <a:lnR w="12700" cap="flat" cmpd="sng" algn="ctr">
                      <a:solidFill>
                        <a:srgbClr val="BBC0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C0C6"/>
                      </a:solidFill>
                      <a:prstDash val="solid"/>
                      <a:round/>
                      <a:headEnd type="none" w="med" len="med"/>
                      <a:tailEnd type="none" w="med" len="med"/>
                    </a:lnB>
                    <a:solidFill>
                      <a:srgbClr val="EAF0F9"/>
                    </a:solidFill>
                  </a:tcPr>
                </a:tc>
                <a:tc>
                  <a:txBody>
                    <a:bodyPr/>
                    <a:lstStyle/>
                    <a:p>
                      <a:pPr algn="r" indent="0" marL="0">
                        <a:lnSpc>
                          <a:spcPts val="1960"/>
                        </a:lnSpc>
                        <a:buNone/>
                      </a:pPr>
                      <a:r>
                        <a:rPr lang="en-US" sz="1400" dirty="0">
                          <a:solidFill>
                            <a:srgbClr val="0B2A5B"/>
                          </a:solidFill>
                          <a:latin typeface="Public Sans" pitchFamily="34" charset="0"/>
                          <a:ea typeface="Public Sans" pitchFamily="34" charset="-122"/>
                          <a:cs typeface="Public Sans" pitchFamily="34" charset="-120"/>
                        </a:rPr>
                        <a:t>0.90</a:t>
                      </a:r>
                      <a:endParaRPr lang="en-US" sz="1400" dirty="0">
                        <a:latin typeface="Public Sans" charset="0"/>
                        <a:ea typeface="Public Sans" charset="0"/>
                        <a:cs typeface="Public Sans" charset="0"/>
                      </a:endParaRPr>
                    </a:p>
                  </a:txBody>
                  <a:tcPr marL="62230" marR="62230" marT="62230" marB="62230" anchor="t">
                    <a:lnL w="12700" cap="flat" cmpd="sng" algn="ctr">
                      <a:solidFill>
                        <a:srgbClr val="BBC0C6"/>
                      </a:solidFill>
                      <a:prstDash val="solid"/>
                      <a:round/>
                      <a:headEnd type="none" w="med" len="med"/>
                      <a:tailEnd type="none" w="med" len="med"/>
                    </a:lnL>
                    <a:lnR w="12700" cap="flat" cmpd="sng" algn="ctr">
                      <a:solidFill>
                        <a:srgbClr val="BBC0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C0C6"/>
                      </a:solidFill>
                      <a:prstDash val="solid"/>
                      <a:round/>
                      <a:headEnd type="none" w="med" len="med"/>
                      <a:tailEnd type="none" w="med" len="med"/>
                    </a:lnB>
                    <a:solidFill>
                      <a:srgbClr val="EAF0F9"/>
                    </a:solidFill>
                  </a:tcPr>
                </a:tc>
                <a:tc>
                  <a:txBody>
                    <a:bodyPr/>
                    <a:lstStyle/>
                    <a:p>
                      <a:pPr algn="r" indent="0" marL="0">
                        <a:lnSpc>
                          <a:spcPts val="1960"/>
                        </a:lnSpc>
                        <a:buNone/>
                      </a:pPr>
                      <a:r>
                        <a:rPr lang="en-US" sz="1400" dirty="0">
                          <a:solidFill>
                            <a:srgbClr val="0B2A5B"/>
                          </a:solidFill>
                          <a:latin typeface="Public Sans" pitchFamily="34" charset="0"/>
                          <a:ea typeface="Public Sans" pitchFamily="34" charset="-122"/>
                          <a:cs typeface="Public Sans" pitchFamily="34" charset="-120"/>
                        </a:rPr>
                        <a:t>0.89</a:t>
                      </a:r>
                      <a:endParaRPr lang="en-US" sz="1400" dirty="0">
                        <a:latin typeface="Public Sans" charset="0"/>
                        <a:ea typeface="Public Sans" charset="0"/>
                        <a:cs typeface="Public Sans" charset="0"/>
                      </a:endParaRPr>
                    </a:p>
                  </a:txBody>
                  <a:tcPr marL="62230" marR="62230" marT="62230" marB="62230" anchor="t">
                    <a:lnL w="12700" cap="flat" cmpd="sng" algn="ctr">
                      <a:solidFill>
                        <a:srgbClr val="BBC0C6"/>
                      </a:solidFill>
                      <a:prstDash val="solid"/>
                      <a:round/>
                      <a:headEnd type="none" w="med" len="med"/>
                      <a:tailEnd type="none" w="med" len="med"/>
                    </a:lnL>
                    <a:lnR w="12700" cap="flat" cmpd="sng" algn="ctr">
                      <a:solidFill>
                        <a:srgbClr val="BBC0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C0C6"/>
                      </a:solidFill>
                      <a:prstDash val="solid"/>
                      <a:round/>
                      <a:headEnd type="none" w="med" len="med"/>
                      <a:tailEnd type="none" w="med" len="med"/>
                    </a:lnB>
                    <a:solidFill>
                      <a:srgbClr val="EAF0F9"/>
                    </a:solidFill>
                  </a:tcPr>
                </a:tc>
                <a:tc>
                  <a:txBody>
                    <a:bodyPr/>
                    <a:lstStyle/>
                    <a:p>
                      <a:pPr algn="r" indent="0" marL="0">
                        <a:lnSpc>
                          <a:spcPts val="1960"/>
                        </a:lnSpc>
                        <a:buNone/>
                      </a:pPr>
                      <a:r>
                        <a:rPr lang="en-US" sz="1400" dirty="0">
                          <a:solidFill>
                            <a:srgbClr val="0B2A5B"/>
                          </a:solidFill>
                          <a:latin typeface="Public Sans" pitchFamily="34" charset="0"/>
                          <a:ea typeface="Public Sans" pitchFamily="34" charset="-122"/>
                          <a:cs typeface="Public Sans" pitchFamily="34" charset="-120"/>
                        </a:rPr>
                        <a:t>0.89</a:t>
                      </a:r>
                      <a:endParaRPr lang="en-US" sz="1400" dirty="0">
                        <a:latin typeface="Public Sans" charset="0"/>
                        <a:ea typeface="Public Sans" charset="0"/>
                        <a:cs typeface="Public Sans" charset="0"/>
                      </a:endParaRPr>
                    </a:p>
                  </a:txBody>
                  <a:tcPr marL="62230" marR="62230" marT="62230" marB="62230" anchor="t">
                    <a:lnL w="12700" cap="flat" cmpd="sng" algn="ctr">
                      <a:solidFill>
                        <a:srgbClr val="BBC0C6"/>
                      </a:solidFill>
                      <a:prstDash val="solid"/>
                      <a:round/>
                      <a:headEnd type="none" w="med" len="med"/>
                      <a:tailEnd type="none" w="med" len="med"/>
                    </a:lnL>
                    <a:lnR w="12700" cap="flat" cmpd="sng" algn="ctr">
                      <a:solidFill>
                        <a:srgbClr val="BBC0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C0C6"/>
                      </a:solidFill>
                      <a:prstDash val="solid"/>
                      <a:round/>
                      <a:headEnd type="none" w="med" len="med"/>
                      <a:tailEnd type="none" w="med" len="med"/>
                    </a:lnB>
                    <a:solidFill>
                      <a:srgbClr val="EAF0F9"/>
                    </a:solidFill>
                  </a:tcPr>
                </a:tc>
              </a:tr>
              <a:tr h="383811">
                <a:tc>
                  <a:txBody>
                    <a:bodyPr/>
                    <a:lstStyle/>
                    <a:p>
                      <a:pPr indent="0" marL="0">
                        <a:lnSpc>
                          <a:spcPts val="1960"/>
                        </a:lnSpc>
                        <a:buNone/>
                      </a:pPr>
                      <a:r>
                        <a:rPr lang="en-US" sz="1400" dirty="0">
                          <a:solidFill>
                            <a:srgbClr val="0B2A5B"/>
                          </a:solidFill>
                          <a:latin typeface="Public Sans" pitchFamily="34" charset="0"/>
                          <a:ea typeface="Public Sans" pitchFamily="34" charset="-122"/>
                          <a:cs typeface="Public Sans" pitchFamily="34" charset="-120"/>
                        </a:rPr>
                        <a:t>High</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3C5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0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algn="r" indent="0" marL="0">
                        <a:lnSpc>
                          <a:spcPts val="1960"/>
                        </a:lnSpc>
                        <a:buNone/>
                      </a:pPr>
                      <a:r>
                        <a:rPr lang="en-US" sz="1400" dirty="0">
                          <a:solidFill>
                            <a:srgbClr val="0B2A5B"/>
                          </a:solidFill>
                          <a:latin typeface="Public Sans" pitchFamily="34" charset="0"/>
                          <a:ea typeface="Public Sans" pitchFamily="34" charset="-122"/>
                          <a:cs typeface="Public Sans" pitchFamily="34" charset="-120"/>
                        </a:rPr>
                        <a:t>0.89</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0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algn="r" indent="0" marL="0">
                        <a:lnSpc>
                          <a:spcPts val="1960"/>
                        </a:lnSpc>
                        <a:buNone/>
                      </a:pPr>
                      <a:r>
                        <a:rPr lang="en-US" sz="1400" dirty="0">
                          <a:solidFill>
                            <a:srgbClr val="0B2A5B"/>
                          </a:solidFill>
                          <a:latin typeface="Public Sans" pitchFamily="34" charset="0"/>
                          <a:ea typeface="Public Sans" pitchFamily="34" charset="-122"/>
                          <a:cs typeface="Public Sans" pitchFamily="34" charset="-120"/>
                        </a:rPr>
                        <a:t>0.92</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0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algn="r" indent="0" marL="0">
                        <a:lnSpc>
                          <a:spcPts val="1960"/>
                        </a:lnSpc>
                        <a:buNone/>
                      </a:pPr>
                      <a:r>
                        <a:rPr lang="en-US" sz="1400" dirty="0">
                          <a:solidFill>
                            <a:srgbClr val="0B2A5B"/>
                          </a:solidFill>
                          <a:latin typeface="Public Sans" pitchFamily="34" charset="0"/>
                          <a:ea typeface="Public Sans" pitchFamily="34" charset="-122"/>
                          <a:cs typeface="Public Sans" pitchFamily="34" charset="-120"/>
                        </a:rPr>
                        <a:t>0.90</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0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83811">
                <a:tc>
                  <a:txBody>
                    <a:bodyPr/>
                    <a:lstStyle/>
                    <a:p>
                      <a:pPr indent="0" marL="0">
                        <a:lnSpc>
                          <a:spcPts val="1960"/>
                        </a:lnSpc>
                        <a:buNone/>
                      </a:pPr>
                      <a:r>
                        <a:rPr lang="en-US" sz="1400" dirty="0">
                          <a:solidFill>
                            <a:srgbClr val="0B2A5B"/>
                          </a:solidFill>
                          <a:latin typeface="Public Sans" pitchFamily="34" charset="0"/>
                          <a:ea typeface="Public Sans" pitchFamily="34" charset="-122"/>
                          <a:cs typeface="Public Sans" pitchFamily="34" charset="-120"/>
                        </a:rPr>
                        <a:t>Critical/Urgent</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3C5C8"/>
                      </a:solidFill>
                      <a:prstDash val="solid"/>
                      <a:round/>
                      <a:headEnd type="none" w="med" len="med"/>
                      <a:tailEnd type="none" w="med" len="med"/>
                    </a:lnL>
                    <a:lnR w="12700" cap="flat" cmpd="sng" algn="ctr">
                      <a:solidFill>
                        <a:srgbClr val="BBC0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C0C6"/>
                      </a:solidFill>
                      <a:prstDash val="solid"/>
                      <a:round/>
                      <a:headEnd type="none" w="med" len="med"/>
                      <a:tailEnd type="none" w="med" len="med"/>
                    </a:lnB>
                    <a:solidFill>
                      <a:srgbClr val="EAF0F9"/>
                    </a:solidFill>
                  </a:tcPr>
                </a:tc>
                <a:tc>
                  <a:txBody>
                    <a:bodyPr/>
                    <a:lstStyle/>
                    <a:p>
                      <a:pPr algn="r" indent="0" marL="0">
                        <a:lnSpc>
                          <a:spcPts val="1960"/>
                        </a:lnSpc>
                        <a:buNone/>
                      </a:pPr>
                      <a:r>
                        <a:rPr lang="en-US" sz="1400" dirty="0">
                          <a:solidFill>
                            <a:srgbClr val="0B2A5B"/>
                          </a:solidFill>
                          <a:latin typeface="Public Sans" pitchFamily="34" charset="0"/>
                          <a:ea typeface="Public Sans" pitchFamily="34" charset="-122"/>
                          <a:cs typeface="Public Sans" pitchFamily="34" charset="-120"/>
                        </a:rPr>
                        <a:t>0.93</a:t>
                      </a:r>
                      <a:endParaRPr lang="en-US" sz="1400" dirty="0">
                        <a:latin typeface="Public Sans" charset="0"/>
                        <a:ea typeface="Public Sans" charset="0"/>
                        <a:cs typeface="Public Sans" charset="0"/>
                      </a:endParaRPr>
                    </a:p>
                  </a:txBody>
                  <a:tcPr marL="62230" marR="62230" marT="62230" marB="62230" anchor="t">
                    <a:lnL w="12700" cap="flat" cmpd="sng" algn="ctr">
                      <a:solidFill>
                        <a:srgbClr val="BBC0C6"/>
                      </a:solidFill>
                      <a:prstDash val="solid"/>
                      <a:round/>
                      <a:headEnd type="none" w="med" len="med"/>
                      <a:tailEnd type="none" w="med" len="med"/>
                    </a:lnL>
                    <a:lnR w="12700" cap="flat" cmpd="sng" algn="ctr">
                      <a:solidFill>
                        <a:srgbClr val="BBC0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C0C6"/>
                      </a:solidFill>
                      <a:prstDash val="solid"/>
                      <a:round/>
                      <a:headEnd type="none" w="med" len="med"/>
                      <a:tailEnd type="none" w="med" len="med"/>
                    </a:lnB>
                    <a:solidFill>
                      <a:srgbClr val="EAF0F9"/>
                    </a:solidFill>
                  </a:tcPr>
                </a:tc>
                <a:tc>
                  <a:txBody>
                    <a:bodyPr/>
                    <a:lstStyle/>
                    <a:p>
                      <a:pPr algn="r" indent="0" marL="0">
                        <a:lnSpc>
                          <a:spcPts val="1960"/>
                        </a:lnSpc>
                        <a:buNone/>
                      </a:pPr>
                      <a:r>
                        <a:rPr lang="en-US" sz="1400" dirty="0">
                          <a:solidFill>
                            <a:srgbClr val="0B2A5B"/>
                          </a:solidFill>
                          <a:latin typeface="Public Sans" pitchFamily="34" charset="0"/>
                          <a:ea typeface="Public Sans" pitchFamily="34" charset="-122"/>
                          <a:cs typeface="Public Sans" pitchFamily="34" charset="-120"/>
                        </a:rPr>
                        <a:t>0.97</a:t>
                      </a:r>
                      <a:endParaRPr lang="en-US" sz="1400" dirty="0">
                        <a:latin typeface="Public Sans" charset="0"/>
                        <a:ea typeface="Public Sans" charset="0"/>
                        <a:cs typeface="Public Sans" charset="0"/>
                      </a:endParaRPr>
                    </a:p>
                  </a:txBody>
                  <a:tcPr marL="62230" marR="62230" marT="62230" marB="62230" anchor="t">
                    <a:lnL w="12700" cap="flat" cmpd="sng" algn="ctr">
                      <a:solidFill>
                        <a:srgbClr val="BBC0C6"/>
                      </a:solidFill>
                      <a:prstDash val="solid"/>
                      <a:round/>
                      <a:headEnd type="none" w="med" len="med"/>
                      <a:tailEnd type="none" w="med" len="med"/>
                    </a:lnL>
                    <a:lnR w="12700" cap="flat" cmpd="sng" algn="ctr">
                      <a:solidFill>
                        <a:srgbClr val="BBC0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C0C6"/>
                      </a:solidFill>
                      <a:prstDash val="solid"/>
                      <a:round/>
                      <a:headEnd type="none" w="med" len="med"/>
                      <a:tailEnd type="none" w="med" len="med"/>
                    </a:lnB>
                    <a:solidFill>
                      <a:srgbClr val="EAF0F9"/>
                    </a:solidFill>
                  </a:tcPr>
                </a:tc>
                <a:tc>
                  <a:txBody>
                    <a:bodyPr/>
                    <a:lstStyle/>
                    <a:p>
                      <a:pPr algn="r" indent="0" marL="0">
                        <a:lnSpc>
                          <a:spcPts val="1960"/>
                        </a:lnSpc>
                        <a:buNone/>
                      </a:pPr>
                      <a:r>
                        <a:rPr lang="en-US" sz="1400" dirty="0">
                          <a:solidFill>
                            <a:srgbClr val="0B2A5B"/>
                          </a:solidFill>
                          <a:latin typeface="Public Sans" pitchFamily="34" charset="0"/>
                          <a:ea typeface="Public Sans" pitchFamily="34" charset="-122"/>
                          <a:cs typeface="Public Sans" pitchFamily="34" charset="-120"/>
                        </a:rPr>
                        <a:t>0.95</a:t>
                      </a:r>
                      <a:endParaRPr lang="en-US" sz="1400" dirty="0">
                        <a:latin typeface="Public Sans" charset="0"/>
                        <a:ea typeface="Public Sans" charset="0"/>
                        <a:cs typeface="Public Sans" charset="0"/>
                      </a:endParaRPr>
                    </a:p>
                  </a:txBody>
                  <a:tcPr marL="62230" marR="62230" marT="62230" marB="62230" anchor="t">
                    <a:lnL w="12700" cap="flat" cmpd="sng" algn="ctr">
                      <a:solidFill>
                        <a:srgbClr val="BBC0C6"/>
                      </a:solidFill>
                      <a:prstDash val="solid"/>
                      <a:round/>
                      <a:headEnd type="none" w="med" len="med"/>
                      <a:tailEnd type="none" w="med" len="med"/>
                    </a:lnL>
                    <a:lnR w="12700" cap="flat" cmpd="sng" algn="ctr">
                      <a:solidFill>
                        <a:srgbClr val="BBC0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C0C6"/>
                      </a:solidFill>
                      <a:prstDash val="solid"/>
                      <a:round/>
                      <a:headEnd type="none" w="med" len="med"/>
                      <a:tailEnd type="none" w="med" len="med"/>
                    </a:lnB>
                    <a:solidFill>
                      <a:srgbClr val="EAF0F9"/>
                    </a:solidFill>
                  </a:tcPr>
                </a:tc>
              </a:tr>
            </a:tbl>
          </a:graphicData>
        </a:graphic>
      </p:graphicFrame>
      <p:sp>
        <p:nvSpPr>
          <p:cNvPr id="6" name="Text 3"/>
          <p:cNvSpPr/>
          <p:nvPr/>
        </p:nvSpPr>
        <p:spPr>
          <a:xfrm>
            <a:off x="6248383" y="3882591"/>
            <a:ext cx="5284775" cy="282542"/>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1F7A33"/>
                </a:solidFill>
                <a:latin typeface="Public Sans" pitchFamily="34" charset="0"/>
                <a:ea typeface="Public Sans" pitchFamily="34" charset="-122"/>
                <a:cs typeface="Public Sans" pitchFamily="34" charset="-120"/>
              </a:rPr>
              <a:t>Overall F1 0.92. Recall 0.97 for Critical/Urgent.</a:t>
            </a:r>
            <a:endParaRPr lang="en-US" sz="1500" dirty="0"/>
          </a:p>
        </p:txBody>
      </p:sp>
      <p:sp>
        <p:nvSpPr>
          <p:cNvPr id="7" name="Text 4"/>
          <p:cNvSpPr/>
          <p:nvPr/>
        </p:nvSpPr>
        <p:spPr>
          <a:xfrm>
            <a:off x="812767" y="6238292"/>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A94"/>
                </a:solidFill>
                <a:latin typeface="Public Sans" pitchFamily="34" charset="0"/>
                <a:ea typeface="Public Sans" pitchFamily="34" charset="-122"/>
                <a:cs typeface="Public Sans" pitchFamily="34" charset="-120"/>
              </a:rPr>
              <a:t>FloodGuard360 · IT4010 Final Presentation</a:t>
            </a:r>
            <a:endParaRPr lang="en-US" sz="1200" dirty="0"/>
          </a:p>
        </p:txBody>
      </p:sp>
      <p:sp>
        <p:nvSpPr>
          <p:cNvPr id="8" name="Text 5"/>
          <p:cNvSpPr/>
          <p:nvPr/>
        </p:nvSpPr>
        <p:spPr>
          <a:xfrm>
            <a:off x="10566433" y="6238292"/>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A94"/>
                </a:solidFill>
                <a:latin typeface="Public Sans" pitchFamily="34" charset="0"/>
                <a:ea typeface="Public Sans" pitchFamily="34" charset="-122"/>
                <a:cs typeface="Public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812767" y="812763"/>
            <a:ext cx="10883460" cy="256497"/>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1F78C8"/>
                </a:solidFill>
                <a:latin typeface="Public Sans" pitchFamily="34" charset="0"/>
                <a:ea typeface="Public Sans" pitchFamily="34" charset="-122"/>
                <a:cs typeface="Public Sans" pitchFamily="34" charset="-120"/>
              </a:rPr>
              <a:t>MODULE 4 · RESCUE AND RELIEF</a:t>
            </a:r>
            <a:endParaRPr lang="en-US" sz="1300" dirty="0"/>
          </a:p>
        </p:txBody>
      </p:sp>
      <p:sp>
        <p:nvSpPr>
          <p:cNvPr id="3" name="Text 1"/>
          <p:cNvSpPr/>
          <p:nvPr>
            <p:ph type="title"/>
          </p:nvPr>
        </p:nvSpPr>
        <p:spPr>
          <a:xfrm>
            <a:off x="812767" y="1145394"/>
            <a:ext cx="10883460" cy="452041"/>
          </a:xfrm>
          <a:prstGeom prst="rect">
            <a:avLst/>
          </a:prstGeom>
          <a:noFill/>
          <a:ln/>
        </p:spPr>
        <p:txBody>
          <a:bodyPr wrap="square" lIns="0" tIns="0" rIns="0" bIns="0" rtlCol="0" anchor="t">
            <a:normAutofit/>
          </a:bodyPr>
          <a:lstStyle/>
          <a:p>
            <a:pPr algn="l" indent="0" marL="0">
              <a:lnSpc>
                <a:spcPts val="3360"/>
              </a:lnSpc>
              <a:buNone/>
            </a:pPr>
            <a:r>
              <a:rPr lang="en-US" sz="3000" b="1" i="0" dirty="0">
                <a:solidFill>
                  <a:srgbClr val="0B2A5B"/>
                </a:solidFill>
                <a:latin typeface="Rubik" pitchFamily="34" charset="0"/>
                <a:ea typeface="Rubik" pitchFamily="34" charset="-122"/>
                <a:cs typeface="Rubik" pitchFamily="34" charset="-120"/>
              </a:rPr>
              <a:t>One model, five priority outputs</a:t>
            </a:r>
            <a:endParaRPr lang="en-US" sz="3000" dirty="0"/>
          </a:p>
        </p:txBody>
      </p:sp>
      <p:sp>
        <p:nvSpPr>
          <p:cNvPr id="4" name="Text 2"/>
          <p:cNvSpPr/>
          <p:nvPr/>
        </p:nvSpPr>
        <p:spPr>
          <a:xfrm>
            <a:off x="890237" y="1800572"/>
            <a:ext cx="5199685" cy="2510830"/>
          </a:xfrm>
          <a:prstGeom prst="rect">
            <a:avLst/>
          </a:prstGeom>
          <a:noFill/>
          <a:ln/>
        </p:spPr>
        <p:txBody>
          <a:bodyPr wrap="square" lIns="0" tIns="0" rIns="0" bIns="0" rtlCol="0" anchor="t">
            <a:normAutofit/>
          </a:bodyPr>
          <a:lstStyle/>
          <a:p>
            <a:pPr algn="l" marL="176530" indent="-176530">
              <a:lnSpc>
                <a:spcPts val="2175"/>
              </a:lnSpc>
              <a:buSzPct val="100000"/>
              <a:buChar char="•"/>
            </a:pPr>
            <a:r>
              <a:rPr lang="en-US" sz="1500" dirty="0">
                <a:solidFill>
                  <a:srgbClr val="3A4A66"/>
                </a:solidFill>
                <a:latin typeface="Public Sans" pitchFamily="34" charset="0"/>
                <a:ea typeface="Public Sans" pitchFamily="34" charset="-122"/>
                <a:cs typeface="Public Sans" pitchFamily="34" charset="-120"/>
              </a:rPr>
              <a:t>Public users submit rescue, food, water, medical and shelter requests</a:t>
            </a:r>
            <a:endParaRPr lang="en-US" sz="1500" dirty="0"/>
          </a:p>
          <a:p>
            <a:pPr algn="l" marL="176530" indent="-176530">
              <a:lnSpc>
                <a:spcPts val="2175"/>
              </a:lnSpc>
              <a:buSzPct val="100000"/>
              <a:buChar char="•"/>
            </a:pPr>
            <a:r>
              <a:rPr lang="en-US" sz="1500" dirty="0">
                <a:solidFill>
                  <a:srgbClr val="3A4A66"/>
                </a:solidFill>
                <a:latin typeface="Public Sans" pitchFamily="34" charset="0"/>
                <a:ea typeface="Public Sans" pitchFamily="34" charset="-122"/>
                <a:cs typeface="Public Sans" pitchFamily="34" charset="-120"/>
              </a:rPr>
              <a:t>Camp records: population, vulnerable groups, stock, capacity, access, time since delivery</a:t>
            </a:r>
            <a:endParaRPr lang="en-US" sz="1500" dirty="0"/>
          </a:p>
          <a:p>
            <a:pPr algn="l" marL="176530" indent="-176530">
              <a:lnSpc>
                <a:spcPts val="2175"/>
              </a:lnSpc>
              <a:buSzPct val="100000"/>
              <a:buChar char="•"/>
            </a:pPr>
            <a:r>
              <a:rPr lang="en-US" sz="1500" dirty="0">
                <a:solidFill>
                  <a:srgbClr val="3A4A66"/>
                </a:solidFill>
                <a:latin typeface="Public Sans" pitchFamily="34" charset="0"/>
                <a:ea typeface="Public Sans" pitchFamily="34" charset="-122"/>
                <a:cs typeface="Public Sans" pitchFamily="34" charset="-120"/>
              </a:rPr>
              <a:t>Multi-Output Random Forest predicts overall and per-resource priority</a:t>
            </a:r>
            <a:endParaRPr lang="en-US" sz="1500" dirty="0"/>
          </a:p>
          <a:p>
            <a:pPr algn="l" marL="176530" indent="-176530">
              <a:lnSpc>
                <a:spcPts val="2175"/>
              </a:lnSpc>
              <a:buSzPct val="100000"/>
              <a:buChar char="•"/>
            </a:pPr>
            <a:r>
              <a:rPr lang="en-US" sz="1500" dirty="0">
                <a:solidFill>
                  <a:srgbClr val="3A4A66"/>
                </a:solidFill>
                <a:latin typeface="Public Sans" pitchFamily="34" charset="0"/>
                <a:ea typeface="Public Sans" pitchFamily="34" charset="-122"/>
                <a:cs typeface="Public Sans" pitchFamily="34" charset="-120"/>
              </a:rPr>
              <a:t>Officers review results against Sphere minimum standards before allocating</a:t>
            </a:r>
            <a:endParaRPr lang="en-US" sz="1500" dirty="0"/>
          </a:p>
          <a:p>
            <a:pPr algn="l" marL="176530" indent="-176530">
              <a:lnSpc>
                <a:spcPts val="2175"/>
              </a:lnSpc>
              <a:buSzPct val="100000"/>
              <a:buChar char="•"/>
            </a:pPr>
            <a:r>
              <a:rPr lang="en-US" sz="1500" dirty="0">
                <a:solidFill>
                  <a:srgbClr val="3A4A66"/>
                </a:solidFill>
                <a:latin typeface="Public Sans" pitchFamily="34" charset="0"/>
                <a:ea typeface="Public Sans" pitchFamily="34" charset="-122"/>
                <a:cs typeface="Public Sans" pitchFamily="34" charset="-120"/>
              </a:rPr>
              <a:t>Module 2 flags unsafe routes before dispatch</a:t>
            </a:r>
            <a:endParaRPr lang="en-US" sz="15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258967" y="1811156"/>
          <a:ext cx="5120266" cy="2302867"/>
        </p:xfrm>
        <a:graphic>
          <a:graphicData uri="http://schemas.openxmlformats.org/drawingml/2006/table">
            <a:tbl>
              <a:tblPr/>
              <a:tblGrid>
                <a:gridCol w="3072160"/>
                <a:gridCol w="1024053"/>
                <a:gridCol w="1024053"/>
              </a:tblGrid>
              <a:tr h="383811">
                <a:tc>
                  <a:txBody>
                    <a:bodyPr/>
                    <a:lstStyle/>
                    <a:p>
                      <a:pPr indent="0" marL="0">
                        <a:lnSpc>
                          <a:spcPts val="1960"/>
                        </a:lnSpc>
                        <a:buNone/>
                      </a:pPr>
                      <a:r>
                        <a:rPr lang="en-US" sz="1400" b="1" dirty="0">
                          <a:solidFill>
                            <a:srgbClr val="0B2A5B"/>
                          </a:solidFill>
                          <a:latin typeface="Public Sans" pitchFamily="34" charset="0"/>
                          <a:ea typeface="Public Sans" pitchFamily="34" charset="-122"/>
                          <a:cs typeface="Public Sans" pitchFamily="34" charset="-120"/>
                        </a:rPr>
                        <a:t>Output</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3C5C8"/>
                      </a:solidFill>
                      <a:prstDash val="solid"/>
                      <a:round/>
                      <a:headEnd type="none" w="med" len="med"/>
                      <a:tailEnd type="none" w="med" len="med"/>
                    </a:lnL>
                    <a:lnR w="12700" cap="flat" cmpd="sng" algn="ctr">
                      <a:solidFill>
                        <a:srgbClr val="B5B7B9"/>
                      </a:solidFill>
                      <a:prstDash val="solid"/>
                      <a:round/>
                      <a:headEnd type="none" w="med" len="med"/>
                      <a:tailEnd type="none" w="med" len="med"/>
                    </a:lnR>
                    <a:lnT w="12700" cap="flat" cmpd="sng" algn="ctr">
                      <a:solidFill>
                        <a:srgbClr val="C3C5C8"/>
                      </a:solidFill>
                      <a:prstDash val="solid"/>
                      <a:round/>
                      <a:headEnd type="none" w="med" len="med"/>
                      <a:tailEnd type="none" w="med" len="med"/>
                    </a:lnT>
                    <a:lnB w="12700" cap="flat" cmpd="sng" algn="ctr">
                      <a:solidFill>
                        <a:srgbClr val="B5B7B9"/>
                      </a:solidFill>
                      <a:prstDash val="solid"/>
                      <a:round/>
                      <a:headEnd type="none" w="med" len="med"/>
                      <a:tailEnd type="none" w="med" len="med"/>
                    </a:lnB>
                    <a:solidFill>
                      <a:srgbClr val="E2E5E8"/>
                    </a:solidFill>
                  </a:tcPr>
                </a:tc>
                <a:tc>
                  <a:txBody>
                    <a:bodyPr/>
                    <a:lstStyle/>
                    <a:p>
                      <a:pPr algn="r" indent="0" marL="0">
                        <a:lnSpc>
                          <a:spcPts val="1960"/>
                        </a:lnSpc>
                        <a:buNone/>
                      </a:pPr>
                      <a:r>
                        <a:rPr lang="en-US" sz="1400" b="1" dirty="0">
                          <a:solidFill>
                            <a:srgbClr val="0B2A5B"/>
                          </a:solidFill>
                          <a:latin typeface="Public Sans" pitchFamily="34" charset="0"/>
                          <a:ea typeface="Public Sans" pitchFamily="34" charset="-122"/>
                          <a:cs typeface="Public Sans" pitchFamily="34" charset="-120"/>
                        </a:rPr>
                        <a:t>Acc.</a:t>
                      </a:r>
                      <a:endParaRPr lang="en-US" sz="1400" dirty="0">
                        <a:latin typeface="Public Sans" charset="0"/>
                        <a:ea typeface="Public Sans" charset="0"/>
                        <a:cs typeface="Public Sans" charset="0"/>
                      </a:endParaRPr>
                    </a:p>
                  </a:txBody>
                  <a:tcPr marL="62230" marR="62230" marT="62230" marB="62230" anchor="t">
                    <a:lnL w="12700" cap="flat" cmpd="sng" algn="ctr">
                      <a:solidFill>
                        <a:srgbClr val="B5B7B9"/>
                      </a:solidFill>
                      <a:prstDash val="solid"/>
                      <a:round/>
                      <a:headEnd type="none" w="med" len="med"/>
                      <a:tailEnd type="none" w="med" len="med"/>
                    </a:lnL>
                    <a:lnR w="12700" cap="flat" cmpd="sng" algn="ctr">
                      <a:solidFill>
                        <a:srgbClr val="B5B7B9"/>
                      </a:solidFill>
                      <a:prstDash val="solid"/>
                      <a:round/>
                      <a:headEnd type="none" w="med" len="med"/>
                      <a:tailEnd type="none" w="med" len="med"/>
                    </a:lnR>
                    <a:lnT w="12700" cap="flat" cmpd="sng" algn="ctr">
                      <a:solidFill>
                        <a:srgbClr val="C3C5C8"/>
                      </a:solidFill>
                      <a:prstDash val="solid"/>
                      <a:round/>
                      <a:headEnd type="none" w="med" len="med"/>
                      <a:tailEnd type="none" w="med" len="med"/>
                    </a:lnT>
                    <a:lnB w="12700" cap="flat" cmpd="sng" algn="ctr">
                      <a:solidFill>
                        <a:srgbClr val="B5B7B9"/>
                      </a:solidFill>
                      <a:prstDash val="solid"/>
                      <a:round/>
                      <a:headEnd type="none" w="med" len="med"/>
                      <a:tailEnd type="none" w="med" len="med"/>
                    </a:lnB>
                    <a:solidFill>
                      <a:srgbClr val="E2E5E8"/>
                    </a:solidFill>
                  </a:tcPr>
                </a:tc>
                <a:tc>
                  <a:txBody>
                    <a:bodyPr/>
                    <a:lstStyle/>
                    <a:p>
                      <a:pPr algn="r" indent="0" marL="0">
                        <a:lnSpc>
                          <a:spcPts val="1960"/>
                        </a:lnSpc>
                        <a:buNone/>
                      </a:pPr>
                      <a:r>
                        <a:rPr lang="en-US" sz="1400" b="1" dirty="0">
                          <a:solidFill>
                            <a:srgbClr val="0B2A5B"/>
                          </a:solidFill>
                          <a:latin typeface="Public Sans" pitchFamily="34" charset="0"/>
                          <a:ea typeface="Public Sans" pitchFamily="34" charset="-122"/>
                          <a:cs typeface="Public Sans" pitchFamily="34" charset="-120"/>
                        </a:rPr>
                        <a:t>F1</a:t>
                      </a:r>
                      <a:endParaRPr lang="en-US" sz="1400" dirty="0">
                        <a:latin typeface="Public Sans" charset="0"/>
                        <a:ea typeface="Public Sans" charset="0"/>
                        <a:cs typeface="Public Sans" charset="0"/>
                      </a:endParaRPr>
                    </a:p>
                  </a:txBody>
                  <a:tcPr marL="62230" marR="62230" marT="62230" marB="62230" anchor="t">
                    <a:lnL w="12700" cap="flat" cmpd="sng" algn="ctr">
                      <a:solidFill>
                        <a:srgbClr val="B5B7B9"/>
                      </a:solidFill>
                      <a:prstDash val="solid"/>
                      <a:round/>
                      <a:headEnd type="none" w="med" len="med"/>
                      <a:tailEnd type="none" w="med" len="med"/>
                    </a:lnL>
                    <a:lnR w="12700" cap="flat" cmpd="sng" algn="ctr">
                      <a:solidFill>
                        <a:srgbClr val="B5B7B9"/>
                      </a:solidFill>
                      <a:prstDash val="solid"/>
                      <a:round/>
                      <a:headEnd type="none" w="med" len="med"/>
                      <a:tailEnd type="none" w="med" len="med"/>
                    </a:lnR>
                    <a:lnT w="12700" cap="flat" cmpd="sng" algn="ctr">
                      <a:solidFill>
                        <a:srgbClr val="C3C5C8"/>
                      </a:solidFill>
                      <a:prstDash val="solid"/>
                      <a:round/>
                      <a:headEnd type="none" w="med" len="med"/>
                      <a:tailEnd type="none" w="med" len="med"/>
                    </a:lnT>
                    <a:lnB w="12700" cap="flat" cmpd="sng" algn="ctr">
                      <a:solidFill>
                        <a:srgbClr val="B5B7B9"/>
                      </a:solidFill>
                      <a:prstDash val="solid"/>
                      <a:round/>
                      <a:headEnd type="none" w="med" len="med"/>
                      <a:tailEnd type="none" w="med" len="med"/>
                    </a:lnB>
                    <a:solidFill>
                      <a:srgbClr val="E2E5E8"/>
                    </a:solidFill>
                  </a:tcPr>
                </a:tc>
              </a:tr>
              <a:tr h="383811">
                <a:tc>
                  <a:txBody>
                    <a:bodyPr/>
                    <a:lstStyle/>
                    <a:p>
                      <a:pPr indent="0" marL="0">
                        <a:lnSpc>
                          <a:spcPts val="1960"/>
                        </a:lnSpc>
                        <a:buNone/>
                      </a:pPr>
                      <a:r>
                        <a:rPr lang="en-US" sz="1400" dirty="0">
                          <a:solidFill>
                            <a:srgbClr val="0B2A5B"/>
                          </a:solidFill>
                          <a:latin typeface="Public Sans" pitchFamily="34" charset="0"/>
                          <a:ea typeface="Public Sans" pitchFamily="34" charset="-122"/>
                          <a:cs typeface="Public Sans" pitchFamily="34" charset="-120"/>
                        </a:rPr>
                        <a:t>Overall camp priority</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3C5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5B7B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algn="r" indent="0" marL="0">
                        <a:lnSpc>
                          <a:spcPts val="1960"/>
                        </a:lnSpc>
                        <a:buNone/>
                      </a:pPr>
                      <a:r>
                        <a:rPr lang="en-US" sz="1400" dirty="0">
                          <a:solidFill>
                            <a:srgbClr val="0B2A5B"/>
                          </a:solidFill>
                          <a:latin typeface="Public Sans" pitchFamily="34" charset="0"/>
                          <a:ea typeface="Public Sans" pitchFamily="34" charset="-122"/>
                          <a:cs typeface="Public Sans" pitchFamily="34" charset="-120"/>
                        </a:rPr>
                        <a:t>0.92</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5B7B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algn="r" indent="0" marL="0">
                        <a:lnSpc>
                          <a:spcPts val="1960"/>
                        </a:lnSpc>
                        <a:buNone/>
                      </a:pPr>
                      <a:r>
                        <a:rPr lang="en-US" sz="1400" dirty="0">
                          <a:solidFill>
                            <a:srgbClr val="0B2A5B"/>
                          </a:solidFill>
                          <a:latin typeface="Public Sans" pitchFamily="34" charset="0"/>
                          <a:ea typeface="Public Sans" pitchFamily="34" charset="-122"/>
                          <a:cs typeface="Public Sans" pitchFamily="34" charset="-120"/>
                        </a:rPr>
                        <a:t>0.92</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5B7B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83811">
                <a:tc>
                  <a:txBody>
                    <a:bodyPr/>
                    <a:lstStyle/>
                    <a:p>
                      <a:pPr indent="0" marL="0">
                        <a:lnSpc>
                          <a:spcPts val="1960"/>
                        </a:lnSpc>
                        <a:buNone/>
                      </a:pPr>
                      <a:r>
                        <a:rPr lang="en-US" sz="1400" dirty="0">
                          <a:solidFill>
                            <a:srgbClr val="0B2A5B"/>
                          </a:solidFill>
                          <a:latin typeface="Public Sans" pitchFamily="34" charset="0"/>
                          <a:ea typeface="Public Sans" pitchFamily="34" charset="-122"/>
                          <a:cs typeface="Public Sans" pitchFamily="34" charset="-120"/>
                        </a:rPr>
                        <a:t>Food</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3C5C8"/>
                      </a:solidFill>
                      <a:prstDash val="solid"/>
                      <a:round/>
                      <a:headEnd type="none" w="med" len="med"/>
                      <a:tailEnd type="none" w="med" len="med"/>
                    </a:lnL>
                    <a:lnR w="12700" cap="flat" cmpd="sng" algn="ctr">
                      <a:solidFill>
                        <a:srgbClr val="BBC0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C0C6"/>
                      </a:solidFill>
                      <a:prstDash val="solid"/>
                      <a:round/>
                      <a:headEnd type="none" w="med" len="med"/>
                      <a:tailEnd type="none" w="med" len="med"/>
                    </a:lnB>
                    <a:solidFill>
                      <a:srgbClr val="EAF0F9"/>
                    </a:solidFill>
                  </a:tcPr>
                </a:tc>
                <a:tc>
                  <a:txBody>
                    <a:bodyPr/>
                    <a:lstStyle/>
                    <a:p>
                      <a:pPr algn="r" indent="0" marL="0">
                        <a:lnSpc>
                          <a:spcPts val="1960"/>
                        </a:lnSpc>
                        <a:buNone/>
                      </a:pPr>
                      <a:r>
                        <a:rPr lang="en-US" sz="1400" dirty="0">
                          <a:solidFill>
                            <a:srgbClr val="0B2A5B"/>
                          </a:solidFill>
                          <a:latin typeface="Public Sans" pitchFamily="34" charset="0"/>
                          <a:ea typeface="Public Sans" pitchFamily="34" charset="-122"/>
                          <a:cs typeface="Public Sans" pitchFamily="34" charset="-120"/>
                        </a:rPr>
                        <a:t>0.95</a:t>
                      </a:r>
                      <a:endParaRPr lang="en-US" sz="1400" dirty="0">
                        <a:latin typeface="Public Sans" charset="0"/>
                        <a:ea typeface="Public Sans" charset="0"/>
                        <a:cs typeface="Public Sans" charset="0"/>
                      </a:endParaRPr>
                    </a:p>
                  </a:txBody>
                  <a:tcPr marL="62230" marR="62230" marT="62230" marB="62230" anchor="t">
                    <a:lnL w="12700" cap="flat" cmpd="sng" algn="ctr">
                      <a:solidFill>
                        <a:srgbClr val="BBC0C6"/>
                      </a:solidFill>
                      <a:prstDash val="solid"/>
                      <a:round/>
                      <a:headEnd type="none" w="med" len="med"/>
                      <a:tailEnd type="none" w="med" len="med"/>
                    </a:lnL>
                    <a:lnR w="12700" cap="flat" cmpd="sng" algn="ctr">
                      <a:solidFill>
                        <a:srgbClr val="BBC0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C0C6"/>
                      </a:solidFill>
                      <a:prstDash val="solid"/>
                      <a:round/>
                      <a:headEnd type="none" w="med" len="med"/>
                      <a:tailEnd type="none" w="med" len="med"/>
                    </a:lnB>
                    <a:solidFill>
                      <a:srgbClr val="EAF0F9"/>
                    </a:solidFill>
                  </a:tcPr>
                </a:tc>
                <a:tc>
                  <a:txBody>
                    <a:bodyPr/>
                    <a:lstStyle/>
                    <a:p>
                      <a:pPr algn="r" indent="0" marL="0">
                        <a:lnSpc>
                          <a:spcPts val="1960"/>
                        </a:lnSpc>
                        <a:buNone/>
                      </a:pPr>
                      <a:r>
                        <a:rPr lang="en-US" sz="1400" dirty="0">
                          <a:solidFill>
                            <a:srgbClr val="0B2A5B"/>
                          </a:solidFill>
                          <a:latin typeface="Public Sans" pitchFamily="34" charset="0"/>
                          <a:ea typeface="Public Sans" pitchFamily="34" charset="-122"/>
                          <a:cs typeface="Public Sans" pitchFamily="34" charset="-120"/>
                        </a:rPr>
                        <a:t>0.95</a:t>
                      </a:r>
                      <a:endParaRPr lang="en-US" sz="1400" dirty="0">
                        <a:latin typeface="Public Sans" charset="0"/>
                        <a:ea typeface="Public Sans" charset="0"/>
                        <a:cs typeface="Public Sans" charset="0"/>
                      </a:endParaRPr>
                    </a:p>
                  </a:txBody>
                  <a:tcPr marL="62230" marR="62230" marT="62230" marB="62230" anchor="t">
                    <a:lnL w="12700" cap="flat" cmpd="sng" algn="ctr">
                      <a:solidFill>
                        <a:srgbClr val="BBC0C6"/>
                      </a:solidFill>
                      <a:prstDash val="solid"/>
                      <a:round/>
                      <a:headEnd type="none" w="med" len="med"/>
                      <a:tailEnd type="none" w="med" len="med"/>
                    </a:lnL>
                    <a:lnR w="12700" cap="flat" cmpd="sng" algn="ctr">
                      <a:solidFill>
                        <a:srgbClr val="BBC0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C0C6"/>
                      </a:solidFill>
                      <a:prstDash val="solid"/>
                      <a:round/>
                      <a:headEnd type="none" w="med" len="med"/>
                      <a:tailEnd type="none" w="med" len="med"/>
                    </a:lnB>
                    <a:solidFill>
                      <a:srgbClr val="EAF0F9"/>
                    </a:solidFill>
                  </a:tcPr>
                </a:tc>
              </a:tr>
              <a:tr h="383811">
                <a:tc>
                  <a:txBody>
                    <a:bodyPr/>
                    <a:lstStyle/>
                    <a:p>
                      <a:pPr indent="0" marL="0">
                        <a:lnSpc>
                          <a:spcPts val="1960"/>
                        </a:lnSpc>
                        <a:buNone/>
                      </a:pPr>
                      <a:r>
                        <a:rPr lang="en-US" sz="1400" dirty="0">
                          <a:solidFill>
                            <a:srgbClr val="0B2A5B"/>
                          </a:solidFill>
                          <a:latin typeface="Public Sans" pitchFamily="34" charset="0"/>
                          <a:ea typeface="Public Sans" pitchFamily="34" charset="-122"/>
                          <a:cs typeface="Public Sans" pitchFamily="34" charset="-120"/>
                        </a:rPr>
                        <a:t>Water</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3C5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0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algn="r" indent="0" marL="0">
                        <a:lnSpc>
                          <a:spcPts val="1960"/>
                        </a:lnSpc>
                        <a:buNone/>
                      </a:pPr>
                      <a:r>
                        <a:rPr lang="en-US" sz="1400" dirty="0">
                          <a:solidFill>
                            <a:srgbClr val="0B2A5B"/>
                          </a:solidFill>
                          <a:latin typeface="Public Sans" pitchFamily="34" charset="0"/>
                          <a:ea typeface="Public Sans" pitchFamily="34" charset="-122"/>
                          <a:cs typeface="Public Sans" pitchFamily="34" charset="-120"/>
                        </a:rPr>
                        <a:t>0.96</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0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algn="r" indent="0" marL="0">
                        <a:lnSpc>
                          <a:spcPts val="1960"/>
                        </a:lnSpc>
                        <a:buNone/>
                      </a:pPr>
                      <a:r>
                        <a:rPr lang="en-US" sz="1400" dirty="0">
                          <a:solidFill>
                            <a:srgbClr val="0B2A5B"/>
                          </a:solidFill>
                          <a:latin typeface="Public Sans" pitchFamily="34" charset="0"/>
                          <a:ea typeface="Public Sans" pitchFamily="34" charset="-122"/>
                          <a:cs typeface="Public Sans" pitchFamily="34" charset="-120"/>
                        </a:rPr>
                        <a:t>0.96</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0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83811">
                <a:tc>
                  <a:txBody>
                    <a:bodyPr/>
                    <a:lstStyle/>
                    <a:p>
                      <a:pPr indent="0" marL="0">
                        <a:lnSpc>
                          <a:spcPts val="1960"/>
                        </a:lnSpc>
                        <a:buNone/>
                      </a:pPr>
                      <a:r>
                        <a:rPr lang="en-US" sz="1400" dirty="0">
                          <a:solidFill>
                            <a:srgbClr val="0B2A5B"/>
                          </a:solidFill>
                          <a:latin typeface="Public Sans" pitchFamily="34" charset="0"/>
                          <a:ea typeface="Public Sans" pitchFamily="34" charset="-122"/>
                          <a:cs typeface="Public Sans" pitchFamily="34" charset="-120"/>
                        </a:rPr>
                        <a:t>Medicine</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3C5C8"/>
                      </a:solidFill>
                      <a:prstDash val="solid"/>
                      <a:round/>
                      <a:headEnd type="none" w="med" len="med"/>
                      <a:tailEnd type="none" w="med" len="med"/>
                    </a:lnL>
                    <a:lnR w="12700" cap="flat" cmpd="sng" algn="ctr">
                      <a:solidFill>
                        <a:srgbClr val="BBC0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C0C6"/>
                      </a:solidFill>
                      <a:prstDash val="solid"/>
                      <a:round/>
                      <a:headEnd type="none" w="med" len="med"/>
                      <a:tailEnd type="none" w="med" len="med"/>
                    </a:lnB>
                    <a:solidFill>
                      <a:srgbClr val="EAF0F9"/>
                    </a:solidFill>
                  </a:tcPr>
                </a:tc>
                <a:tc>
                  <a:txBody>
                    <a:bodyPr/>
                    <a:lstStyle/>
                    <a:p>
                      <a:pPr algn="r" indent="0" marL="0">
                        <a:lnSpc>
                          <a:spcPts val="1960"/>
                        </a:lnSpc>
                        <a:buNone/>
                      </a:pPr>
                      <a:r>
                        <a:rPr lang="en-US" sz="1400" dirty="0">
                          <a:solidFill>
                            <a:srgbClr val="0B2A5B"/>
                          </a:solidFill>
                          <a:latin typeface="Public Sans" pitchFamily="34" charset="0"/>
                          <a:ea typeface="Public Sans" pitchFamily="34" charset="-122"/>
                          <a:cs typeface="Public Sans" pitchFamily="34" charset="-120"/>
                        </a:rPr>
                        <a:t>0.94</a:t>
                      </a:r>
                      <a:endParaRPr lang="en-US" sz="1400" dirty="0">
                        <a:latin typeface="Public Sans" charset="0"/>
                        <a:ea typeface="Public Sans" charset="0"/>
                        <a:cs typeface="Public Sans" charset="0"/>
                      </a:endParaRPr>
                    </a:p>
                  </a:txBody>
                  <a:tcPr marL="62230" marR="62230" marT="62230" marB="62230" anchor="t">
                    <a:lnL w="12700" cap="flat" cmpd="sng" algn="ctr">
                      <a:solidFill>
                        <a:srgbClr val="BBC0C6"/>
                      </a:solidFill>
                      <a:prstDash val="solid"/>
                      <a:round/>
                      <a:headEnd type="none" w="med" len="med"/>
                      <a:tailEnd type="none" w="med" len="med"/>
                    </a:lnL>
                    <a:lnR w="12700" cap="flat" cmpd="sng" algn="ctr">
                      <a:solidFill>
                        <a:srgbClr val="BBC0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C0C6"/>
                      </a:solidFill>
                      <a:prstDash val="solid"/>
                      <a:round/>
                      <a:headEnd type="none" w="med" len="med"/>
                      <a:tailEnd type="none" w="med" len="med"/>
                    </a:lnB>
                    <a:solidFill>
                      <a:srgbClr val="EAF0F9"/>
                    </a:solidFill>
                  </a:tcPr>
                </a:tc>
                <a:tc>
                  <a:txBody>
                    <a:bodyPr/>
                    <a:lstStyle/>
                    <a:p>
                      <a:pPr algn="r" indent="0" marL="0">
                        <a:lnSpc>
                          <a:spcPts val="1960"/>
                        </a:lnSpc>
                        <a:buNone/>
                      </a:pPr>
                      <a:r>
                        <a:rPr lang="en-US" sz="1400" dirty="0">
                          <a:solidFill>
                            <a:srgbClr val="0B2A5B"/>
                          </a:solidFill>
                          <a:latin typeface="Public Sans" pitchFamily="34" charset="0"/>
                          <a:ea typeface="Public Sans" pitchFamily="34" charset="-122"/>
                          <a:cs typeface="Public Sans" pitchFamily="34" charset="-120"/>
                        </a:rPr>
                        <a:t>0.94</a:t>
                      </a:r>
                      <a:endParaRPr lang="en-US" sz="1400" dirty="0">
                        <a:latin typeface="Public Sans" charset="0"/>
                        <a:ea typeface="Public Sans" charset="0"/>
                        <a:cs typeface="Public Sans" charset="0"/>
                      </a:endParaRPr>
                    </a:p>
                  </a:txBody>
                  <a:tcPr marL="62230" marR="62230" marT="62230" marB="62230" anchor="t">
                    <a:lnL w="12700" cap="flat" cmpd="sng" algn="ctr">
                      <a:solidFill>
                        <a:srgbClr val="BBC0C6"/>
                      </a:solidFill>
                      <a:prstDash val="solid"/>
                      <a:round/>
                      <a:headEnd type="none" w="med" len="med"/>
                      <a:tailEnd type="none" w="med" len="med"/>
                    </a:lnL>
                    <a:lnR w="12700" cap="flat" cmpd="sng" algn="ctr">
                      <a:solidFill>
                        <a:srgbClr val="BBC0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C0C6"/>
                      </a:solidFill>
                      <a:prstDash val="solid"/>
                      <a:round/>
                      <a:headEnd type="none" w="med" len="med"/>
                      <a:tailEnd type="none" w="med" len="med"/>
                    </a:lnB>
                    <a:solidFill>
                      <a:srgbClr val="EAF0F9"/>
                    </a:solidFill>
                  </a:tcPr>
                </a:tc>
              </a:tr>
              <a:tr h="383811">
                <a:tc>
                  <a:txBody>
                    <a:bodyPr/>
                    <a:lstStyle/>
                    <a:p>
                      <a:pPr indent="0" marL="0">
                        <a:lnSpc>
                          <a:spcPts val="1960"/>
                        </a:lnSpc>
                        <a:buNone/>
                      </a:pPr>
                      <a:r>
                        <a:rPr lang="en-US" sz="1400" dirty="0">
                          <a:solidFill>
                            <a:srgbClr val="0B2A5B"/>
                          </a:solidFill>
                          <a:latin typeface="Public Sans" pitchFamily="34" charset="0"/>
                          <a:ea typeface="Public Sans" pitchFamily="34" charset="-122"/>
                          <a:cs typeface="Public Sans" pitchFamily="34" charset="-120"/>
                        </a:rPr>
                        <a:t>Sanitary supplies</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3C5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0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algn="r" indent="0" marL="0">
                        <a:lnSpc>
                          <a:spcPts val="1960"/>
                        </a:lnSpc>
                        <a:buNone/>
                      </a:pPr>
                      <a:r>
                        <a:rPr lang="en-US" sz="1400" dirty="0">
                          <a:solidFill>
                            <a:srgbClr val="0B2A5B"/>
                          </a:solidFill>
                          <a:latin typeface="Public Sans" pitchFamily="34" charset="0"/>
                          <a:ea typeface="Public Sans" pitchFamily="34" charset="-122"/>
                          <a:cs typeface="Public Sans" pitchFamily="34" charset="-120"/>
                        </a:rPr>
                        <a:t>0.93</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0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algn="r" indent="0" marL="0">
                        <a:lnSpc>
                          <a:spcPts val="1960"/>
                        </a:lnSpc>
                        <a:buNone/>
                      </a:pPr>
                      <a:r>
                        <a:rPr lang="en-US" sz="1400" dirty="0">
                          <a:solidFill>
                            <a:srgbClr val="0B2A5B"/>
                          </a:solidFill>
                          <a:latin typeface="Public Sans" pitchFamily="34" charset="0"/>
                          <a:ea typeface="Public Sans" pitchFamily="34" charset="-122"/>
                          <a:cs typeface="Public Sans" pitchFamily="34" charset="-120"/>
                        </a:rPr>
                        <a:t>0.93</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0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sp>
        <p:nvSpPr>
          <p:cNvPr id="6" name="Text 3"/>
          <p:cNvSpPr/>
          <p:nvPr/>
        </p:nvSpPr>
        <p:spPr>
          <a:xfrm>
            <a:off x="812767" y="6238292"/>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A94"/>
                </a:solidFill>
                <a:latin typeface="Public Sans" pitchFamily="34" charset="0"/>
                <a:ea typeface="Public Sans" pitchFamily="34" charset="-122"/>
                <a:cs typeface="Public Sans" pitchFamily="34" charset="-120"/>
              </a:rPr>
              <a:t>FloodGuard360 · IT4010 Final Presentation</a:t>
            </a:r>
            <a:endParaRPr lang="en-US" sz="1200" dirty="0"/>
          </a:p>
        </p:txBody>
      </p:sp>
      <p:sp>
        <p:nvSpPr>
          <p:cNvPr id="7" name="Text 4"/>
          <p:cNvSpPr/>
          <p:nvPr/>
        </p:nvSpPr>
        <p:spPr>
          <a:xfrm>
            <a:off x="10566433" y="6238292"/>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A94"/>
                </a:solidFill>
                <a:latin typeface="Public Sans" pitchFamily="34" charset="0"/>
                <a:ea typeface="Public Sans" pitchFamily="34" charset="-122"/>
                <a:cs typeface="Public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2A5B"/>
        </a:solidFill>
      </p:bgPr>
    </p:bg>
    <p:spTree>
      <p:nvGrpSpPr>
        <p:cNvPr id="1" name=""/>
        <p:cNvGrpSpPr/>
        <p:nvPr/>
      </p:nvGrpSpPr>
      <p:grpSpPr>
        <a:xfrm>
          <a:off x="0" y="0"/>
          <a:ext cx="0" cy="0"/>
          <a:chOff x="0" y="0"/>
          <a:chExt cx="0" cy="0"/>
        </a:xfrm>
      </p:grpSpPr>
      <p:sp>
        <p:nvSpPr>
          <p:cNvPr id="2" name="Text 0"/>
          <p:cNvSpPr/>
          <p:nvPr/>
        </p:nvSpPr>
        <p:spPr>
          <a:xfrm>
            <a:off x="812767" y="812763"/>
            <a:ext cx="10883460" cy="256497"/>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F5B82E"/>
                </a:solidFill>
                <a:latin typeface="Public Sans" pitchFamily="34" charset="0"/>
                <a:ea typeface="Public Sans" pitchFamily="34" charset="-122"/>
                <a:cs typeface="Public Sans" pitchFamily="34" charset="-120"/>
              </a:rPr>
              <a:t>RESULTS SUMMARY</a:t>
            </a:r>
            <a:endParaRPr lang="en-US" sz="1300" dirty="0"/>
          </a:p>
        </p:txBody>
      </p:sp>
      <p:sp>
        <p:nvSpPr>
          <p:cNvPr id="3" name="Text 1"/>
          <p:cNvSpPr/>
          <p:nvPr>
            <p:ph type="title"/>
          </p:nvPr>
        </p:nvSpPr>
        <p:spPr>
          <a:xfrm>
            <a:off x="812767" y="1145394"/>
            <a:ext cx="10883460" cy="480483"/>
          </a:xfrm>
          <a:prstGeom prst="rect">
            <a:avLst/>
          </a:prstGeom>
          <a:noFill/>
          <a:ln/>
        </p:spPr>
        <p:txBody>
          <a:bodyPr wrap="square" lIns="0" tIns="0" rIns="0" bIns="0" rtlCol="0" anchor="t">
            <a:normAutofit/>
          </a:bodyPr>
          <a:lstStyle/>
          <a:p>
            <a:pPr algn="l" indent="0" marL="0">
              <a:lnSpc>
                <a:spcPts val="3584"/>
              </a:lnSpc>
              <a:buNone/>
            </a:pPr>
            <a:r>
              <a:rPr lang="en-US" sz="3200" b="1" i="0" dirty="0">
                <a:solidFill>
                  <a:srgbClr val="F4F7FB"/>
                </a:solidFill>
                <a:latin typeface="Rubik" pitchFamily="34" charset="0"/>
                <a:ea typeface="Rubik" pitchFamily="34" charset="-122"/>
                <a:cs typeface="Rubik" pitchFamily="34" charset="-120"/>
              </a:rPr>
              <a:t>Every module meets its own measure</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3350" y="1865062"/>
          <a:ext cx="10555883" cy="2052588"/>
        </p:xfrm>
        <a:graphic>
          <a:graphicData uri="http://schemas.openxmlformats.org/drawingml/2006/table">
            <a:tbl>
              <a:tblPr/>
              <a:tblGrid>
                <a:gridCol w="3377882"/>
                <a:gridCol w="3589000"/>
                <a:gridCol w="3589000"/>
              </a:tblGrid>
              <a:tr h="410518">
                <a:tc>
                  <a:txBody>
                    <a:bodyPr/>
                    <a:lstStyle/>
                    <a:p>
                      <a:pPr indent="0" marL="0">
                        <a:lnSpc>
                          <a:spcPts val="2100"/>
                        </a:lnSpc>
                        <a:buNone/>
                      </a:pPr>
                      <a:r>
                        <a:rPr lang="en-US" sz="1500" b="1" dirty="0">
                          <a:solidFill>
                            <a:srgbClr val="F4F7FB"/>
                          </a:solidFill>
                          <a:latin typeface="Public Sans" pitchFamily="34" charset="0"/>
                          <a:ea typeface="Public Sans" pitchFamily="34" charset="-122"/>
                          <a:cs typeface="Public Sans" pitchFamily="34" charset="-120"/>
                        </a:rPr>
                        <a:t>Module</a:t>
                      </a:r>
                      <a:endParaRPr lang="en-US" sz="1500" dirty="0">
                        <a:latin typeface="Public Sans" charset="0"/>
                        <a:ea typeface="Public Sans" charset="0"/>
                        <a:cs typeface="Public Sans" charset="0"/>
                      </a:endParaRPr>
                    </a:p>
                  </a:txBody>
                  <a:tcPr marL="66675" marR="66675" marT="66675" marB="66675" anchor="t">
                    <a:lnL w="12700" cap="flat" cmpd="sng" algn="ctr">
                      <a:solidFill>
                        <a:srgbClr val="40587D"/>
                      </a:solidFill>
                      <a:prstDash val="solid"/>
                      <a:round/>
                      <a:headEnd type="none" w="med" len="med"/>
                      <a:tailEnd type="none" w="med" len="med"/>
                    </a:lnL>
                    <a:lnR w="12700" cap="flat" cmpd="sng" algn="ctr">
                      <a:solidFill>
                        <a:srgbClr val="4E6586"/>
                      </a:solidFill>
                      <a:prstDash val="solid"/>
                      <a:round/>
                      <a:headEnd type="none" w="med" len="med"/>
                      <a:tailEnd type="none" w="med" len="med"/>
                    </a:lnR>
                    <a:lnT w="12700" cap="flat" cmpd="sng" algn="ctr">
                      <a:solidFill>
                        <a:srgbClr val="40587D"/>
                      </a:solidFill>
                      <a:prstDash val="solid"/>
                      <a:round/>
                      <a:headEnd type="none" w="med" len="med"/>
                      <a:tailEnd type="none" w="med" len="med"/>
                    </a:lnT>
                    <a:lnB w="12700" cap="flat" cmpd="sng" algn="ctr">
                      <a:solidFill>
                        <a:srgbClr val="4E6586"/>
                      </a:solidFill>
                      <a:prstDash val="solid"/>
                      <a:round/>
                      <a:headEnd type="none" w="med" len="med"/>
                      <a:tailEnd type="none" w="med" len="med"/>
                    </a:lnB>
                    <a:solidFill>
                      <a:srgbClr val="1E3B67"/>
                    </a:solidFill>
                  </a:tcPr>
                </a:tc>
                <a:tc>
                  <a:txBody>
                    <a:bodyPr/>
                    <a:lstStyle/>
                    <a:p>
                      <a:pPr indent="0" marL="0">
                        <a:lnSpc>
                          <a:spcPts val="2100"/>
                        </a:lnSpc>
                        <a:buNone/>
                      </a:pPr>
                      <a:r>
                        <a:rPr lang="en-US" sz="1500" b="1" dirty="0">
                          <a:solidFill>
                            <a:srgbClr val="F4F7FB"/>
                          </a:solidFill>
                          <a:latin typeface="Public Sans" pitchFamily="34" charset="0"/>
                          <a:ea typeface="Public Sans" pitchFamily="34" charset="-122"/>
                          <a:cs typeface="Public Sans" pitchFamily="34" charset="-120"/>
                        </a:rPr>
                        <a:t>Method</a:t>
                      </a:r>
                      <a:endParaRPr lang="en-US" sz="1500" dirty="0">
                        <a:latin typeface="Public Sans" charset="0"/>
                        <a:ea typeface="Public Sans" charset="0"/>
                        <a:cs typeface="Public Sans" charset="0"/>
                      </a:endParaRPr>
                    </a:p>
                  </a:txBody>
                  <a:tcPr marL="66675" marR="66675" marT="66675" marB="66675" anchor="t">
                    <a:lnL w="12700" cap="flat" cmpd="sng" algn="ctr">
                      <a:solidFill>
                        <a:srgbClr val="4E6586"/>
                      </a:solidFill>
                      <a:prstDash val="solid"/>
                      <a:round/>
                      <a:headEnd type="none" w="med" len="med"/>
                      <a:tailEnd type="none" w="med" len="med"/>
                    </a:lnL>
                    <a:lnR w="12700" cap="flat" cmpd="sng" algn="ctr">
                      <a:solidFill>
                        <a:srgbClr val="4E6586"/>
                      </a:solidFill>
                      <a:prstDash val="solid"/>
                      <a:round/>
                      <a:headEnd type="none" w="med" len="med"/>
                      <a:tailEnd type="none" w="med" len="med"/>
                    </a:lnR>
                    <a:lnT w="12700" cap="flat" cmpd="sng" algn="ctr">
                      <a:solidFill>
                        <a:srgbClr val="40587D"/>
                      </a:solidFill>
                      <a:prstDash val="solid"/>
                      <a:round/>
                      <a:headEnd type="none" w="med" len="med"/>
                      <a:tailEnd type="none" w="med" len="med"/>
                    </a:lnT>
                    <a:lnB w="12700" cap="flat" cmpd="sng" algn="ctr">
                      <a:solidFill>
                        <a:srgbClr val="4E6586"/>
                      </a:solidFill>
                      <a:prstDash val="solid"/>
                      <a:round/>
                      <a:headEnd type="none" w="med" len="med"/>
                      <a:tailEnd type="none" w="med" len="med"/>
                    </a:lnB>
                    <a:solidFill>
                      <a:srgbClr val="1E3B67"/>
                    </a:solidFill>
                  </a:tcPr>
                </a:tc>
                <a:tc>
                  <a:txBody>
                    <a:bodyPr/>
                    <a:lstStyle/>
                    <a:p>
                      <a:pPr indent="0" marL="0">
                        <a:lnSpc>
                          <a:spcPts val="2100"/>
                        </a:lnSpc>
                        <a:buNone/>
                      </a:pPr>
                      <a:r>
                        <a:rPr lang="en-US" sz="1500" b="1" dirty="0">
                          <a:solidFill>
                            <a:srgbClr val="F4F7FB"/>
                          </a:solidFill>
                          <a:latin typeface="Public Sans" pitchFamily="34" charset="0"/>
                          <a:ea typeface="Public Sans" pitchFamily="34" charset="-122"/>
                          <a:cs typeface="Public Sans" pitchFamily="34" charset="-120"/>
                        </a:rPr>
                        <a:t>Result</a:t>
                      </a:r>
                      <a:endParaRPr lang="en-US" sz="1500" dirty="0">
                        <a:latin typeface="Public Sans" charset="0"/>
                        <a:ea typeface="Public Sans" charset="0"/>
                        <a:cs typeface="Public Sans" charset="0"/>
                      </a:endParaRPr>
                    </a:p>
                  </a:txBody>
                  <a:tcPr marL="66675" marR="66675" marT="66675" marB="66675" anchor="t">
                    <a:lnL w="12700" cap="flat" cmpd="sng" algn="ctr">
                      <a:solidFill>
                        <a:srgbClr val="4E6586"/>
                      </a:solidFill>
                      <a:prstDash val="solid"/>
                      <a:round/>
                      <a:headEnd type="none" w="med" len="med"/>
                      <a:tailEnd type="none" w="med" len="med"/>
                    </a:lnL>
                    <a:lnR w="12700" cap="flat" cmpd="sng" algn="ctr">
                      <a:solidFill>
                        <a:srgbClr val="4E6586"/>
                      </a:solidFill>
                      <a:prstDash val="solid"/>
                      <a:round/>
                      <a:headEnd type="none" w="med" len="med"/>
                      <a:tailEnd type="none" w="med" len="med"/>
                    </a:lnR>
                    <a:lnT w="12700" cap="flat" cmpd="sng" algn="ctr">
                      <a:solidFill>
                        <a:srgbClr val="40587D"/>
                      </a:solidFill>
                      <a:prstDash val="solid"/>
                      <a:round/>
                      <a:headEnd type="none" w="med" len="med"/>
                      <a:tailEnd type="none" w="med" len="med"/>
                    </a:lnT>
                    <a:lnB w="12700" cap="flat" cmpd="sng" algn="ctr">
                      <a:solidFill>
                        <a:srgbClr val="4E6586"/>
                      </a:solidFill>
                      <a:prstDash val="solid"/>
                      <a:round/>
                      <a:headEnd type="none" w="med" len="med"/>
                      <a:tailEnd type="none" w="med" len="med"/>
                    </a:lnB>
                    <a:solidFill>
                      <a:srgbClr val="1E3B67"/>
                    </a:solidFill>
                  </a:tcPr>
                </a:tc>
              </a:tr>
              <a:tr h="410518">
                <a:tc>
                  <a:txBody>
                    <a:bodyPr/>
                    <a:lstStyle/>
                    <a:p>
                      <a:pPr indent="0" marL="0">
                        <a:lnSpc>
                          <a:spcPts val="2100"/>
                        </a:lnSpc>
                        <a:buNone/>
                      </a:pPr>
                      <a:r>
                        <a:rPr lang="en-US" sz="1500" dirty="0">
                          <a:solidFill>
                            <a:srgbClr val="F4F7FB"/>
                          </a:solidFill>
                          <a:latin typeface="Public Sans" pitchFamily="34" charset="0"/>
                          <a:ea typeface="Public Sans" pitchFamily="34" charset="-122"/>
                          <a:cs typeface="Public Sans" pitchFamily="34" charset="-120"/>
                        </a:rPr>
                        <a:t>Flood-risk prediction</a:t>
                      </a:r>
                      <a:endParaRPr lang="en-US" sz="1500" dirty="0">
                        <a:latin typeface="Public Sans" charset="0"/>
                        <a:ea typeface="Public Sans" charset="0"/>
                        <a:cs typeface="Public Sans" charset="0"/>
                      </a:endParaRPr>
                    </a:p>
                  </a:txBody>
                  <a:tcPr marL="66675" marR="66675" marT="66675" marB="66675" anchor="t">
                    <a:lnL w="12700" cap="flat" cmpd="sng" algn="ctr">
                      <a:solidFill>
                        <a:srgbClr val="40587D"/>
                      </a:solidFill>
                      <a:prstDash val="solid"/>
                      <a:round/>
                      <a:headEnd type="none" w="med" len="med"/>
                      <a:tailEnd type="none" w="med" len="med"/>
                    </a:lnL>
                    <a:lnR w="12700" cap="flat" cmpd="sng" algn="ctr">
                      <a:solidFill>
                        <a:srgbClr val="476395"/>
                      </a:solidFill>
                      <a:prstDash val="solid"/>
                      <a:round/>
                      <a:headEnd type="none" w="med" len="med"/>
                      <a:tailEnd type="none" w="med" len="med"/>
                    </a:lnR>
                    <a:lnT w="12700" cap="flat" cmpd="sng" algn="ctr">
                      <a:solidFill>
                        <a:srgbClr val="4E6586"/>
                      </a:solidFill>
                      <a:prstDash val="solid"/>
                      <a:round/>
                      <a:headEnd type="none" w="med" len="med"/>
                      <a:tailEnd type="none" w="med" len="med"/>
                    </a:lnT>
                    <a:lnB w="12700" cap="flat" cmpd="sng" algn="ctr">
                      <a:solidFill>
                        <a:srgbClr val="476395"/>
                      </a:solidFill>
                      <a:prstDash val="solid"/>
                      <a:round/>
                      <a:headEnd type="none" w="med" len="med"/>
                      <a:tailEnd type="none" w="med" len="med"/>
                    </a:lnB>
                    <a:solidFill>
                      <a:srgbClr val="14397A"/>
                    </a:solidFill>
                  </a:tcPr>
                </a:tc>
                <a:tc>
                  <a:txBody>
                    <a:bodyPr/>
                    <a:lstStyle/>
                    <a:p>
                      <a:pPr indent="0" marL="0">
                        <a:lnSpc>
                          <a:spcPts val="2100"/>
                        </a:lnSpc>
                        <a:buNone/>
                      </a:pPr>
                      <a:r>
                        <a:rPr lang="en-US" sz="1500" dirty="0">
                          <a:solidFill>
                            <a:srgbClr val="F4F7FB"/>
                          </a:solidFill>
                          <a:latin typeface="Public Sans" pitchFamily="34" charset="0"/>
                          <a:ea typeface="Public Sans" pitchFamily="34" charset="-122"/>
                          <a:cs typeface="Public Sans" pitchFamily="34" charset="-120"/>
                        </a:rPr>
                        <a:t>Random Forest, Gradient Boosting</a:t>
                      </a:r>
                      <a:endParaRPr lang="en-US" sz="1500" dirty="0">
                        <a:latin typeface="Public Sans" charset="0"/>
                        <a:ea typeface="Public Sans" charset="0"/>
                        <a:cs typeface="Public Sans" charset="0"/>
                      </a:endParaRPr>
                    </a:p>
                  </a:txBody>
                  <a:tcPr marL="66675" marR="66675" marT="66675" marB="66675" anchor="t">
                    <a:lnL w="12700" cap="flat" cmpd="sng" algn="ctr">
                      <a:solidFill>
                        <a:srgbClr val="476395"/>
                      </a:solidFill>
                      <a:prstDash val="solid"/>
                      <a:round/>
                      <a:headEnd type="none" w="med" len="med"/>
                      <a:tailEnd type="none" w="med" len="med"/>
                    </a:lnL>
                    <a:lnR w="12700" cap="flat" cmpd="sng" algn="ctr">
                      <a:solidFill>
                        <a:srgbClr val="476395"/>
                      </a:solidFill>
                      <a:prstDash val="solid"/>
                      <a:round/>
                      <a:headEnd type="none" w="med" len="med"/>
                      <a:tailEnd type="none" w="med" len="med"/>
                    </a:lnR>
                    <a:lnT w="12700" cap="flat" cmpd="sng" algn="ctr">
                      <a:solidFill>
                        <a:srgbClr val="4E6586"/>
                      </a:solidFill>
                      <a:prstDash val="solid"/>
                      <a:round/>
                      <a:headEnd type="none" w="med" len="med"/>
                      <a:tailEnd type="none" w="med" len="med"/>
                    </a:lnT>
                    <a:lnB w="12700" cap="flat" cmpd="sng" algn="ctr">
                      <a:solidFill>
                        <a:srgbClr val="476395"/>
                      </a:solidFill>
                      <a:prstDash val="solid"/>
                      <a:round/>
                      <a:headEnd type="none" w="med" len="med"/>
                      <a:tailEnd type="none" w="med" len="med"/>
                    </a:lnB>
                    <a:solidFill>
                      <a:srgbClr val="14397A"/>
                    </a:solidFill>
                  </a:tcPr>
                </a:tc>
                <a:tc>
                  <a:txBody>
                    <a:bodyPr/>
                    <a:lstStyle/>
                    <a:p>
                      <a:pPr indent="0" marL="0">
                        <a:lnSpc>
                          <a:spcPts val="2100"/>
                        </a:lnSpc>
                        <a:buNone/>
                      </a:pPr>
                      <a:r>
                        <a:rPr lang="en-US" sz="1500" dirty="0">
                          <a:solidFill>
                            <a:srgbClr val="F4F7FB"/>
                          </a:solidFill>
                          <a:latin typeface="Public Sans" pitchFamily="34" charset="0"/>
                          <a:ea typeface="Public Sans" pitchFamily="34" charset="-122"/>
                          <a:cs typeface="Public Sans" pitchFamily="34" charset="-120"/>
                        </a:rPr>
                        <a:t>Accuracy and F1 1.00</a:t>
                      </a:r>
                      <a:endParaRPr lang="en-US" sz="1500" dirty="0">
                        <a:latin typeface="Public Sans" charset="0"/>
                        <a:ea typeface="Public Sans" charset="0"/>
                        <a:cs typeface="Public Sans" charset="0"/>
                      </a:endParaRPr>
                    </a:p>
                  </a:txBody>
                  <a:tcPr marL="66675" marR="66675" marT="66675" marB="66675" anchor="t">
                    <a:lnL w="12700" cap="flat" cmpd="sng" algn="ctr">
                      <a:solidFill>
                        <a:srgbClr val="476395"/>
                      </a:solidFill>
                      <a:prstDash val="solid"/>
                      <a:round/>
                      <a:headEnd type="none" w="med" len="med"/>
                      <a:tailEnd type="none" w="med" len="med"/>
                    </a:lnL>
                    <a:lnR w="12700" cap="flat" cmpd="sng" algn="ctr">
                      <a:solidFill>
                        <a:srgbClr val="476395"/>
                      </a:solidFill>
                      <a:prstDash val="solid"/>
                      <a:round/>
                      <a:headEnd type="none" w="med" len="med"/>
                      <a:tailEnd type="none" w="med" len="med"/>
                    </a:lnR>
                    <a:lnT w="12700" cap="flat" cmpd="sng" algn="ctr">
                      <a:solidFill>
                        <a:srgbClr val="4E6586"/>
                      </a:solidFill>
                      <a:prstDash val="solid"/>
                      <a:round/>
                      <a:headEnd type="none" w="med" len="med"/>
                      <a:tailEnd type="none" w="med" len="med"/>
                    </a:lnT>
                    <a:lnB w="12700" cap="flat" cmpd="sng" algn="ctr">
                      <a:solidFill>
                        <a:srgbClr val="476395"/>
                      </a:solidFill>
                      <a:prstDash val="solid"/>
                      <a:round/>
                      <a:headEnd type="none" w="med" len="med"/>
                      <a:tailEnd type="none" w="med" len="med"/>
                    </a:lnB>
                    <a:solidFill>
                      <a:srgbClr val="14397A"/>
                    </a:solidFill>
                  </a:tcPr>
                </a:tc>
              </a:tr>
              <a:tr h="410518">
                <a:tc>
                  <a:txBody>
                    <a:bodyPr/>
                    <a:lstStyle/>
                    <a:p>
                      <a:pPr indent="0" marL="0">
                        <a:lnSpc>
                          <a:spcPts val="2100"/>
                        </a:lnSpc>
                        <a:buNone/>
                      </a:pPr>
                      <a:r>
                        <a:rPr lang="en-US" sz="1500" dirty="0">
                          <a:solidFill>
                            <a:srgbClr val="F4F7FB"/>
                          </a:solidFill>
                          <a:latin typeface="Public Sans" pitchFamily="34" charset="0"/>
                          <a:ea typeface="Public Sans" pitchFamily="34" charset="-122"/>
                          <a:cs typeface="Public Sans" pitchFamily="34" charset="-120"/>
                        </a:rPr>
                        <a:t>Drainage monitoring</a:t>
                      </a:r>
                      <a:endParaRPr lang="en-US" sz="1500" dirty="0">
                        <a:latin typeface="Public Sans" charset="0"/>
                        <a:ea typeface="Public Sans" charset="0"/>
                        <a:cs typeface="Public Sans" charset="0"/>
                      </a:endParaRPr>
                    </a:p>
                  </a:txBody>
                  <a:tcPr marL="66675" marR="66675" marT="66675" marB="66675" anchor="t">
                    <a:lnL w="12700" cap="flat" cmpd="sng" algn="ctr">
                      <a:solidFill>
                        <a:srgbClr val="40587D"/>
                      </a:solidFill>
                      <a:prstDash val="solid"/>
                      <a:round/>
                      <a:headEnd type="none" w="med" len="med"/>
                      <a:tailEnd type="none" w="med" len="med"/>
                    </a:lnL>
                    <a:lnR w="12700" cap="flat" cmpd="sng" algn="ctr">
                      <a:solidFill>
                        <a:srgbClr val="435D8D"/>
                      </a:solidFill>
                      <a:prstDash val="solid"/>
                      <a:round/>
                      <a:headEnd type="none" w="med" len="med"/>
                      <a:tailEnd type="none" w="med" len="med"/>
                    </a:lnR>
                    <a:lnT w="12700" cap="flat" cmpd="sng" algn="ctr">
                      <a:solidFill>
                        <a:srgbClr val="476395"/>
                      </a:solidFill>
                      <a:prstDash val="solid"/>
                      <a:round/>
                      <a:headEnd type="none" w="med" len="med"/>
                      <a:tailEnd type="none" w="med" len="med"/>
                    </a:lnT>
                    <a:lnB w="12700" cap="flat" cmpd="sng" algn="ctr">
                      <a:solidFill>
                        <a:srgbClr val="435D8D"/>
                      </a:solidFill>
                      <a:prstDash val="solid"/>
                      <a:round/>
                      <a:headEnd type="none" w="med" len="med"/>
                      <a:tailEnd type="none" w="med" len="med"/>
                    </a:lnB>
                    <a:solidFill>
                      <a:srgbClr val="0F3170"/>
                    </a:solidFill>
                  </a:tcPr>
                </a:tc>
                <a:tc>
                  <a:txBody>
                    <a:bodyPr/>
                    <a:lstStyle/>
                    <a:p>
                      <a:pPr indent="0" marL="0">
                        <a:lnSpc>
                          <a:spcPts val="2100"/>
                        </a:lnSpc>
                        <a:buNone/>
                      </a:pPr>
                      <a:r>
                        <a:rPr lang="en-US" sz="1500" dirty="0">
                          <a:solidFill>
                            <a:srgbClr val="F4F7FB"/>
                          </a:solidFill>
                          <a:latin typeface="Public Sans" pitchFamily="34" charset="0"/>
                          <a:ea typeface="Public Sans" pitchFamily="34" charset="-122"/>
                          <a:cs typeface="Public Sans" pitchFamily="34" charset="-120"/>
                        </a:rPr>
                        <a:t>Ultrasonic + Gradient Boosting</a:t>
                      </a:r>
                      <a:endParaRPr lang="en-US" sz="1500" dirty="0">
                        <a:latin typeface="Public Sans" charset="0"/>
                        <a:ea typeface="Public Sans" charset="0"/>
                        <a:cs typeface="Public Sans" charset="0"/>
                      </a:endParaRPr>
                    </a:p>
                  </a:txBody>
                  <a:tcPr marL="66675" marR="66675" marT="66675" marB="66675" anchor="t">
                    <a:lnL w="12700" cap="flat" cmpd="sng" algn="ctr">
                      <a:solidFill>
                        <a:srgbClr val="435D8D"/>
                      </a:solidFill>
                      <a:prstDash val="solid"/>
                      <a:round/>
                      <a:headEnd type="none" w="med" len="med"/>
                      <a:tailEnd type="none" w="med" len="med"/>
                    </a:lnL>
                    <a:lnR w="12700" cap="flat" cmpd="sng" algn="ctr">
                      <a:solidFill>
                        <a:srgbClr val="435D8D"/>
                      </a:solidFill>
                      <a:prstDash val="solid"/>
                      <a:round/>
                      <a:headEnd type="none" w="med" len="med"/>
                      <a:tailEnd type="none" w="med" len="med"/>
                    </a:lnR>
                    <a:lnT w="12700" cap="flat" cmpd="sng" algn="ctr">
                      <a:solidFill>
                        <a:srgbClr val="476395"/>
                      </a:solidFill>
                      <a:prstDash val="solid"/>
                      <a:round/>
                      <a:headEnd type="none" w="med" len="med"/>
                      <a:tailEnd type="none" w="med" len="med"/>
                    </a:lnT>
                    <a:lnB w="12700" cap="flat" cmpd="sng" algn="ctr">
                      <a:solidFill>
                        <a:srgbClr val="435D8D"/>
                      </a:solidFill>
                      <a:prstDash val="solid"/>
                      <a:round/>
                      <a:headEnd type="none" w="med" len="med"/>
                      <a:tailEnd type="none" w="med" len="med"/>
                    </a:lnB>
                    <a:solidFill>
                      <a:srgbClr val="0F3170"/>
                    </a:solidFill>
                  </a:tcPr>
                </a:tc>
                <a:tc>
                  <a:txBody>
                    <a:bodyPr/>
                    <a:lstStyle/>
                    <a:p>
                      <a:pPr indent="0" marL="0">
                        <a:lnSpc>
                          <a:spcPts val="2100"/>
                        </a:lnSpc>
                        <a:buNone/>
                      </a:pPr>
                      <a:r>
                        <a:rPr lang="en-US" sz="1500" dirty="0">
                          <a:solidFill>
                            <a:srgbClr val="F4F7FB"/>
                          </a:solidFill>
                          <a:latin typeface="Public Sans" pitchFamily="34" charset="0"/>
                          <a:ea typeface="Public Sans" pitchFamily="34" charset="-122"/>
                          <a:cs typeface="Public Sans" pitchFamily="34" charset="-120"/>
                        </a:rPr>
                        <a:t>RMSE 0.15 m, 94% detected</a:t>
                      </a:r>
                      <a:endParaRPr lang="en-US" sz="1500" dirty="0">
                        <a:latin typeface="Public Sans" charset="0"/>
                        <a:ea typeface="Public Sans" charset="0"/>
                        <a:cs typeface="Public Sans" charset="0"/>
                      </a:endParaRPr>
                    </a:p>
                  </a:txBody>
                  <a:tcPr marL="66675" marR="66675" marT="66675" marB="66675" anchor="t">
                    <a:lnL w="12700" cap="flat" cmpd="sng" algn="ctr">
                      <a:solidFill>
                        <a:srgbClr val="435D8D"/>
                      </a:solidFill>
                      <a:prstDash val="solid"/>
                      <a:round/>
                      <a:headEnd type="none" w="med" len="med"/>
                      <a:tailEnd type="none" w="med" len="med"/>
                    </a:lnL>
                    <a:lnR w="12700" cap="flat" cmpd="sng" algn="ctr">
                      <a:solidFill>
                        <a:srgbClr val="435D8D"/>
                      </a:solidFill>
                      <a:prstDash val="solid"/>
                      <a:round/>
                      <a:headEnd type="none" w="med" len="med"/>
                      <a:tailEnd type="none" w="med" len="med"/>
                    </a:lnR>
                    <a:lnT w="12700" cap="flat" cmpd="sng" algn="ctr">
                      <a:solidFill>
                        <a:srgbClr val="476395"/>
                      </a:solidFill>
                      <a:prstDash val="solid"/>
                      <a:round/>
                      <a:headEnd type="none" w="med" len="med"/>
                      <a:tailEnd type="none" w="med" len="med"/>
                    </a:lnT>
                    <a:lnB w="12700" cap="flat" cmpd="sng" algn="ctr">
                      <a:solidFill>
                        <a:srgbClr val="435D8D"/>
                      </a:solidFill>
                      <a:prstDash val="solid"/>
                      <a:round/>
                      <a:headEnd type="none" w="med" len="med"/>
                      <a:tailEnd type="none" w="med" len="med"/>
                    </a:lnB>
                    <a:solidFill>
                      <a:srgbClr val="0F3170"/>
                    </a:solidFill>
                  </a:tcPr>
                </a:tc>
              </a:tr>
              <a:tr h="410518">
                <a:tc>
                  <a:txBody>
                    <a:bodyPr/>
                    <a:lstStyle/>
                    <a:p>
                      <a:pPr indent="0" marL="0">
                        <a:lnSpc>
                          <a:spcPts val="2100"/>
                        </a:lnSpc>
                        <a:buNone/>
                      </a:pPr>
                      <a:r>
                        <a:rPr lang="en-US" sz="1500" dirty="0">
                          <a:solidFill>
                            <a:srgbClr val="F4F7FB"/>
                          </a:solidFill>
                          <a:latin typeface="Public Sans" pitchFamily="34" charset="0"/>
                          <a:ea typeface="Public Sans" pitchFamily="34" charset="-122"/>
                          <a:cs typeface="Public Sans" pitchFamily="34" charset="-120"/>
                        </a:rPr>
                        <a:t>Health screening</a:t>
                      </a:r>
                      <a:endParaRPr lang="en-US" sz="1500" dirty="0">
                        <a:latin typeface="Public Sans" charset="0"/>
                        <a:ea typeface="Public Sans" charset="0"/>
                        <a:cs typeface="Public Sans" charset="0"/>
                      </a:endParaRPr>
                    </a:p>
                  </a:txBody>
                  <a:tcPr marL="66675" marR="66675" marT="66675" marB="66675" anchor="t">
                    <a:lnL w="12700" cap="flat" cmpd="sng" algn="ctr">
                      <a:solidFill>
                        <a:srgbClr val="40587D"/>
                      </a:solidFill>
                      <a:prstDash val="solid"/>
                      <a:round/>
                      <a:headEnd type="none" w="med" len="med"/>
                      <a:tailEnd type="none" w="med" len="med"/>
                    </a:lnL>
                    <a:lnR w="12700" cap="flat" cmpd="sng" algn="ctr">
                      <a:solidFill>
                        <a:srgbClr val="476395"/>
                      </a:solidFill>
                      <a:prstDash val="solid"/>
                      <a:round/>
                      <a:headEnd type="none" w="med" len="med"/>
                      <a:tailEnd type="none" w="med" len="med"/>
                    </a:lnR>
                    <a:lnT w="12700" cap="flat" cmpd="sng" algn="ctr">
                      <a:solidFill>
                        <a:srgbClr val="435D8D"/>
                      </a:solidFill>
                      <a:prstDash val="solid"/>
                      <a:round/>
                      <a:headEnd type="none" w="med" len="med"/>
                      <a:tailEnd type="none" w="med" len="med"/>
                    </a:lnT>
                    <a:lnB w="12700" cap="flat" cmpd="sng" algn="ctr">
                      <a:solidFill>
                        <a:srgbClr val="476395"/>
                      </a:solidFill>
                      <a:prstDash val="solid"/>
                      <a:round/>
                      <a:headEnd type="none" w="med" len="med"/>
                      <a:tailEnd type="none" w="med" len="med"/>
                    </a:lnB>
                    <a:solidFill>
                      <a:srgbClr val="14397A"/>
                    </a:solidFill>
                  </a:tcPr>
                </a:tc>
                <a:tc>
                  <a:txBody>
                    <a:bodyPr/>
                    <a:lstStyle/>
                    <a:p>
                      <a:pPr indent="0" marL="0">
                        <a:lnSpc>
                          <a:spcPts val="2100"/>
                        </a:lnSpc>
                        <a:buNone/>
                      </a:pPr>
                      <a:r>
                        <a:rPr lang="en-US" sz="1500" dirty="0">
                          <a:solidFill>
                            <a:srgbClr val="F4F7FB"/>
                          </a:solidFill>
                          <a:latin typeface="Public Sans" pitchFamily="34" charset="0"/>
                          <a:ea typeface="Public Sans" pitchFamily="34" charset="-122"/>
                          <a:cs typeface="Public Sans" pitchFamily="34" charset="-120"/>
                        </a:rPr>
                        <a:t>Rules + ML</a:t>
                      </a:r>
                      <a:endParaRPr lang="en-US" sz="1500" dirty="0">
                        <a:latin typeface="Public Sans" charset="0"/>
                        <a:ea typeface="Public Sans" charset="0"/>
                        <a:cs typeface="Public Sans" charset="0"/>
                      </a:endParaRPr>
                    </a:p>
                  </a:txBody>
                  <a:tcPr marL="66675" marR="66675" marT="66675" marB="66675" anchor="t">
                    <a:lnL w="12700" cap="flat" cmpd="sng" algn="ctr">
                      <a:solidFill>
                        <a:srgbClr val="476395"/>
                      </a:solidFill>
                      <a:prstDash val="solid"/>
                      <a:round/>
                      <a:headEnd type="none" w="med" len="med"/>
                      <a:tailEnd type="none" w="med" len="med"/>
                    </a:lnL>
                    <a:lnR w="12700" cap="flat" cmpd="sng" algn="ctr">
                      <a:solidFill>
                        <a:srgbClr val="476395"/>
                      </a:solidFill>
                      <a:prstDash val="solid"/>
                      <a:round/>
                      <a:headEnd type="none" w="med" len="med"/>
                      <a:tailEnd type="none" w="med" len="med"/>
                    </a:lnR>
                    <a:lnT w="12700" cap="flat" cmpd="sng" algn="ctr">
                      <a:solidFill>
                        <a:srgbClr val="435D8D"/>
                      </a:solidFill>
                      <a:prstDash val="solid"/>
                      <a:round/>
                      <a:headEnd type="none" w="med" len="med"/>
                      <a:tailEnd type="none" w="med" len="med"/>
                    </a:lnT>
                    <a:lnB w="12700" cap="flat" cmpd="sng" algn="ctr">
                      <a:solidFill>
                        <a:srgbClr val="476395"/>
                      </a:solidFill>
                      <a:prstDash val="solid"/>
                      <a:round/>
                      <a:headEnd type="none" w="med" len="med"/>
                      <a:tailEnd type="none" w="med" len="med"/>
                    </a:lnB>
                    <a:solidFill>
                      <a:srgbClr val="14397A"/>
                    </a:solidFill>
                  </a:tcPr>
                </a:tc>
                <a:tc>
                  <a:txBody>
                    <a:bodyPr/>
                    <a:lstStyle/>
                    <a:p>
                      <a:pPr indent="0" marL="0">
                        <a:lnSpc>
                          <a:spcPts val="2100"/>
                        </a:lnSpc>
                        <a:buNone/>
                      </a:pPr>
                      <a:r>
                        <a:rPr lang="en-US" sz="1500" dirty="0">
                          <a:solidFill>
                            <a:srgbClr val="F4F7FB"/>
                          </a:solidFill>
                          <a:latin typeface="Public Sans" pitchFamily="34" charset="0"/>
                          <a:ea typeface="Public Sans" pitchFamily="34" charset="-122"/>
                          <a:cs typeface="Public Sans" pitchFamily="34" charset="-120"/>
                        </a:rPr>
                        <a:t>Overall F1 0.92</a:t>
                      </a:r>
                      <a:endParaRPr lang="en-US" sz="1500" dirty="0">
                        <a:latin typeface="Public Sans" charset="0"/>
                        <a:ea typeface="Public Sans" charset="0"/>
                        <a:cs typeface="Public Sans" charset="0"/>
                      </a:endParaRPr>
                    </a:p>
                  </a:txBody>
                  <a:tcPr marL="66675" marR="66675" marT="66675" marB="66675" anchor="t">
                    <a:lnL w="12700" cap="flat" cmpd="sng" algn="ctr">
                      <a:solidFill>
                        <a:srgbClr val="476395"/>
                      </a:solidFill>
                      <a:prstDash val="solid"/>
                      <a:round/>
                      <a:headEnd type="none" w="med" len="med"/>
                      <a:tailEnd type="none" w="med" len="med"/>
                    </a:lnL>
                    <a:lnR w="12700" cap="flat" cmpd="sng" algn="ctr">
                      <a:solidFill>
                        <a:srgbClr val="476395"/>
                      </a:solidFill>
                      <a:prstDash val="solid"/>
                      <a:round/>
                      <a:headEnd type="none" w="med" len="med"/>
                      <a:tailEnd type="none" w="med" len="med"/>
                    </a:lnR>
                    <a:lnT w="12700" cap="flat" cmpd="sng" algn="ctr">
                      <a:solidFill>
                        <a:srgbClr val="435D8D"/>
                      </a:solidFill>
                      <a:prstDash val="solid"/>
                      <a:round/>
                      <a:headEnd type="none" w="med" len="med"/>
                      <a:tailEnd type="none" w="med" len="med"/>
                    </a:lnT>
                    <a:lnB w="12700" cap="flat" cmpd="sng" algn="ctr">
                      <a:solidFill>
                        <a:srgbClr val="476395"/>
                      </a:solidFill>
                      <a:prstDash val="solid"/>
                      <a:round/>
                      <a:headEnd type="none" w="med" len="med"/>
                      <a:tailEnd type="none" w="med" len="med"/>
                    </a:lnB>
                    <a:solidFill>
                      <a:srgbClr val="14397A"/>
                    </a:solidFill>
                  </a:tcPr>
                </a:tc>
              </a:tr>
              <a:tr h="410518">
                <a:tc>
                  <a:txBody>
                    <a:bodyPr/>
                    <a:lstStyle/>
                    <a:p>
                      <a:pPr indent="0" marL="0">
                        <a:lnSpc>
                          <a:spcPts val="2100"/>
                        </a:lnSpc>
                        <a:buNone/>
                      </a:pPr>
                      <a:r>
                        <a:rPr lang="en-US" sz="1500" dirty="0">
                          <a:solidFill>
                            <a:srgbClr val="F4F7FB"/>
                          </a:solidFill>
                          <a:latin typeface="Public Sans" pitchFamily="34" charset="0"/>
                          <a:ea typeface="Public Sans" pitchFamily="34" charset="-122"/>
                          <a:cs typeface="Public Sans" pitchFamily="34" charset="-120"/>
                        </a:rPr>
                        <a:t>Rescue and relief</a:t>
                      </a:r>
                      <a:endParaRPr lang="en-US" sz="1500" dirty="0">
                        <a:latin typeface="Public Sans" charset="0"/>
                        <a:ea typeface="Public Sans" charset="0"/>
                        <a:cs typeface="Public Sans" charset="0"/>
                      </a:endParaRPr>
                    </a:p>
                  </a:txBody>
                  <a:tcPr marL="66675" marR="66675" marT="66675" marB="66675" anchor="t">
                    <a:lnL w="12700" cap="flat" cmpd="sng" algn="ctr">
                      <a:solidFill>
                        <a:srgbClr val="40587D"/>
                      </a:solidFill>
                      <a:prstDash val="solid"/>
                      <a:round/>
                      <a:headEnd type="none" w="med" len="med"/>
                      <a:tailEnd type="none" w="med" len="med"/>
                    </a:lnL>
                    <a:lnR w="12700" cap="flat" cmpd="sng" algn="ctr">
                      <a:solidFill>
                        <a:srgbClr val="435D8D"/>
                      </a:solidFill>
                      <a:prstDash val="solid"/>
                      <a:round/>
                      <a:headEnd type="none" w="med" len="med"/>
                      <a:tailEnd type="none" w="med" len="med"/>
                    </a:lnR>
                    <a:lnT w="12700" cap="flat" cmpd="sng" algn="ctr">
                      <a:solidFill>
                        <a:srgbClr val="476395"/>
                      </a:solidFill>
                      <a:prstDash val="solid"/>
                      <a:round/>
                      <a:headEnd type="none" w="med" len="med"/>
                      <a:tailEnd type="none" w="med" len="med"/>
                    </a:lnT>
                    <a:lnB w="12700" cap="flat" cmpd="sng" algn="ctr">
                      <a:solidFill>
                        <a:srgbClr val="435D8D"/>
                      </a:solidFill>
                      <a:prstDash val="solid"/>
                      <a:round/>
                      <a:headEnd type="none" w="med" len="med"/>
                      <a:tailEnd type="none" w="med" len="med"/>
                    </a:lnB>
                    <a:solidFill>
                      <a:srgbClr val="0F3170"/>
                    </a:solidFill>
                  </a:tcPr>
                </a:tc>
                <a:tc>
                  <a:txBody>
                    <a:bodyPr/>
                    <a:lstStyle/>
                    <a:p>
                      <a:pPr indent="0" marL="0">
                        <a:lnSpc>
                          <a:spcPts val="2100"/>
                        </a:lnSpc>
                        <a:buNone/>
                      </a:pPr>
                      <a:r>
                        <a:rPr lang="en-US" sz="1500" dirty="0">
                          <a:solidFill>
                            <a:srgbClr val="F4F7FB"/>
                          </a:solidFill>
                          <a:latin typeface="Public Sans" pitchFamily="34" charset="0"/>
                          <a:ea typeface="Public Sans" pitchFamily="34" charset="-122"/>
                          <a:cs typeface="Public Sans" pitchFamily="34" charset="-120"/>
                        </a:rPr>
                        <a:t>Multi-Output Random Forest</a:t>
                      </a:r>
                      <a:endParaRPr lang="en-US" sz="1500" dirty="0">
                        <a:latin typeface="Public Sans" charset="0"/>
                        <a:ea typeface="Public Sans" charset="0"/>
                        <a:cs typeface="Public Sans" charset="0"/>
                      </a:endParaRPr>
                    </a:p>
                  </a:txBody>
                  <a:tcPr marL="66675" marR="66675" marT="66675" marB="66675" anchor="t">
                    <a:lnL w="12700" cap="flat" cmpd="sng" algn="ctr">
                      <a:solidFill>
                        <a:srgbClr val="435D8D"/>
                      </a:solidFill>
                      <a:prstDash val="solid"/>
                      <a:round/>
                      <a:headEnd type="none" w="med" len="med"/>
                      <a:tailEnd type="none" w="med" len="med"/>
                    </a:lnL>
                    <a:lnR w="12700" cap="flat" cmpd="sng" algn="ctr">
                      <a:solidFill>
                        <a:srgbClr val="435D8D"/>
                      </a:solidFill>
                      <a:prstDash val="solid"/>
                      <a:round/>
                      <a:headEnd type="none" w="med" len="med"/>
                      <a:tailEnd type="none" w="med" len="med"/>
                    </a:lnR>
                    <a:lnT w="12700" cap="flat" cmpd="sng" algn="ctr">
                      <a:solidFill>
                        <a:srgbClr val="476395"/>
                      </a:solidFill>
                      <a:prstDash val="solid"/>
                      <a:round/>
                      <a:headEnd type="none" w="med" len="med"/>
                      <a:tailEnd type="none" w="med" len="med"/>
                    </a:lnT>
                    <a:lnB w="12700" cap="flat" cmpd="sng" algn="ctr">
                      <a:solidFill>
                        <a:srgbClr val="435D8D"/>
                      </a:solidFill>
                      <a:prstDash val="solid"/>
                      <a:round/>
                      <a:headEnd type="none" w="med" len="med"/>
                      <a:tailEnd type="none" w="med" len="med"/>
                    </a:lnB>
                    <a:solidFill>
                      <a:srgbClr val="0F3170"/>
                    </a:solidFill>
                  </a:tcPr>
                </a:tc>
                <a:tc>
                  <a:txBody>
                    <a:bodyPr/>
                    <a:lstStyle/>
                    <a:p>
                      <a:pPr indent="0" marL="0">
                        <a:lnSpc>
                          <a:spcPts val="2100"/>
                        </a:lnSpc>
                        <a:buNone/>
                      </a:pPr>
                      <a:r>
                        <a:rPr lang="en-US" sz="1500" dirty="0">
                          <a:solidFill>
                            <a:srgbClr val="F4F7FB"/>
                          </a:solidFill>
                          <a:latin typeface="Public Sans" pitchFamily="34" charset="0"/>
                          <a:ea typeface="Public Sans" pitchFamily="34" charset="-122"/>
                          <a:cs typeface="Public Sans" pitchFamily="34" charset="-120"/>
                        </a:rPr>
                        <a:t>F1 0.92 to 0.96</a:t>
                      </a:r>
                      <a:endParaRPr lang="en-US" sz="1500" dirty="0">
                        <a:latin typeface="Public Sans" charset="0"/>
                        <a:ea typeface="Public Sans" charset="0"/>
                        <a:cs typeface="Public Sans" charset="0"/>
                      </a:endParaRPr>
                    </a:p>
                  </a:txBody>
                  <a:tcPr marL="66675" marR="66675" marT="66675" marB="66675" anchor="t">
                    <a:lnL w="12700" cap="flat" cmpd="sng" algn="ctr">
                      <a:solidFill>
                        <a:srgbClr val="435D8D"/>
                      </a:solidFill>
                      <a:prstDash val="solid"/>
                      <a:round/>
                      <a:headEnd type="none" w="med" len="med"/>
                      <a:tailEnd type="none" w="med" len="med"/>
                    </a:lnL>
                    <a:lnR w="12700" cap="flat" cmpd="sng" algn="ctr">
                      <a:solidFill>
                        <a:srgbClr val="435D8D"/>
                      </a:solidFill>
                      <a:prstDash val="solid"/>
                      <a:round/>
                      <a:headEnd type="none" w="med" len="med"/>
                      <a:tailEnd type="none" w="med" len="med"/>
                    </a:lnR>
                    <a:lnT w="12700" cap="flat" cmpd="sng" algn="ctr">
                      <a:solidFill>
                        <a:srgbClr val="476395"/>
                      </a:solidFill>
                      <a:prstDash val="solid"/>
                      <a:round/>
                      <a:headEnd type="none" w="med" len="med"/>
                      <a:tailEnd type="none" w="med" len="med"/>
                    </a:lnT>
                    <a:lnB w="12700" cap="flat" cmpd="sng" algn="ctr">
                      <a:solidFill>
                        <a:srgbClr val="435D8D"/>
                      </a:solidFill>
                      <a:prstDash val="solid"/>
                      <a:round/>
                      <a:headEnd type="none" w="med" len="med"/>
                      <a:tailEnd type="none" w="med" len="med"/>
                    </a:lnB>
                    <a:solidFill>
                      <a:srgbClr val="0F3170"/>
                    </a:solidFill>
                  </a:tcPr>
                </a:tc>
              </a:tr>
            </a:tbl>
          </a:graphicData>
        </a:graphic>
      </p:graphicFrame>
      <p:sp>
        <p:nvSpPr>
          <p:cNvPr id="5" name="Shape 2"/>
          <p:cNvSpPr/>
          <p:nvPr/>
        </p:nvSpPr>
        <p:spPr>
          <a:xfrm>
            <a:off x="812767" y="4171652"/>
            <a:ext cx="10566466" cy="660301"/>
          </a:xfrm>
          <a:prstGeom prst="roundRect">
            <a:avLst>
              <a:gd name="adj" fmla="val 15387"/>
            </a:avLst>
          </a:prstGeom>
          <a:solidFill>
            <a:srgbClr val="2E9B45"/>
          </a:solidFill>
          <a:ln/>
        </p:spPr>
      </p:sp>
      <p:pic>
        <p:nvPicPr>
          <p:cNvPr id="6" name="Image 0" descr="CheckCircle">    </p:cNvPr>
          <p:cNvPicPr>
            <a:picLocks noChangeAspect="1"/>
          </p:cNvPicPr>
          <p:nvPr/>
        </p:nvPicPr>
        <p:blipFill>
          <a:blip r:embed="rId1"/>
          <a:srcRect l="0" r="0" t="0" b="0"/>
          <a:stretch/>
        </p:blipFill>
        <p:spPr>
          <a:xfrm>
            <a:off x="1066767" y="4349415"/>
            <a:ext cx="304767" cy="304767"/>
          </a:xfrm>
          <a:prstGeom prst="rect">
            <a:avLst/>
          </a:prstGeom>
        </p:spPr>
      </p:pic>
      <p:sp>
        <p:nvSpPr>
          <p:cNvPr id="7" name="Text 3"/>
          <p:cNvSpPr/>
          <p:nvPr/>
        </p:nvSpPr>
        <p:spPr>
          <a:xfrm>
            <a:off x="1523917" y="4377941"/>
            <a:ext cx="8791475" cy="273033"/>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08210F"/>
                </a:solidFill>
                <a:latin typeface="Public Sans" pitchFamily="34" charset="0"/>
                <a:ea typeface="Public Sans" pitchFamily="34" charset="-122"/>
                <a:cs typeface="Public Sans" pitchFamily="34" charset="-120"/>
              </a:rPr>
              <a:t>Integration test passed: outputs move between modules without manual re-entry</a:t>
            </a:r>
            <a:endParaRPr lang="en-US" sz="1500" dirty="0"/>
          </a:p>
        </p:txBody>
      </p:sp>
      <p:sp>
        <p:nvSpPr>
          <p:cNvPr id="8" name="Text 4"/>
          <p:cNvSpPr/>
          <p:nvPr/>
        </p:nvSpPr>
        <p:spPr>
          <a:xfrm>
            <a:off x="812767" y="6238292"/>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DB6DD"/>
                </a:solidFill>
                <a:latin typeface="Public Sans" pitchFamily="34" charset="0"/>
                <a:ea typeface="Public Sans" pitchFamily="34" charset="-122"/>
                <a:cs typeface="Public Sans" pitchFamily="34" charset="-120"/>
              </a:rPr>
              <a:t>FloodGuard360 · IT4010 Final Presentation</a:t>
            </a:r>
            <a:endParaRPr lang="en-US" sz="1200" dirty="0"/>
          </a:p>
        </p:txBody>
      </p:sp>
      <p:sp>
        <p:nvSpPr>
          <p:cNvPr id="9" name="Text 5"/>
          <p:cNvSpPr/>
          <p:nvPr/>
        </p:nvSpPr>
        <p:spPr>
          <a:xfrm>
            <a:off x="10566433" y="6238292"/>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DB6DD"/>
                </a:solidFill>
                <a:latin typeface="Public Sans" pitchFamily="34" charset="0"/>
                <a:ea typeface="Public Sans" pitchFamily="34" charset="-122"/>
                <a:cs typeface="Public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812767" y="812763"/>
            <a:ext cx="10883460" cy="256497"/>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1F78C8"/>
                </a:solidFill>
                <a:latin typeface="Public Sans" pitchFamily="34" charset="0"/>
                <a:ea typeface="Public Sans" pitchFamily="34" charset="-122"/>
                <a:cs typeface="Public Sans" pitchFamily="34" charset="-120"/>
              </a:rPr>
              <a:t>STANDARDS, ETHICS AND QUALITY</a:t>
            </a:r>
            <a:endParaRPr lang="en-US" sz="1300" dirty="0"/>
          </a:p>
        </p:txBody>
      </p:sp>
      <p:sp>
        <p:nvSpPr>
          <p:cNvPr id="3" name="Text 1"/>
          <p:cNvSpPr/>
          <p:nvPr>
            <p:ph type="title"/>
          </p:nvPr>
        </p:nvSpPr>
        <p:spPr>
          <a:xfrm>
            <a:off x="812767" y="1145394"/>
            <a:ext cx="10883460" cy="480483"/>
          </a:xfrm>
          <a:prstGeom prst="rect">
            <a:avLst/>
          </a:prstGeom>
          <a:noFill/>
          <a:ln/>
        </p:spPr>
        <p:txBody>
          <a:bodyPr wrap="square" lIns="0" tIns="0" rIns="0" bIns="0" rtlCol="0" anchor="t">
            <a:normAutofit/>
          </a:bodyPr>
          <a:lstStyle/>
          <a:p>
            <a:pPr algn="l" indent="0" marL="0">
              <a:lnSpc>
                <a:spcPts val="3584"/>
              </a:lnSpc>
              <a:buNone/>
            </a:pPr>
            <a:r>
              <a:rPr lang="en-US" sz="3200" b="1" i="0" dirty="0">
                <a:solidFill>
                  <a:srgbClr val="0B2A5B"/>
                </a:solidFill>
                <a:latin typeface="Rubik" pitchFamily="34" charset="0"/>
                <a:ea typeface="Rubik" pitchFamily="34" charset="-122"/>
                <a:cs typeface="Rubik" pitchFamily="34" charset="-120"/>
              </a:rPr>
              <a:t>Built to be trusted in an emergency</a:t>
            </a:r>
            <a:endParaRPr lang="en-US" sz="3200" dirty="0"/>
          </a:p>
        </p:txBody>
      </p:sp>
      <p:sp>
        <p:nvSpPr>
          <p:cNvPr id="4" name="Shape 2"/>
          <p:cNvSpPr/>
          <p:nvPr/>
        </p:nvSpPr>
        <p:spPr>
          <a:xfrm>
            <a:off x="815942" y="1883035"/>
            <a:ext cx="3380317" cy="2863966"/>
          </a:xfrm>
          <a:prstGeom prst="roundRect">
            <a:avLst>
              <a:gd name="adj" fmla="val 3437"/>
            </a:avLst>
          </a:prstGeom>
          <a:solidFill>
            <a:srgbClr val="FFFFFF"/>
          </a:solidFill>
          <a:ln w="6350">
            <a:solidFill>
              <a:srgbClr val="D5DEEC"/>
            </a:solidFill>
            <a:prstDash val="solid"/>
          </a:ln>
        </p:spPr>
      </p:sp>
      <p:pic>
        <p:nvPicPr>
          <p:cNvPr id="5" name="Image 0" descr="Trust">    </p:cNvPr>
          <p:cNvPicPr>
            <a:picLocks noChangeAspect="1"/>
          </p:cNvPicPr>
          <p:nvPr/>
        </p:nvPicPr>
        <p:blipFill>
          <a:blip r:embed="rId1"/>
          <a:srcRect l="0" r="0" t="0" b="0"/>
          <a:stretch/>
        </p:blipFill>
        <p:spPr>
          <a:xfrm>
            <a:off x="1072059" y="2139156"/>
            <a:ext cx="330150" cy="330150"/>
          </a:xfrm>
          <a:prstGeom prst="rect">
            <a:avLst/>
          </a:prstGeom>
        </p:spPr>
      </p:pic>
      <p:sp>
        <p:nvSpPr>
          <p:cNvPr id="6" name="Text 3"/>
          <p:cNvSpPr/>
          <p:nvPr/>
        </p:nvSpPr>
        <p:spPr>
          <a:xfrm>
            <a:off x="1072059" y="2596307"/>
            <a:ext cx="2954126" cy="29974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B2A5B"/>
                </a:solidFill>
                <a:latin typeface="Rubik" pitchFamily="34" charset="0"/>
                <a:ea typeface="Rubik" pitchFamily="34" charset="-122"/>
                <a:cs typeface="Rubik" pitchFamily="34" charset="-120"/>
              </a:rPr>
              <a:t>Ethical and social</a:t>
            </a:r>
            <a:endParaRPr lang="en-US" sz="1800" dirty="0"/>
          </a:p>
        </p:txBody>
      </p:sp>
      <p:sp>
        <p:nvSpPr>
          <p:cNvPr id="7" name="Text 4"/>
          <p:cNvSpPr/>
          <p:nvPr/>
        </p:nvSpPr>
        <p:spPr>
          <a:xfrm>
            <a:off x="1156641" y="2997646"/>
            <a:ext cx="2861924" cy="1518642"/>
          </a:xfrm>
          <a:prstGeom prst="rect">
            <a:avLst/>
          </a:prstGeom>
          <a:noFill/>
          <a:ln/>
        </p:spPr>
        <p:txBody>
          <a:bodyPr wrap="square" lIns="0" tIns="0" rIns="0" bIns="0" rtlCol="0" anchor="t">
            <a:normAutofit/>
          </a:bodyPr>
          <a:lstStyle/>
          <a:p>
            <a:pPr algn="l" marL="169418" indent="-169418">
              <a:lnSpc>
                <a:spcPts val="1960"/>
              </a:lnSpc>
              <a:buSzPct val="100000"/>
              <a:buChar char="•"/>
            </a:pPr>
            <a:r>
              <a:rPr lang="en-US" sz="1400" dirty="0">
                <a:solidFill>
                  <a:srgbClr val="3A4A66"/>
                </a:solidFill>
                <a:latin typeface="Public Sans" pitchFamily="34" charset="0"/>
                <a:ea typeface="Public Sans" pitchFamily="34" charset="-122"/>
                <a:cs typeface="Public Sans" pitchFamily="34" charset="-120"/>
              </a:rPr>
              <a:t>Sphere Handbook minimum standards guide relief</a:t>
            </a:r>
            <a:endParaRPr lang="en-US" sz="1400" dirty="0"/>
          </a:p>
          <a:p>
            <a:pPr algn="l" marL="169418" indent="-169418">
              <a:lnSpc>
                <a:spcPts val="1960"/>
              </a:lnSpc>
              <a:buSzPct val="100000"/>
              <a:buChar char="•"/>
            </a:pPr>
            <a:r>
              <a:rPr lang="en-US" sz="1400" dirty="0">
                <a:solidFill>
                  <a:srgbClr val="3A4A66"/>
                </a:solidFill>
                <a:latin typeface="Public Sans" pitchFamily="34" charset="0"/>
                <a:ea typeface="Public Sans" pitchFamily="34" charset="-122"/>
                <a:cs typeface="Public Sans" pitchFamily="34" charset="-120"/>
              </a:rPr>
              <a:t>Humans make the final allocation decision</a:t>
            </a:r>
            <a:endParaRPr lang="en-US" sz="1400" dirty="0"/>
          </a:p>
          <a:p>
            <a:pPr algn="l" marL="169418" indent="-169418">
              <a:lnSpc>
                <a:spcPts val="1960"/>
              </a:lnSpc>
              <a:buSzPct val="100000"/>
              <a:buChar char="•"/>
            </a:pPr>
            <a:r>
              <a:rPr lang="en-US" sz="1400" dirty="0">
                <a:solidFill>
                  <a:srgbClr val="3A4A66"/>
                </a:solidFill>
                <a:latin typeface="Public Sans" pitchFamily="34" charset="0"/>
                <a:ea typeface="Public Sans" pitchFamily="34" charset="-122"/>
                <a:cs typeface="Public Sans" pitchFamily="34" charset="-120"/>
              </a:rPr>
              <a:t>Health module screens, never diagnoses</a:t>
            </a:r>
            <a:endParaRPr lang="en-US" sz="1400" dirty="0"/>
          </a:p>
        </p:txBody>
      </p:sp>
      <p:sp>
        <p:nvSpPr>
          <p:cNvPr id="8" name="Shape 5"/>
          <p:cNvSpPr/>
          <p:nvPr/>
        </p:nvSpPr>
        <p:spPr>
          <a:xfrm>
            <a:off x="4405759" y="1883035"/>
            <a:ext cx="3380399" cy="2863966"/>
          </a:xfrm>
          <a:prstGeom prst="roundRect">
            <a:avLst>
              <a:gd name="adj" fmla="val 3437"/>
            </a:avLst>
          </a:prstGeom>
          <a:solidFill>
            <a:srgbClr val="FFFFFF"/>
          </a:solidFill>
          <a:ln w="6350">
            <a:solidFill>
              <a:srgbClr val="D5DEEC"/>
            </a:solidFill>
            <a:prstDash val="solid"/>
          </a:ln>
        </p:spPr>
      </p:sp>
      <p:pic>
        <p:nvPicPr>
          <p:cNvPr id="9" name="Image 1" descr="Lock">    </p:cNvPr>
          <p:cNvPicPr>
            <a:picLocks noChangeAspect="1"/>
          </p:cNvPicPr>
          <p:nvPr/>
        </p:nvPicPr>
        <p:blipFill>
          <a:blip r:embed="rId2"/>
          <a:srcRect l="0" r="0" t="0" b="0"/>
          <a:stretch/>
        </p:blipFill>
        <p:spPr>
          <a:xfrm>
            <a:off x="4661876" y="2139156"/>
            <a:ext cx="330150" cy="330150"/>
          </a:xfrm>
          <a:prstGeom prst="rect">
            <a:avLst/>
          </a:prstGeom>
        </p:spPr>
      </p:pic>
      <p:sp>
        <p:nvSpPr>
          <p:cNvPr id="10" name="Text 6"/>
          <p:cNvSpPr/>
          <p:nvPr/>
        </p:nvSpPr>
        <p:spPr>
          <a:xfrm>
            <a:off x="4661876" y="2596307"/>
            <a:ext cx="2954211" cy="29974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B2A5B"/>
                </a:solidFill>
                <a:latin typeface="Rubik" pitchFamily="34" charset="0"/>
                <a:ea typeface="Rubik" pitchFamily="34" charset="-122"/>
                <a:cs typeface="Rubik" pitchFamily="34" charset="-120"/>
              </a:rPr>
              <a:t>Security and privacy</a:t>
            </a:r>
            <a:endParaRPr lang="en-US" sz="1800" dirty="0"/>
          </a:p>
        </p:txBody>
      </p:sp>
      <p:sp>
        <p:nvSpPr>
          <p:cNvPr id="11" name="Text 7"/>
          <p:cNvSpPr/>
          <p:nvPr/>
        </p:nvSpPr>
        <p:spPr>
          <a:xfrm>
            <a:off x="4746458" y="2997646"/>
            <a:ext cx="2862009" cy="1518642"/>
          </a:xfrm>
          <a:prstGeom prst="rect">
            <a:avLst/>
          </a:prstGeom>
          <a:noFill/>
          <a:ln/>
        </p:spPr>
        <p:txBody>
          <a:bodyPr wrap="square" lIns="0" tIns="0" rIns="0" bIns="0" rtlCol="0" anchor="t">
            <a:normAutofit/>
          </a:bodyPr>
          <a:lstStyle/>
          <a:p>
            <a:pPr algn="l" marL="169418" indent="-169418">
              <a:lnSpc>
                <a:spcPts val="1960"/>
              </a:lnSpc>
              <a:buSzPct val="100000"/>
              <a:buChar char="•"/>
            </a:pPr>
            <a:r>
              <a:rPr lang="en-US" sz="1400" dirty="0">
                <a:solidFill>
                  <a:srgbClr val="3A4A66"/>
                </a:solidFill>
                <a:latin typeface="Public Sans" pitchFamily="34" charset="0"/>
                <a:ea typeface="Public Sans" pitchFamily="34" charset="-122"/>
                <a:cs typeface="Public Sans" pitchFamily="34" charset="-120"/>
              </a:rPr>
              <a:t>JWT authentication, bcrypt hashing</a:t>
            </a:r>
            <a:endParaRPr lang="en-US" sz="1400" dirty="0"/>
          </a:p>
          <a:p>
            <a:pPr algn="l" marL="169418" indent="-169418">
              <a:lnSpc>
                <a:spcPts val="1960"/>
              </a:lnSpc>
              <a:buSzPct val="100000"/>
              <a:buChar char="•"/>
            </a:pPr>
            <a:r>
              <a:rPr lang="en-US" sz="1400" dirty="0">
                <a:solidFill>
                  <a:srgbClr val="3A4A66"/>
                </a:solidFill>
                <a:latin typeface="Public Sans" pitchFamily="34" charset="0"/>
                <a:ea typeface="Public Sans" pitchFamily="34" charset="-122"/>
                <a:cs typeface="Public Sans" pitchFamily="34" charset="-120"/>
              </a:rPr>
              <a:t>Roles: public, disaster officer, healthcare officer, rescue team</a:t>
            </a:r>
            <a:endParaRPr lang="en-US" sz="1400" dirty="0"/>
          </a:p>
          <a:p>
            <a:pPr algn="l" marL="169418" indent="-169418">
              <a:lnSpc>
                <a:spcPts val="1960"/>
              </a:lnSpc>
              <a:buSzPct val="100000"/>
              <a:buChar char="•"/>
            </a:pPr>
            <a:r>
              <a:rPr lang="en-US" sz="1400" dirty="0">
                <a:solidFill>
                  <a:srgbClr val="3A4A66"/>
                </a:solidFill>
                <a:latin typeface="Public Sans" pitchFamily="34" charset="0"/>
                <a:ea typeface="Public Sans" pitchFamily="34" charset="-122"/>
                <a:cs typeface="Public Sans" pitchFamily="34" charset="-120"/>
              </a:rPr>
              <a:t>Health data governance planned</a:t>
            </a:r>
            <a:endParaRPr lang="en-US" sz="1400" dirty="0"/>
          </a:p>
        </p:txBody>
      </p:sp>
      <p:sp>
        <p:nvSpPr>
          <p:cNvPr id="12" name="Shape 8"/>
          <p:cNvSpPr/>
          <p:nvPr/>
        </p:nvSpPr>
        <p:spPr>
          <a:xfrm>
            <a:off x="7995658" y="1883035"/>
            <a:ext cx="3380399" cy="2863966"/>
          </a:xfrm>
          <a:prstGeom prst="roundRect">
            <a:avLst>
              <a:gd name="adj" fmla="val 3437"/>
            </a:avLst>
          </a:prstGeom>
          <a:solidFill>
            <a:srgbClr val="FFFFFF"/>
          </a:solidFill>
          <a:ln w="6350">
            <a:solidFill>
              <a:srgbClr val="D5DEEC"/>
            </a:solidFill>
            <a:prstDash val="solid"/>
          </a:ln>
        </p:spPr>
      </p:sp>
      <p:pic>
        <p:nvPicPr>
          <p:cNvPr id="13" name="Image 2" descr="Settings">    </p:cNvPr>
          <p:cNvPicPr>
            <a:picLocks noChangeAspect="1"/>
          </p:cNvPicPr>
          <p:nvPr/>
        </p:nvPicPr>
        <p:blipFill>
          <a:blip r:embed="rId3"/>
          <a:srcRect l="0" r="0" t="0" b="0"/>
          <a:stretch/>
        </p:blipFill>
        <p:spPr>
          <a:xfrm>
            <a:off x="8251775" y="2139156"/>
            <a:ext cx="330150" cy="330150"/>
          </a:xfrm>
          <a:prstGeom prst="rect">
            <a:avLst/>
          </a:prstGeom>
        </p:spPr>
      </p:pic>
      <p:sp>
        <p:nvSpPr>
          <p:cNvPr id="14" name="Text 9"/>
          <p:cNvSpPr/>
          <p:nvPr/>
        </p:nvSpPr>
        <p:spPr>
          <a:xfrm>
            <a:off x="8251775" y="2596307"/>
            <a:ext cx="2954211" cy="29974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B2A5B"/>
                </a:solidFill>
                <a:latin typeface="Rubik" pitchFamily="34" charset="0"/>
                <a:ea typeface="Rubik" pitchFamily="34" charset="-122"/>
                <a:cs typeface="Rubik" pitchFamily="34" charset="-120"/>
              </a:rPr>
              <a:t>Non-functional</a:t>
            </a:r>
            <a:endParaRPr lang="en-US" sz="1800" dirty="0"/>
          </a:p>
        </p:txBody>
      </p:sp>
      <p:sp>
        <p:nvSpPr>
          <p:cNvPr id="15" name="Text 10"/>
          <p:cNvSpPr/>
          <p:nvPr/>
        </p:nvSpPr>
        <p:spPr>
          <a:xfrm>
            <a:off x="8336357" y="2997646"/>
            <a:ext cx="2862009" cy="1518642"/>
          </a:xfrm>
          <a:prstGeom prst="rect">
            <a:avLst/>
          </a:prstGeom>
          <a:noFill/>
          <a:ln/>
        </p:spPr>
        <p:txBody>
          <a:bodyPr wrap="square" lIns="0" tIns="0" rIns="0" bIns="0" rtlCol="0" anchor="t">
            <a:normAutofit/>
          </a:bodyPr>
          <a:lstStyle/>
          <a:p>
            <a:pPr algn="l" marL="169418" indent="-169418">
              <a:lnSpc>
                <a:spcPts val="1960"/>
              </a:lnSpc>
              <a:buSzPct val="100000"/>
              <a:buChar char="•"/>
            </a:pPr>
            <a:r>
              <a:rPr lang="en-US" sz="1400" dirty="0">
                <a:solidFill>
                  <a:srgbClr val="3A4A66"/>
                </a:solidFill>
                <a:latin typeface="Public Sans" pitchFamily="34" charset="0"/>
                <a:ea typeface="Public Sans" pitchFamily="34" charset="-122"/>
                <a:cs typeface="Public Sans" pitchFamily="34" charset="-120"/>
              </a:rPr>
              <a:t>Real-time alerts through Socket.IO</a:t>
            </a:r>
            <a:endParaRPr lang="en-US" sz="1400" dirty="0"/>
          </a:p>
          <a:p>
            <a:pPr algn="l" marL="169418" indent="-169418">
              <a:lnSpc>
                <a:spcPts val="1960"/>
              </a:lnSpc>
              <a:buSzPct val="100000"/>
              <a:buChar char="•"/>
            </a:pPr>
            <a:r>
              <a:rPr lang="en-US" sz="1400" dirty="0">
                <a:solidFill>
                  <a:srgbClr val="3A4A66"/>
                </a:solidFill>
                <a:latin typeface="Public Sans" pitchFamily="34" charset="0"/>
                <a:ea typeface="Public Sans" pitchFamily="34" charset="-122"/>
                <a:cs typeface="Public Sans" pitchFamily="34" charset="-120"/>
              </a:rPr>
              <a:t>Stateless ML microservices scale and retrain independently</a:t>
            </a:r>
            <a:endParaRPr lang="en-US" sz="1400" dirty="0"/>
          </a:p>
          <a:p>
            <a:pPr algn="l" marL="169418" indent="-169418">
              <a:lnSpc>
                <a:spcPts val="1960"/>
              </a:lnSpc>
              <a:buSzPct val="100000"/>
              <a:buChar char="•"/>
            </a:pPr>
            <a:r>
              <a:rPr lang="en-US" sz="1400" dirty="0">
                <a:solidFill>
                  <a:srgbClr val="3A4A66"/>
                </a:solidFill>
                <a:latin typeface="Public Sans" pitchFamily="34" charset="0"/>
                <a:ea typeface="Public Sans" pitchFamily="34" charset="-122"/>
                <a:cs typeface="Public Sans" pitchFamily="34" charset="-120"/>
              </a:rPr>
              <a:t>New sensors, camps and roles added without redesign</a:t>
            </a:r>
            <a:endParaRPr lang="en-US" sz="1400" dirty="0"/>
          </a:p>
        </p:txBody>
      </p:sp>
      <p:sp>
        <p:nvSpPr>
          <p:cNvPr id="16" name="Text 11"/>
          <p:cNvSpPr/>
          <p:nvPr/>
        </p:nvSpPr>
        <p:spPr>
          <a:xfrm>
            <a:off x="812767" y="6238292"/>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A94"/>
                </a:solidFill>
                <a:latin typeface="Public Sans" pitchFamily="34" charset="0"/>
                <a:ea typeface="Public Sans" pitchFamily="34" charset="-122"/>
                <a:cs typeface="Public Sans" pitchFamily="34" charset="-120"/>
              </a:rPr>
              <a:t>FloodGuard360 · IT4010 Final Presentation</a:t>
            </a:r>
            <a:endParaRPr lang="en-US" sz="1200" dirty="0"/>
          </a:p>
        </p:txBody>
      </p:sp>
      <p:sp>
        <p:nvSpPr>
          <p:cNvPr id="17" name="Text 12"/>
          <p:cNvSpPr/>
          <p:nvPr/>
        </p:nvSpPr>
        <p:spPr>
          <a:xfrm>
            <a:off x="10566433" y="6238292"/>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A94"/>
                </a:solidFill>
                <a:latin typeface="Public Sans" pitchFamily="34" charset="0"/>
                <a:ea typeface="Public Sans" pitchFamily="34" charset="-122"/>
                <a:cs typeface="Public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812767" y="812763"/>
            <a:ext cx="10883460" cy="256497"/>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1F78C8"/>
                </a:solidFill>
                <a:latin typeface="Public Sans" pitchFamily="34" charset="0"/>
                <a:ea typeface="Public Sans" pitchFamily="34" charset="-122"/>
                <a:cs typeface="Public Sans" pitchFamily="34" charset="-120"/>
              </a:rPr>
              <a:t>COMMERCIAL POTENTIAL</a:t>
            </a:r>
            <a:endParaRPr lang="en-US" sz="1300" dirty="0"/>
          </a:p>
        </p:txBody>
      </p:sp>
      <p:sp>
        <p:nvSpPr>
          <p:cNvPr id="3" name="Text 1"/>
          <p:cNvSpPr/>
          <p:nvPr>
            <p:ph type="title"/>
          </p:nvPr>
        </p:nvSpPr>
        <p:spPr>
          <a:xfrm>
            <a:off x="812767" y="1145394"/>
            <a:ext cx="10883460" cy="480483"/>
          </a:xfrm>
          <a:prstGeom prst="rect">
            <a:avLst/>
          </a:prstGeom>
          <a:noFill/>
          <a:ln/>
        </p:spPr>
        <p:txBody>
          <a:bodyPr wrap="square" lIns="0" tIns="0" rIns="0" bIns="0" rtlCol="0" anchor="t">
            <a:normAutofit/>
          </a:bodyPr>
          <a:lstStyle/>
          <a:p>
            <a:pPr algn="l" indent="0" marL="0">
              <a:lnSpc>
                <a:spcPts val="3584"/>
              </a:lnSpc>
              <a:buNone/>
            </a:pPr>
            <a:r>
              <a:rPr lang="en-US" sz="3200" b="1" i="0" dirty="0">
                <a:solidFill>
                  <a:srgbClr val="0B2A5B"/>
                </a:solidFill>
                <a:latin typeface="Rubik" pitchFamily="34" charset="0"/>
                <a:ea typeface="Rubik" pitchFamily="34" charset="-122"/>
                <a:cs typeface="Rubik" pitchFamily="34" charset="-120"/>
              </a:rPr>
              <a:t>From prototype to a deployable product</a:t>
            </a:r>
            <a:endParaRPr lang="en-US" sz="3200" dirty="0"/>
          </a:p>
        </p:txBody>
      </p:sp>
      <p:sp>
        <p:nvSpPr>
          <p:cNvPr id="4" name="Shape 2"/>
          <p:cNvSpPr/>
          <p:nvPr/>
        </p:nvSpPr>
        <p:spPr>
          <a:xfrm>
            <a:off x="815942" y="1857654"/>
            <a:ext cx="3380317" cy="2787567"/>
          </a:xfrm>
          <a:prstGeom prst="roundRect">
            <a:avLst>
              <a:gd name="adj" fmla="val 3531"/>
            </a:avLst>
          </a:prstGeom>
          <a:solidFill>
            <a:srgbClr val="FFFFFF"/>
          </a:solidFill>
          <a:ln w="6350">
            <a:solidFill>
              <a:srgbClr val="D5DEEC"/>
            </a:solidFill>
            <a:prstDash val="solid"/>
          </a:ln>
        </p:spPr>
      </p:sp>
      <p:pic>
        <p:nvPicPr>
          <p:cNvPr id="5" name="Image 0" descr="Users">    </p:cNvPr>
          <p:cNvPicPr>
            <a:picLocks noChangeAspect="1"/>
          </p:cNvPicPr>
          <p:nvPr/>
        </p:nvPicPr>
        <p:blipFill>
          <a:blip r:embed="rId1"/>
          <a:srcRect l="0" r="0" t="0" b="0"/>
          <a:stretch/>
        </p:blipFill>
        <p:spPr>
          <a:xfrm>
            <a:off x="1046592" y="2088307"/>
            <a:ext cx="330150" cy="330150"/>
          </a:xfrm>
          <a:prstGeom prst="rect">
            <a:avLst/>
          </a:prstGeom>
        </p:spPr>
      </p:pic>
      <p:sp>
        <p:nvSpPr>
          <p:cNvPr id="6" name="Text 3"/>
          <p:cNvSpPr/>
          <p:nvPr/>
        </p:nvSpPr>
        <p:spPr>
          <a:xfrm>
            <a:off x="1046592" y="2532720"/>
            <a:ext cx="3006586" cy="29974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B2A5B"/>
                </a:solidFill>
                <a:latin typeface="Rubik" pitchFamily="34" charset="0"/>
                <a:ea typeface="Rubik" pitchFamily="34" charset="-122"/>
                <a:cs typeface="Rubik" pitchFamily="34" charset="-120"/>
              </a:rPr>
              <a:t>Who needs it</a:t>
            </a:r>
            <a:endParaRPr lang="en-US" sz="1800" dirty="0"/>
          </a:p>
        </p:txBody>
      </p:sp>
      <p:sp>
        <p:nvSpPr>
          <p:cNvPr id="7" name="Text 4"/>
          <p:cNvSpPr/>
          <p:nvPr/>
        </p:nvSpPr>
        <p:spPr>
          <a:xfrm>
            <a:off x="1131174" y="2921329"/>
            <a:ext cx="2914384" cy="1518642"/>
          </a:xfrm>
          <a:prstGeom prst="rect">
            <a:avLst/>
          </a:prstGeom>
          <a:noFill/>
          <a:ln/>
        </p:spPr>
        <p:txBody>
          <a:bodyPr wrap="square" lIns="0" tIns="0" rIns="0" bIns="0" rtlCol="0" anchor="t">
            <a:normAutofit/>
          </a:bodyPr>
          <a:lstStyle/>
          <a:p>
            <a:pPr algn="l" marL="169418" indent="-169418">
              <a:lnSpc>
                <a:spcPts val="1960"/>
              </a:lnSpc>
              <a:buSzPct val="100000"/>
              <a:buChar char="•"/>
            </a:pPr>
            <a:r>
              <a:rPr lang="en-US" sz="1400" dirty="0">
                <a:solidFill>
                  <a:srgbClr val="3A4A66"/>
                </a:solidFill>
                <a:latin typeface="Public Sans" pitchFamily="34" charset="0"/>
                <a:ea typeface="Public Sans" pitchFamily="34" charset="-122"/>
                <a:cs typeface="Public Sans" pitchFamily="34" charset="-120"/>
              </a:rPr>
              <a:t>Disaster-management officers</a:t>
            </a:r>
            <a:endParaRPr lang="en-US" sz="1400" dirty="0"/>
          </a:p>
          <a:p>
            <a:pPr algn="l" marL="169418" indent="-169418">
              <a:lnSpc>
                <a:spcPts val="1960"/>
              </a:lnSpc>
              <a:buSzPct val="100000"/>
              <a:buChar char="•"/>
            </a:pPr>
            <a:r>
              <a:rPr lang="en-US" sz="1400" dirty="0">
                <a:solidFill>
                  <a:srgbClr val="3A4A66"/>
                </a:solidFill>
                <a:latin typeface="Public Sans" pitchFamily="34" charset="0"/>
                <a:ea typeface="Public Sans" pitchFamily="34" charset="-122"/>
                <a:cs typeface="Public Sans" pitchFamily="34" charset="-120"/>
              </a:rPr>
              <a:t>Healthcare officers</a:t>
            </a:r>
            <a:endParaRPr lang="en-US" sz="1400" dirty="0"/>
          </a:p>
          <a:p>
            <a:pPr algn="l" marL="169418" indent="-169418">
              <a:lnSpc>
                <a:spcPts val="1960"/>
              </a:lnSpc>
              <a:buSzPct val="100000"/>
              <a:buChar char="•"/>
            </a:pPr>
            <a:r>
              <a:rPr lang="en-US" sz="1400" dirty="0">
                <a:solidFill>
                  <a:srgbClr val="3A4A66"/>
                </a:solidFill>
                <a:latin typeface="Public Sans" pitchFamily="34" charset="0"/>
                <a:ea typeface="Public Sans" pitchFamily="34" charset="-122"/>
                <a:cs typeface="Public Sans" pitchFamily="34" charset="-120"/>
              </a:rPr>
              <a:t>Rescue teams and relief operations</a:t>
            </a:r>
            <a:endParaRPr lang="en-US" sz="1400" dirty="0"/>
          </a:p>
          <a:p>
            <a:pPr algn="l" marL="169418" indent="-169418">
              <a:lnSpc>
                <a:spcPts val="1960"/>
              </a:lnSpc>
              <a:buSzPct val="100000"/>
              <a:buChar char="•"/>
            </a:pPr>
            <a:r>
              <a:rPr lang="en-US" sz="1400" dirty="0">
                <a:solidFill>
                  <a:srgbClr val="3A4A66"/>
                </a:solidFill>
                <a:latin typeface="Public Sans" pitchFamily="34" charset="0"/>
                <a:ea typeface="Public Sans" pitchFamily="34" charset="-122"/>
                <a:cs typeface="Public Sans" pitchFamily="34" charset="-120"/>
              </a:rPr>
              <a:t>Local authorities in flood-prone areas</a:t>
            </a:r>
            <a:endParaRPr lang="en-US" sz="1400" dirty="0"/>
          </a:p>
        </p:txBody>
      </p:sp>
      <p:sp>
        <p:nvSpPr>
          <p:cNvPr id="8" name="Shape 5"/>
          <p:cNvSpPr/>
          <p:nvPr/>
        </p:nvSpPr>
        <p:spPr>
          <a:xfrm>
            <a:off x="4405759" y="1857654"/>
            <a:ext cx="3380399" cy="2787567"/>
          </a:xfrm>
          <a:prstGeom prst="roundRect">
            <a:avLst>
              <a:gd name="adj" fmla="val 3531"/>
            </a:avLst>
          </a:prstGeom>
          <a:solidFill>
            <a:srgbClr val="FFFFFF"/>
          </a:solidFill>
          <a:ln w="6350">
            <a:solidFill>
              <a:srgbClr val="D5DEEC"/>
            </a:solidFill>
            <a:prstDash val="solid"/>
          </a:ln>
        </p:spPr>
      </p:sp>
      <p:pic>
        <p:nvPicPr>
          <p:cNvPr id="9" name="Image 1" descr="Lightbulb">    </p:cNvPr>
          <p:cNvPicPr>
            <a:picLocks noChangeAspect="1"/>
          </p:cNvPicPr>
          <p:nvPr/>
        </p:nvPicPr>
        <p:blipFill>
          <a:blip r:embed="rId2"/>
          <a:srcRect l="0" r="0" t="0" b="0"/>
          <a:stretch/>
        </p:blipFill>
        <p:spPr>
          <a:xfrm>
            <a:off x="4636409" y="2088307"/>
            <a:ext cx="330150" cy="330150"/>
          </a:xfrm>
          <a:prstGeom prst="rect">
            <a:avLst/>
          </a:prstGeom>
        </p:spPr>
      </p:pic>
      <p:sp>
        <p:nvSpPr>
          <p:cNvPr id="10" name="Text 6"/>
          <p:cNvSpPr/>
          <p:nvPr/>
        </p:nvSpPr>
        <p:spPr>
          <a:xfrm>
            <a:off x="4636409" y="2532720"/>
            <a:ext cx="3006671" cy="29974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B2A5B"/>
                </a:solidFill>
                <a:latin typeface="Rubik" pitchFamily="34" charset="0"/>
                <a:ea typeface="Rubik" pitchFamily="34" charset="-122"/>
                <a:cs typeface="Rubik" pitchFamily="34" charset="-120"/>
              </a:rPr>
              <a:t>Why it stands out</a:t>
            </a:r>
            <a:endParaRPr lang="en-US" sz="1800" dirty="0"/>
          </a:p>
        </p:txBody>
      </p:sp>
      <p:sp>
        <p:nvSpPr>
          <p:cNvPr id="11" name="Text 7"/>
          <p:cNvSpPr/>
          <p:nvPr/>
        </p:nvSpPr>
        <p:spPr>
          <a:xfrm>
            <a:off x="4720991" y="2921329"/>
            <a:ext cx="2914469" cy="1518642"/>
          </a:xfrm>
          <a:prstGeom prst="rect">
            <a:avLst/>
          </a:prstGeom>
          <a:noFill/>
          <a:ln/>
        </p:spPr>
        <p:txBody>
          <a:bodyPr wrap="square" lIns="0" tIns="0" rIns="0" bIns="0" rtlCol="0" anchor="t">
            <a:normAutofit/>
          </a:bodyPr>
          <a:lstStyle/>
          <a:p>
            <a:pPr algn="l" marL="169418" indent="-169418">
              <a:lnSpc>
                <a:spcPts val="1960"/>
              </a:lnSpc>
              <a:buSzPct val="100000"/>
              <a:buChar char="•"/>
            </a:pPr>
            <a:r>
              <a:rPr lang="en-US" sz="1400" dirty="0">
                <a:solidFill>
                  <a:srgbClr val="3A4A66"/>
                </a:solidFill>
                <a:latin typeface="Public Sans" pitchFamily="34" charset="0"/>
                <a:ea typeface="Public Sans" pitchFamily="34" charset="-122"/>
                <a:cs typeface="Public Sans" pitchFamily="34" charset="-120"/>
              </a:rPr>
              <a:t>One platform instead of four separate tools</a:t>
            </a:r>
            <a:endParaRPr lang="en-US" sz="1400" dirty="0"/>
          </a:p>
          <a:p>
            <a:pPr algn="l" marL="169418" indent="-169418">
              <a:lnSpc>
                <a:spcPts val="1960"/>
              </a:lnSpc>
              <a:buSzPct val="100000"/>
              <a:buChar char="•"/>
            </a:pPr>
            <a:r>
              <a:rPr lang="en-US" sz="1400" dirty="0">
                <a:solidFill>
                  <a:srgbClr val="3A4A66"/>
                </a:solidFill>
                <a:latin typeface="Public Sans" pitchFamily="34" charset="0"/>
                <a:ea typeface="Public Sans" pitchFamily="34" charset="-122"/>
                <a:cs typeface="Public Sans" pitchFamily="34" charset="-120"/>
              </a:rPr>
              <a:t>Low-cost Arduino sensor nodes</a:t>
            </a:r>
            <a:endParaRPr lang="en-US" sz="1400" dirty="0"/>
          </a:p>
          <a:p>
            <a:pPr algn="l" marL="169418" indent="-169418">
              <a:lnSpc>
                <a:spcPts val="1960"/>
              </a:lnSpc>
              <a:buSzPct val="100000"/>
              <a:buChar char="•"/>
            </a:pPr>
            <a:r>
              <a:rPr lang="en-US" sz="1400" dirty="0">
                <a:solidFill>
                  <a:srgbClr val="3A4A66"/>
                </a:solidFill>
                <a:latin typeface="Public Sans" pitchFamily="34" charset="0"/>
                <a:ea typeface="Public Sans" pitchFamily="34" charset="-122"/>
                <a:cs typeface="Public Sans" pitchFamily="34" charset="-120"/>
              </a:rPr>
              <a:t>Modules can be adopted one at a time</a:t>
            </a:r>
            <a:endParaRPr lang="en-US" sz="1400" dirty="0"/>
          </a:p>
          <a:p>
            <a:pPr algn="l" marL="169418" indent="-169418">
              <a:lnSpc>
                <a:spcPts val="1960"/>
              </a:lnSpc>
              <a:buSzPct val="100000"/>
              <a:buChar char="•"/>
            </a:pPr>
            <a:r>
              <a:rPr lang="en-US" sz="1400" dirty="0">
                <a:solidFill>
                  <a:srgbClr val="3A4A66"/>
                </a:solidFill>
                <a:latin typeface="Public Sans" pitchFamily="34" charset="0"/>
                <a:ea typeface="Public Sans" pitchFamily="34" charset="-122"/>
                <a:cs typeface="Public Sans" pitchFamily="34" charset="-120"/>
              </a:rPr>
              <a:t>Sri Lanka-focused retraining</a:t>
            </a:r>
            <a:endParaRPr lang="en-US" sz="1400" dirty="0"/>
          </a:p>
        </p:txBody>
      </p:sp>
      <p:sp>
        <p:nvSpPr>
          <p:cNvPr id="12" name="Shape 8"/>
          <p:cNvSpPr/>
          <p:nvPr/>
        </p:nvSpPr>
        <p:spPr>
          <a:xfrm>
            <a:off x="7995658" y="1857654"/>
            <a:ext cx="3380399" cy="2787567"/>
          </a:xfrm>
          <a:prstGeom prst="roundRect">
            <a:avLst>
              <a:gd name="adj" fmla="val 3531"/>
            </a:avLst>
          </a:prstGeom>
          <a:solidFill>
            <a:srgbClr val="FFFFFF"/>
          </a:solidFill>
          <a:ln w="6350">
            <a:solidFill>
              <a:srgbClr val="D5DEEC"/>
            </a:solidFill>
            <a:prstDash val="solid"/>
          </a:ln>
        </p:spPr>
      </p:sp>
      <p:pic>
        <p:nvPicPr>
          <p:cNvPr id="13" name="Image 2" descr="Chart">    </p:cNvPr>
          <p:cNvPicPr>
            <a:picLocks noChangeAspect="1"/>
          </p:cNvPicPr>
          <p:nvPr/>
        </p:nvPicPr>
        <p:blipFill>
          <a:blip r:embed="rId3"/>
          <a:srcRect l="0" r="0" t="0" b="0"/>
          <a:stretch/>
        </p:blipFill>
        <p:spPr>
          <a:xfrm>
            <a:off x="8226309" y="2088307"/>
            <a:ext cx="330150" cy="330150"/>
          </a:xfrm>
          <a:prstGeom prst="rect">
            <a:avLst/>
          </a:prstGeom>
        </p:spPr>
      </p:pic>
      <p:sp>
        <p:nvSpPr>
          <p:cNvPr id="14" name="Text 9"/>
          <p:cNvSpPr/>
          <p:nvPr/>
        </p:nvSpPr>
        <p:spPr>
          <a:xfrm>
            <a:off x="8226309" y="2532720"/>
            <a:ext cx="3006671" cy="29974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B2A5B"/>
                </a:solidFill>
                <a:latin typeface="Rubik" pitchFamily="34" charset="0"/>
                <a:ea typeface="Rubik" pitchFamily="34" charset="-122"/>
                <a:cs typeface="Rubik" pitchFamily="34" charset="-120"/>
              </a:rPr>
              <a:t>Proposed model</a:t>
            </a:r>
            <a:endParaRPr lang="en-US" sz="1800" dirty="0"/>
          </a:p>
        </p:txBody>
      </p:sp>
      <p:sp>
        <p:nvSpPr>
          <p:cNvPr id="15" name="Text 10"/>
          <p:cNvSpPr/>
          <p:nvPr/>
        </p:nvSpPr>
        <p:spPr>
          <a:xfrm>
            <a:off x="8310891" y="2921329"/>
            <a:ext cx="2914469" cy="1518642"/>
          </a:xfrm>
          <a:prstGeom prst="rect">
            <a:avLst/>
          </a:prstGeom>
          <a:noFill/>
          <a:ln/>
        </p:spPr>
        <p:txBody>
          <a:bodyPr wrap="square" lIns="0" tIns="0" rIns="0" bIns="0" rtlCol="0" anchor="t">
            <a:normAutofit/>
          </a:bodyPr>
          <a:lstStyle/>
          <a:p>
            <a:pPr algn="l" marL="169418" indent="-169418">
              <a:lnSpc>
                <a:spcPts val="1960"/>
              </a:lnSpc>
              <a:buSzPct val="100000"/>
              <a:buChar char="•"/>
            </a:pPr>
            <a:r>
              <a:rPr lang="en-US" sz="1400" dirty="0">
                <a:solidFill>
                  <a:srgbClr val="3A4A66"/>
                </a:solidFill>
                <a:latin typeface="Public Sans" pitchFamily="34" charset="0"/>
                <a:ea typeface="Public Sans" pitchFamily="34" charset="-122"/>
                <a:cs typeface="Public Sans" pitchFamily="34" charset="-120"/>
              </a:rPr>
              <a:t>Platform licence or subscription [price]</a:t>
            </a:r>
            <a:endParaRPr lang="en-US" sz="1400" dirty="0"/>
          </a:p>
          <a:p>
            <a:pPr algn="l" marL="169418" indent="-169418">
              <a:lnSpc>
                <a:spcPts val="1960"/>
              </a:lnSpc>
              <a:buSzPct val="100000"/>
              <a:buChar char="•"/>
            </a:pPr>
            <a:r>
              <a:rPr lang="en-US" sz="1400" dirty="0">
                <a:solidFill>
                  <a:srgbClr val="3A4A66"/>
                </a:solidFill>
                <a:latin typeface="Public Sans" pitchFamily="34" charset="0"/>
                <a:ea typeface="Public Sans" pitchFamily="34" charset="-122"/>
                <a:cs typeface="Public Sans" pitchFamily="34" charset="-120"/>
              </a:rPr>
              <a:t>Sensor-node supply and installation [cost per node]</a:t>
            </a:r>
            <a:endParaRPr lang="en-US" sz="1400" dirty="0"/>
          </a:p>
          <a:p>
            <a:pPr algn="l" marL="169418" indent="-169418">
              <a:lnSpc>
                <a:spcPts val="1960"/>
              </a:lnSpc>
              <a:buSzPct val="100000"/>
              <a:buChar char="•"/>
            </a:pPr>
            <a:r>
              <a:rPr lang="en-US" sz="1400" dirty="0">
                <a:solidFill>
                  <a:srgbClr val="3A4A66"/>
                </a:solidFill>
                <a:latin typeface="Public Sans" pitchFamily="34" charset="0"/>
                <a:ea typeface="Public Sans" pitchFamily="34" charset="-122"/>
                <a:cs typeface="Public Sans" pitchFamily="34" charset="-120"/>
              </a:rPr>
              <a:t>Training, support and maintenance [terms]</a:t>
            </a:r>
            <a:endParaRPr lang="en-US" sz="1400" dirty="0"/>
          </a:p>
        </p:txBody>
      </p:sp>
      <p:sp>
        <p:nvSpPr>
          <p:cNvPr id="16" name="Text 11"/>
          <p:cNvSpPr/>
          <p:nvPr/>
        </p:nvSpPr>
        <p:spPr>
          <a:xfrm>
            <a:off x="812767" y="4902398"/>
            <a:ext cx="10883460" cy="282542"/>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0B2A5B"/>
                </a:solidFill>
                <a:latin typeface="Public Sans" pitchFamily="34" charset="0"/>
                <a:ea typeface="Public Sans" pitchFamily="34" charset="-122"/>
                <a:cs typeface="Public Sans" pitchFamily="34" charset="-120"/>
              </a:rPr>
              <a:t>Next step: pilot deployments with real sensors and operational records before large-scale rollout.</a:t>
            </a:r>
            <a:endParaRPr lang="en-US" sz="1500" dirty="0"/>
          </a:p>
        </p:txBody>
      </p:sp>
      <p:sp>
        <p:nvSpPr>
          <p:cNvPr id="17" name="Text 12"/>
          <p:cNvSpPr/>
          <p:nvPr/>
        </p:nvSpPr>
        <p:spPr>
          <a:xfrm>
            <a:off x="812767" y="6238292"/>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A94"/>
                </a:solidFill>
                <a:latin typeface="Public Sans" pitchFamily="34" charset="0"/>
                <a:ea typeface="Public Sans" pitchFamily="34" charset="-122"/>
                <a:cs typeface="Public Sans" pitchFamily="34" charset="-120"/>
              </a:rPr>
              <a:t>FloodGuard360 · IT4010 Final Presentation</a:t>
            </a:r>
            <a:endParaRPr lang="en-US" sz="1200" dirty="0"/>
          </a:p>
        </p:txBody>
      </p:sp>
      <p:sp>
        <p:nvSpPr>
          <p:cNvPr id="18" name="Text 13"/>
          <p:cNvSpPr/>
          <p:nvPr/>
        </p:nvSpPr>
        <p:spPr>
          <a:xfrm>
            <a:off x="10566433" y="6238292"/>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A94"/>
                </a:solidFill>
                <a:latin typeface="Public Sans" pitchFamily="34" charset="0"/>
                <a:ea typeface="Public Sans" pitchFamily="34" charset="-122"/>
                <a:cs typeface="Public Sans"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812767" y="812763"/>
            <a:ext cx="10883460" cy="256497"/>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1F78C8"/>
                </a:solidFill>
                <a:latin typeface="Public Sans" pitchFamily="34" charset="0"/>
                <a:ea typeface="Public Sans" pitchFamily="34" charset="-122"/>
                <a:cs typeface="Public Sans" pitchFamily="34" charset="-120"/>
              </a:rPr>
              <a:t>LIMITATIONS AND FUTURE WORK</a:t>
            </a:r>
            <a:endParaRPr lang="en-US" sz="1300" dirty="0"/>
          </a:p>
        </p:txBody>
      </p:sp>
      <p:sp>
        <p:nvSpPr>
          <p:cNvPr id="3" name="Text 1"/>
          <p:cNvSpPr/>
          <p:nvPr>
            <p:ph type="title"/>
          </p:nvPr>
        </p:nvSpPr>
        <p:spPr>
          <a:xfrm>
            <a:off x="812767" y="1145394"/>
            <a:ext cx="10883460" cy="480483"/>
          </a:xfrm>
          <a:prstGeom prst="rect">
            <a:avLst/>
          </a:prstGeom>
          <a:noFill/>
          <a:ln/>
        </p:spPr>
        <p:txBody>
          <a:bodyPr wrap="square" lIns="0" tIns="0" rIns="0" bIns="0" rtlCol="0" anchor="t">
            <a:normAutofit/>
          </a:bodyPr>
          <a:lstStyle/>
          <a:p>
            <a:pPr algn="l" indent="0" marL="0">
              <a:lnSpc>
                <a:spcPts val="3584"/>
              </a:lnSpc>
              <a:buNone/>
            </a:pPr>
            <a:r>
              <a:rPr lang="en-US" sz="3200" b="1" i="0" dirty="0">
                <a:solidFill>
                  <a:srgbClr val="0B2A5B"/>
                </a:solidFill>
                <a:latin typeface="Rubik" pitchFamily="34" charset="0"/>
                <a:ea typeface="Rubik" pitchFamily="34" charset="-122"/>
                <a:cs typeface="Rubik" pitchFamily="34" charset="-120"/>
              </a:rPr>
              <a:t>What we will do before large-scale use</a:t>
            </a:r>
            <a:endParaRPr lang="en-US" sz="3200" dirty="0"/>
          </a:p>
        </p:txBody>
      </p:sp>
      <p:sp>
        <p:nvSpPr>
          <p:cNvPr id="4" name="Shape 2"/>
          <p:cNvSpPr/>
          <p:nvPr/>
        </p:nvSpPr>
        <p:spPr>
          <a:xfrm>
            <a:off x="815942" y="1857654"/>
            <a:ext cx="5175266" cy="2585657"/>
          </a:xfrm>
          <a:prstGeom prst="roundRect">
            <a:avLst>
              <a:gd name="adj" fmla="val 3807"/>
            </a:avLst>
          </a:prstGeom>
          <a:solidFill>
            <a:srgbClr val="FFFFFF"/>
          </a:solidFill>
          <a:ln w="6350">
            <a:solidFill>
              <a:srgbClr val="D5DEEC"/>
            </a:solidFill>
            <a:prstDash val="solid"/>
          </a:ln>
        </p:spPr>
      </p:sp>
      <p:sp>
        <p:nvSpPr>
          <p:cNvPr id="5" name="Text 3"/>
          <p:cNvSpPr/>
          <p:nvPr/>
        </p:nvSpPr>
        <p:spPr>
          <a:xfrm>
            <a:off x="1072059" y="2113769"/>
            <a:ext cx="4802924" cy="314871"/>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B7790A"/>
                </a:solidFill>
                <a:latin typeface="Rubik" pitchFamily="34" charset="0"/>
                <a:ea typeface="Rubik" pitchFamily="34" charset="-122"/>
                <a:cs typeface="Rubik" pitchFamily="34" charset="-120"/>
              </a:rPr>
              <a:t>Current limits</a:t>
            </a:r>
            <a:endParaRPr lang="en-US" sz="1900" dirty="0"/>
          </a:p>
        </p:txBody>
      </p:sp>
      <p:sp>
        <p:nvSpPr>
          <p:cNvPr id="6" name="Text 4"/>
          <p:cNvSpPr/>
          <p:nvPr/>
        </p:nvSpPr>
        <p:spPr>
          <a:xfrm>
            <a:off x="1149529" y="2530239"/>
            <a:ext cx="4717834" cy="1130035"/>
          </a:xfrm>
          <a:prstGeom prst="rect">
            <a:avLst/>
          </a:prstGeom>
          <a:noFill/>
          <a:ln/>
        </p:spPr>
        <p:txBody>
          <a:bodyPr wrap="square" lIns="0" tIns="0" rIns="0" bIns="0" rtlCol="0" anchor="t">
            <a:normAutofit/>
          </a:bodyPr>
          <a:lstStyle/>
          <a:p>
            <a:pPr algn="l" marL="176530" indent="-176530">
              <a:lnSpc>
                <a:spcPts val="2175"/>
              </a:lnSpc>
              <a:buSzPct val="100000"/>
              <a:buChar char="•"/>
            </a:pPr>
            <a:r>
              <a:rPr lang="en-US" sz="1500" dirty="0">
                <a:solidFill>
                  <a:srgbClr val="3A4A66"/>
                </a:solidFill>
                <a:latin typeface="Public Sans" pitchFamily="34" charset="0"/>
                <a:ea typeface="Public Sans" pitchFamily="34" charset="-122"/>
                <a:cs typeface="Public Sans" pitchFamily="34" charset="-120"/>
              </a:rPr>
              <a:t>Small flood-prediction test set (n = 40)</a:t>
            </a:r>
            <a:endParaRPr lang="en-US" sz="1500" dirty="0"/>
          </a:p>
          <a:p>
            <a:pPr algn="l" marL="176530" indent="-176530">
              <a:lnSpc>
                <a:spcPts val="2175"/>
              </a:lnSpc>
              <a:buSzPct val="100000"/>
              <a:buChar char="•"/>
            </a:pPr>
            <a:r>
              <a:rPr lang="en-US" sz="1500" dirty="0">
                <a:solidFill>
                  <a:srgbClr val="3A4A66"/>
                </a:solidFill>
                <a:latin typeface="Public Sans" pitchFamily="34" charset="0"/>
                <a:ea typeface="Public Sans" pitchFamily="34" charset="-122"/>
                <a:cs typeface="Public Sans" pitchFamily="34" charset="-120"/>
              </a:rPr>
              <a:t>Reliability depends on data quality and quantity</a:t>
            </a:r>
            <a:endParaRPr lang="en-US" sz="1500" dirty="0"/>
          </a:p>
          <a:p>
            <a:pPr algn="l" marL="176530" indent="-176530">
              <a:lnSpc>
                <a:spcPts val="2175"/>
              </a:lnSpc>
              <a:buSzPct val="100000"/>
              <a:buChar char="•"/>
            </a:pPr>
            <a:r>
              <a:rPr lang="en-US" sz="1500" dirty="0">
                <a:solidFill>
                  <a:srgbClr val="3A4A66"/>
                </a:solidFill>
                <a:latin typeface="Public Sans" pitchFamily="34" charset="0"/>
                <a:ea typeface="Public Sans" pitchFamily="34" charset="-122"/>
                <a:cs typeface="Public Sans" pitchFamily="34" charset="-120"/>
              </a:rPr>
              <a:t>Needs field validation with real sensors and records</a:t>
            </a:r>
            <a:endParaRPr lang="en-US" sz="1500" dirty="0"/>
          </a:p>
        </p:txBody>
      </p:sp>
      <p:sp>
        <p:nvSpPr>
          <p:cNvPr id="7" name="Shape 5"/>
          <p:cNvSpPr/>
          <p:nvPr/>
        </p:nvSpPr>
        <p:spPr>
          <a:xfrm>
            <a:off x="6200709" y="1857654"/>
            <a:ext cx="5175349" cy="2585657"/>
          </a:xfrm>
          <a:prstGeom prst="roundRect">
            <a:avLst>
              <a:gd name="adj" fmla="val 3807"/>
            </a:avLst>
          </a:prstGeom>
          <a:solidFill>
            <a:srgbClr val="FFFFFF"/>
          </a:solidFill>
          <a:ln w="6350">
            <a:solidFill>
              <a:srgbClr val="D5DEEC"/>
            </a:solidFill>
            <a:prstDash val="solid"/>
          </a:ln>
        </p:spPr>
      </p:sp>
      <p:sp>
        <p:nvSpPr>
          <p:cNvPr id="8" name="Text 6"/>
          <p:cNvSpPr/>
          <p:nvPr/>
        </p:nvSpPr>
        <p:spPr>
          <a:xfrm>
            <a:off x="6456825" y="2113769"/>
            <a:ext cx="4803009" cy="314871"/>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F7A33"/>
                </a:solidFill>
                <a:latin typeface="Rubik" pitchFamily="34" charset="0"/>
                <a:ea typeface="Rubik" pitchFamily="34" charset="-122"/>
                <a:cs typeface="Rubik" pitchFamily="34" charset="-120"/>
              </a:rPr>
              <a:t>Next steps</a:t>
            </a:r>
            <a:endParaRPr lang="en-US" sz="1900" dirty="0"/>
          </a:p>
        </p:txBody>
      </p:sp>
      <p:sp>
        <p:nvSpPr>
          <p:cNvPr id="9" name="Text 7"/>
          <p:cNvSpPr/>
          <p:nvPr/>
        </p:nvSpPr>
        <p:spPr>
          <a:xfrm>
            <a:off x="6534295" y="2530239"/>
            <a:ext cx="4717919" cy="1682353"/>
          </a:xfrm>
          <a:prstGeom prst="rect">
            <a:avLst/>
          </a:prstGeom>
          <a:noFill/>
          <a:ln/>
        </p:spPr>
        <p:txBody>
          <a:bodyPr wrap="square" lIns="0" tIns="0" rIns="0" bIns="0" rtlCol="0" anchor="t">
            <a:normAutofit/>
          </a:bodyPr>
          <a:lstStyle/>
          <a:p>
            <a:pPr algn="l" marL="176530" indent="-176530">
              <a:lnSpc>
                <a:spcPts val="2175"/>
              </a:lnSpc>
              <a:buSzPct val="100000"/>
              <a:buChar char="•"/>
            </a:pPr>
            <a:r>
              <a:rPr lang="en-US" sz="1500" dirty="0">
                <a:solidFill>
                  <a:srgbClr val="3A4A66"/>
                </a:solidFill>
                <a:latin typeface="Public Sans" pitchFamily="34" charset="0"/>
                <a:ea typeface="Public Sans" pitchFamily="34" charset="-122"/>
                <a:cs typeface="Public Sans" pitchFamily="34" charset="-120"/>
              </a:rPr>
              <a:t>Collect Sri Lanka-specific datasets</a:t>
            </a:r>
            <a:endParaRPr lang="en-US" sz="1500" dirty="0"/>
          </a:p>
          <a:p>
            <a:pPr algn="l" marL="176530" indent="-176530">
              <a:lnSpc>
                <a:spcPts val="2175"/>
              </a:lnSpc>
              <a:buSzPct val="100000"/>
              <a:buChar char="•"/>
            </a:pPr>
            <a:r>
              <a:rPr lang="en-US" sz="1500" dirty="0">
                <a:solidFill>
                  <a:srgbClr val="3A4A66"/>
                </a:solidFill>
                <a:latin typeface="Public Sans" pitchFamily="34" charset="0"/>
                <a:ea typeface="Public Sans" pitchFamily="34" charset="-122"/>
                <a:cs typeface="Public Sans" pitchFamily="34" charset="-120"/>
              </a:rPr>
              <a:t>Pilot IoT deployments</a:t>
            </a:r>
            <a:endParaRPr lang="en-US" sz="1500" dirty="0"/>
          </a:p>
          <a:p>
            <a:pPr algn="l" marL="176530" indent="-176530">
              <a:lnSpc>
                <a:spcPts val="2175"/>
              </a:lnSpc>
              <a:buSzPct val="100000"/>
              <a:buChar char="•"/>
            </a:pPr>
            <a:r>
              <a:rPr lang="en-US" sz="1500" dirty="0">
                <a:solidFill>
                  <a:srgbClr val="3A4A66"/>
                </a:solidFill>
                <a:latin typeface="Public Sans" pitchFamily="34" charset="0"/>
                <a:ea typeface="Public Sans" pitchFamily="34" charset="-122"/>
                <a:cs typeface="Public Sans" pitchFamily="34" charset="-120"/>
              </a:rPr>
              <a:t>Evaluate health screening under data governance</a:t>
            </a:r>
            <a:endParaRPr lang="en-US" sz="1500" dirty="0"/>
          </a:p>
          <a:p>
            <a:pPr algn="l" marL="176530" indent="-176530">
              <a:lnSpc>
                <a:spcPts val="2175"/>
              </a:lnSpc>
              <a:buSzPct val="100000"/>
              <a:buChar char="•"/>
            </a:pPr>
            <a:r>
              <a:rPr lang="en-US" sz="1500" dirty="0">
                <a:solidFill>
                  <a:srgbClr val="3A4A66"/>
                </a:solidFill>
                <a:latin typeface="Public Sans" pitchFamily="34" charset="0"/>
                <a:ea typeface="Public Sans" pitchFamily="34" charset="-122"/>
                <a:cs typeface="Public Sans" pitchFamily="34" charset="-120"/>
              </a:rPr>
              <a:t>Test relief prioritisation on operational records</a:t>
            </a:r>
            <a:endParaRPr lang="en-US" sz="1500" dirty="0"/>
          </a:p>
          <a:p>
            <a:pPr algn="l" marL="176530" indent="-176530">
              <a:lnSpc>
                <a:spcPts val="2175"/>
              </a:lnSpc>
              <a:buSzPct val="100000"/>
              <a:buChar char="•"/>
            </a:pPr>
            <a:r>
              <a:rPr lang="en-US" sz="1500" dirty="0">
                <a:solidFill>
                  <a:srgbClr val="3A4A66"/>
                </a:solidFill>
                <a:latin typeface="Public Sans" pitchFamily="34" charset="0"/>
                <a:ea typeface="Public Sans" pitchFamily="34" charset="-122"/>
                <a:cs typeface="Public Sans" pitchFamily="34" charset="-120"/>
              </a:rPr>
              <a:t>Offline and edge processing, extra alert channels for low-connectivity areas</a:t>
            </a:r>
            <a:endParaRPr lang="en-US" sz="1500" dirty="0"/>
          </a:p>
        </p:txBody>
      </p:sp>
      <p:sp>
        <p:nvSpPr>
          <p:cNvPr id="10" name="Text 8"/>
          <p:cNvSpPr/>
          <p:nvPr/>
        </p:nvSpPr>
        <p:spPr>
          <a:xfrm>
            <a:off x="812767" y="6238292"/>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A94"/>
                </a:solidFill>
                <a:latin typeface="Public Sans" pitchFamily="34" charset="0"/>
                <a:ea typeface="Public Sans" pitchFamily="34" charset="-122"/>
                <a:cs typeface="Public Sans" pitchFamily="34" charset="-120"/>
              </a:rPr>
              <a:t>FloodGuard360 · IT4010 Final Presentation</a:t>
            </a:r>
            <a:endParaRPr lang="en-US" sz="1200" dirty="0"/>
          </a:p>
        </p:txBody>
      </p:sp>
      <p:sp>
        <p:nvSpPr>
          <p:cNvPr id="11" name="Text 9"/>
          <p:cNvSpPr/>
          <p:nvPr/>
        </p:nvSpPr>
        <p:spPr>
          <a:xfrm>
            <a:off x="10566433" y="6238292"/>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A94"/>
                </a:solidFill>
                <a:latin typeface="Public Sans" pitchFamily="34" charset="0"/>
                <a:ea typeface="Public Sans" pitchFamily="34" charset="-122"/>
                <a:cs typeface="Public Sans"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2A5B"/>
        </a:solidFill>
      </p:bgPr>
    </p:bg>
    <p:spTree>
      <p:nvGrpSpPr>
        <p:cNvPr id="1" name=""/>
        <p:cNvGrpSpPr/>
        <p:nvPr/>
      </p:nvGrpSpPr>
      <p:grpSpPr>
        <a:xfrm>
          <a:off x="0" y="0"/>
          <a:ext cx="0" cy="0"/>
          <a:chOff x="0" y="0"/>
          <a:chExt cx="0" cy="0"/>
        </a:xfrm>
      </p:grpSpPr>
      <p:sp>
        <p:nvSpPr>
          <p:cNvPr id="2" name="Text 0"/>
          <p:cNvSpPr/>
          <p:nvPr/>
        </p:nvSpPr>
        <p:spPr>
          <a:xfrm>
            <a:off x="812767" y="1677615"/>
            <a:ext cx="6697710" cy="274274"/>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F5B82E"/>
                </a:solidFill>
                <a:latin typeface="Public Sans" pitchFamily="34" charset="0"/>
                <a:ea typeface="Public Sans" pitchFamily="34" charset="-122"/>
                <a:cs typeface="Public Sans" pitchFamily="34" charset="-120"/>
              </a:rPr>
              <a:t>CONCLUSION</a:t>
            </a:r>
            <a:endParaRPr lang="en-US" sz="1400" dirty="0"/>
          </a:p>
        </p:txBody>
      </p:sp>
      <p:sp>
        <p:nvSpPr>
          <p:cNvPr id="3" name="Text 1"/>
          <p:cNvSpPr/>
          <p:nvPr>
            <p:ph type="title"/>
          </p:nvPr>
        </p:nvSpPr>
        <p:spPr>
          <a:xfrm>
            <a:off x="812767" y="2104256"/>
            <a:ext cx="6697710" cy="1475978"/>
          </a:xfrm>
          <a:prstGeom prst="rect">
            <a:avLst/>
          </a:prstGeom>
          <a:noFill/>
          <a:ln/>
        </p:spPr>
        <p:txBody>
          <a:bodyPr wrap="square" lIns="0" tIns="0" rIns="0" bIns="0" rtlCol="0" anchor="t">
            <a:normAutofit/>
          </a:bodyPr>
          <a:lstStyle/>
          <a:p>
            <a:pPr algn="l" indent="0" marL="0">
              <a:lnSpc>
                <a:spcPts val="3808"/>
              </a:lnSpc>
              <a:buNone/>
            </a:pPr>
            <a:r>
              <a:rPr lang="en-US" sz="3400" b="1" i="0" dirty="0">
                <a:solidFill>
                  <a:srgbClr val="F4F7FB"/>
                </a:solidFill>
                <a:latin typeface="Rubik" pitchFamily="34" charset="0"/>
                <a:ea typeface="Rubik" pitchFamily="34" charset="-122"/>
                <a:cs typeface="Rubik" pitchFamily="34" charset="-120"/>
              </a:rPr>
              <a:t>Connected flood management, from prediction to relief</a:t>
            </a:r>
            <a:endParaRPr lang="en-US" sz="3400" dirty="0"/>
          </a:p>
        </p:txBody>
      </p:sp>
      <p:sp>
        <p:nvSpPr>
          <p:cNvPr id="4" name="Text 2"/>
          <p:cNvSpPr/>
          <p:nvPr/>
        </p:nvSpPr>
        <p:spPr>
          <a:xfrm>
            <a:off x="812767" y="3732609"/>
            <a:ext cx="6697710" cy="5944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FD3F2"/>
                </a:solidFill>
                <a:latin typeface="Public Sans" pitchFamily="34" charset="0"/>
                <a:ea typeface="Public Sans" pitchFamily="34" charset="-122"/>
                <a:cs typeface="Public Sans" pitchFamily="34" charset="-120"/>
              </a:rPr>
              <a:t>Four modules, one shared layer: faster awareness, earlier response and fairer resource allocation.</a:t>
            </a:r>
            <a:endParaRPr lang="en-US" sz="1600" dirty="0"/>
          </a:p>
        </p:txBody>
      </p:sp>
      <p:sp>
        <p:nvSpPr>
          <p:cNvPr id="5" name="Shape 3"/>
          <p:cNvSpPr/>
          <p:nvPr/>
        </p:nvSpPr>
        <p:spPr>
          <a:xfrm>
            <a:off x="812767" y="4479392"/>
            <a:ext cx="1016000" cy="25383"/>
          </a:xfrm>
          <a:prstGeom prst="rect">
            <a:avLst/>
          </a:prstGeom>
          <a:solidFill>
            <a:srgbClr val="2E9B45"/>
          </a:solidFill>
          <a:ln/>
        </p:spPr>
      </p:sp>
      <p:sp>
        <p:nvSpPr>
          <p:cNvPr id="6" name="Text 4"/>
          <p:cNvSpPr/>
          <p:nvPr/>
        </p:nvSpPr>
        <p:spPr>
          <a:xfrm>
            <a:off x="812767" y="4682542"/>
            <a:ext cx="6697710" cy="52323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F4F7FB"/>
                </a:solidFill>
                <a:latin typeface="Rubik" pitchFamily="34" charset="0"/>
                <a:ea typeface="Rubik" pitchFamily="34" charset="-122"/>
                <a:cs typeface="Rubik" pitchFamily="34" charset="-120"/>
              </a:rPr>
              <a:t>Thank you. Questions?</a:t>
            </a:r>
            <a:endParaRPr lang="en-US" sz="2800" dirty="0"/>
          </a:p>
        </p:txBody>
      </p:sp>
      <p:sp>
        <p:nvSpPr>
          <p:cNvPr id="7" name="Shape 5"/>
          <p:cNvSpPr/>
          <p:nvPr/>
        </p:nvSpPr>
        <p:spPr>
          <a:xfrm>
            <a:off x="7924932" y="1889199"/>
            <a:ext cx="3454301" cy="3079585"/>
          </a:xfrm>
          <a:prstGeom prst="roundRect">
            <a:avLst>
              <a:gd name="adj" fmla="val 6598"/>
            </a:avLst>
          </a:prstGeom>
          <a:solidFill>
            <a:srgbClr val="F4F7FB"/>
          </a:solidFill>
          <a:ln/>
        </p:spPr>
      </p:sp>
      <p:pic>
        <p:nvPicPr>
          <p:cNvPr id="8" name="Image 0" descr="FloodGuard360 logo">    </p:cNvPr>
          <p:cNvPicPr>
            <a:picLocks noChangeAspect="1"/>
          </p:cNvPicPr>
          <p:nvPr/>
        </p:nvPicPr>
        <p:blipFill>
          <a:blip r:embed="rId1"/>
          <a:srcRect l="-47" r="-47" t="0" b="0"/>
          <a:stretch/>
        </p:blipFill>
        <p:spPr>
          <a:xfrm>
            <a:off x="8128082" y="2092350"/>
            <a:ext cx="3048000" cy="2673284"/>
          </a:xfrm>
          <a:prstGeom prst="rect">
            <a:avLst/>
          </a:prstGeom>
        </p:spPr>
      </p:pic>
    </p:spTree>
  </p:cSld>
  <p:clrMapOvr>
    <a:masterClrMapping/>
  </p:clrMapOvr>
</p:sld>
</file>

<file path=ppt/theme/theme1.xml><?xml version="1.0" encoding="utf-8"?>
<a:theme xmlns:a="http://schemas.openxmlformats.org/drawingml/2006/main" name="FloodGuard360 Final Presentation">
  <a:themeElements>
    <a:clrScheme name="FloodGuard360 Final Presentation">
      <a:dk1>
        <a:srgbClr val="0B2A5B"/>
      </a:dk1>
      <a:lt1>
        <a:srgbClr val="F4F7FB"/>
      </a:lt1>
      <a:dk2>
        <a:srgbClr val="455D83"/>
      </a:dk2>
      <a:lt2>
        <a:srgbClr val="DDE3EB"/>
      </a:lt2>
      <a:accent1>
        <a:srgbClr val="6A7A94"/>
      </a:accent1>
      <a:accent2>
        <a:srgbClr val="3A4A66"/>
      </a:accent2>
      <a:accent3>
        <a:srgbClr val="1F78C8"/>
      </a:accent3>
      <a:accent4>
        <a:srgbClr val="F5B82E"/>
      </a:accent4>
      <a:accent5>
        <a:srgbClr val="1F7A33"/>
      </a:accent5>
      <a:accent6>
        <a:srgbClr val="2E9B45"/>
      </a:accent6>
      <a:hlink>
        <a:srgbClr val="0563C1"/>
      </a:hlink>
      <a:folHlink>
        <a:srgbClr val="954F72"/>
      </a:folHlink>
    </a:clrScheme>
    <a:fontScheme name="FloodGuard360 Final Presentation">
      <a:majorFont>
        <a:latin typeface="Rubi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ublic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FloodGuard360 Final Presentation</dc:title>
  <dc:subject/>
  <dc:creator/>
  <cp:lastModifiedBy/>
  <cp:revision>1</cp:revision>
  <dcterms:created xsi:type="dcterms:W3CDTF">2026-10-09T21:32:07Z</dcterms:created>
  <dcterms:modified xsi:type="dcterms:W3CDTF">2026-10-09T21:32:07Z</dcterms:modified>
</cp:coreProperties>
</file>